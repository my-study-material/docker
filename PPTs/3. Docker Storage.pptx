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8314" r:id="rId4"/>
  </p:sldMasterIdLst>
  <p:notesMasterIdLst>
    <p:notesMasterId r:id="rId15"/>
  </p:notesMasterIdLst>
  <p:sldIdLst>
    <p:sldId id="336" r:id="rId5"/>
    <p:sldId id="401" r:id="rId6"/>
    <p:sldId id="400" r:id="rId7"/>
    <p:sldId id="402" r:id="rId8"/>
    <p:sldId id="403" r:id="rId9"/>
    <p:sldId id="404" r:id="rId10"/>
    <p:sldId id="405" r:id="rId11"/>
    <p:sldId id="406" r:id="rId12"/>
    <p:sldId id="407" r:id="rId13"/>
    <p:sldId id="359" r:id="rId1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esh Patil" initials="RP" lastIdx="1" clrIdx="0">
    <p:extLst>
      <p:ext uri="{19B8F6BF-5375-455C-9EA6-DF929625EA0E}">
        <p15:presenceInfo xmlns:p15="http://schemas.microsoft.com/office/powerpoint/2012/main" userId="S::rajeshpatil@orientindia.net::2484323d-d543-469f-8967-efa59c9c78b1" providerId="AD"/>
      </p:ext>
    </p:extLst>
  </p:cmAuthor>
  <p:cmAuthor id="2" name="Angad Wagh" initials="AW" lastIdx="1" clrIdx="1">
    <p:extLst>
      <p:ext uri="{19B8F6BF-5375-455C-9EA6-DF929625EA0E}">
        <p15:presenceInfo xmlns:p15="http://schemas.microsoft.com/office/powerpoint/2012/main" userId="S::angadwagh@orientindia.net::60813458-2ee0-4c15-9be4-8475578655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29" autoAdjust="0"/>
    <p:restoredTop sz="93878" autoAdjust="0"/>
  </p:normalViewPr>
  <p:slideViewPr>
    <p:cSldViewPr snapToGrid="0">
      <p:cViewPr varScale="1">
        <p:scale>
          <a:sx n="68" d="100"/>
          <a:sy n="68" d="100"/>
        </p:scale>
        <p:origin x="876" y="5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cs typeface="+mn-cs"/>
              </a:defRPr>
            </a:lvl1pPr>
          </a:lstStyle>
          <a:p>
            <a:pPr>
              <a:defRPr/>
            </a:pPr>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cs typeface="+mn-cs"/>
              </a:defRPr>
            </a:lvl1pPr>
          </a:lstStyle>
          <a:p>
            <a:pPr>
              <a:defRPr/>
            </a:pPr>
            <a:fld id="{39BCF0EB-41F1-4287-9EDD-11AF6255FC0E}" type="datetimeFigureOut">
              <a:rPr lang="en-IN"/>
              <a:pPr>
                <a:defRPr/>
              </a:pPr>
              <a:t>02-01-2023</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cs typeface="+mn-cs"/>
              </a:defRPr>
            </a:lvl1pPr>
          </a:lstStyle>
          <a:p>
            <a:pPr>
              <a:defRPr/>
            </a:pPr>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EFE970E-66EF-47DD-A751-C65AD8B91F92}" type="slidenum">
              <a:rPr lang="en-IN" altLang="en-US"/>
              <a:pPr/>
              <a:t>‹#›</a:t>
            </a:fld>
            <a:endParaRPr lang="en-IN" altLang="en-US" dirty="0"/>
          </a:p>
        </p:txBody>
      </p:sp>
    </p:spTree>
    <p:extLst>
      <p:ext uri="{BB962C8B-B14F-4D97-AF65-F5344CB8AC3E}">
        <p14:creationId xmlns:p14="http://schemas.microsoft.com/office/powerpoint/2010/main" val="11149609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FE970E-66EF-47DD-A751-C65AD8B91F92}" type="slidenum">
              <a:rPr lang="en-IN" altLang="en-US" smtClean="0"/>
              <a:pPr/>
              <a:t>1</a:t>
            </a:fld>
            <a:endParaRPr lang="en-IN" altLang="en-US" dirty="0"/>
          </a:p>
        </p:txBody>
      </p:sp>
    </p:spTree>
    <p:extLst>
      <p:ext uri="{BB962C8B-B14F-4D97-AF65-F5344CB8AC3E}">
        <p14:creationId xmlns:p14="http://schemas.microsoft.com/office/powerpoint/2010/main" val="2277353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715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5069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2626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7860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5201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6692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50187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4531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a:off x="0" y="0"/>
            <a:ext cx="12192000" cy="6858000"/>
          </a:xfrm>
          <a:prstGeom prst="rect">
            <a:avLst/>
          </a:prstGeom>
          <a:blipFill dpi="0" rotWithShape="1">
            <a:blip r:embed="rId2">
              <a:alphaModFix amt="12000"/>
              <a:duotone>
                <a:schemeClr val="accent1">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10" name="Rectangle 9"/>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bg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6AD6EE87-EBD5-4F12-A48A-63ACA297AC8F}" type="datetimeFigureOut">
              <a:rPr lang="en-US" smtClean="0"/>
              <a:t>1/2/2023</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bg2"/>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143684927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98699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blipFill dpi="0" rotWithShape="1">
            <a:blip r:embed="rId2">
              <a:alphaModFix amt="12000"/>
              <a:duotone>
                <a:schemeClr val="accent2">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23" name="Rectangle 22"/>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bg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5A61015F-7CC6-4D0A-9D87-873EA4C304CC}" type="datetimeFigureOut">
              <a:rPr lang="en-US" smtClean="0"/>
              <a:t>1/2/2023</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bg2"/>
                </a:solidFill>
              </a:defRPr>
            </a:lvl1pPr>
          </a:lstStyle>
          <a:p>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2556299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95074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298CD5-6C1E-4009-B41F-6DF62E31D3BE}" type="datetimeFigureOut">
              <a:rPr lang="en-US" smtClean="0"/>
              <a:pPr/>
              <a:t>1/2/2023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52043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1/2/2023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10992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1/2/2023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006503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5" name="Date Placeholder 4"/>
          <p:cNvSpPr>
            <a:spLocks noGrp="1"/>
          </p:cNvSpPr>
          <p:nvPr>
            <p:ph type="dt" sz="half" idx="10"/>
          </p:nvPr>
        </p:nvSpPr>
        <p:spPr/>
        <p:txBody>
          <a:bodyPr/>
          <a:lstStyle/>
          <a:p>
            <a:fld id="{05C68B11-C5A8-448C-8CE9-B1A273C79CFC}" type="datetimeFigureOut">
              <a:rPr lang="en-US" smtClean="0"/>
              <a:t>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93893672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Rectangle 9"/>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rgbClr val="969696"/>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effectLst>
                  <a:outerShdw blurRad="12700" dist="3810" dir="2700000" algn="tl" rotWithShape="0">
                    <a:prstClr val="black">
                      <a:alpha val="40000"/>
                    </a:prstClr>
                  </a:outerShdw>
                </a:effectLst>
              </a:defRPr>
            </a:lvl1pPr>
          </a:lstStyle>
          <a:p>
            <a:fld id="{C7616CA0-919D-4A49-9C8A-62FDFB3A5183}" type="datetimeFigureOut">
              <a:rPr lang="en-US" smtClean="0"/>
              <a:t>1/2/2023</a:t>
            </a:fld>
            <a:endParaRPr lang="en-US" dirty="0"/>
          </a:p>
        </p:txBody>
      </p:sp>
      <p:sp>
        <p:nvSpPr>
          <p:cNvPr id="12" name="Footer Placeholder 11"/>
          <p:cNvSpPr>
            <a:spLocks noGrp="1"/>
          </p:cNvSpPr>
          <p:nvPr>
            <p:ph type="ftr" sz="quarter" idx="11"/>
          </p:nvPr>
        </p:nvSpPr>
        <p:spPr/>
        <p:txBody>
          <a:bodyPr/>
          <a:lstStyle>
            <a:lvl1pPr algn="r">
              <a:defRPr lang="en-US" sz="1000" kern="1200" dirty="0">
                <a:solidFill>
                  <a:schemeClr val="tx1">
                    <a:lumMod val="75000"/>
                    <a:lumOff val="25000"/>
                  </a:schemeClr>
                </a:solidFill>
                <a:effectLst>
                  <a:outerShdw blurRad="12700" dist="3810" dir="2700000" algn="tl" rotWithShape="0">
                    <a:prstClr val="black">
                      <a:alpha val="40000"/>
                    </a:prstClr>
                  </a:outerShdw>
                </a:effectLst>
                <a:latin typeface="+mn-lt"/>
                <a:ea typeface="+mn-ea"/>
                <a:cs typeface="+mn-cs"/>
              </a:defRPr>
            </a:lvl1pPr>
          </a:lstStyle>
          <a:p>
            <a:endParaRPr lang="en-US" dirty="0"/>
          </a:p>
        </p:txBody>
      </p:sp>
      <p:sp>
        <p:nvSpPr>
          <p:cNvPr id="13" name="Slide Number Placeholder 12"/>
          <p:cNvSpPr>
            <a:spLocks noGrp="1"/>
          </p:cNvSpPr>
          <p:nvPr>
            <p:ph type="sldNum" sz="quarter" idx="12"/>
          </p:nvPr>
        </p:nvSpPr>
        <p:spPr/>
        <p:txBody>
          <a:bodyPr/>
          <a:lstStyle>
            <a:lvl1pPr>
              <a:defRPr>
                <a:solidFill>
                  <a:srgbClr val="FFFFFF"/>
                </a:solidFill>
              </a:defRPr>
            </a:lvl1pPr>
          </a:lstStyle>
          <a:p>
            <a:fld id="{867E5644-1E61-4311-A31E-84CB9C7AA8A9}" type="slidenum">
              <a:rPr lang="en-US" smtClean="0"/>
              <a:t>‹#›</a:t>
            </a:fld>
            <a:endParaRPr lang="en-US" dirty="0"/>
          </a:p>
        </p:txBody>
      </p:sp>
    </p:spTree>
    <p:extLst>
      <p:ext uri="{BB962C8B-B14F-4D97-AF65-F5344CB8AC3E}">
        <p14:creationId xmlns:p14="http://schemas.microsoft.com/office/powerpoint/2010/main" val="551199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2315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29461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90298CD5-6C1E-4009-B41F-6DF62E31D3BE}" type="datetimeFigureOut">
              <a:rPr lang="en-US" smtClean="0"/>
              <a:pPr/>
              <a:t>1/2/2023</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314667"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smtClean="0"/>
              <a:pPr/>
              <a:t>‹#›</a:t>
            </a:fld>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2652636884"/>
      </p:ext>
    </p:extLst>
  </p:cSld>
  <p:clrMap bg1="lt1" tx1="dk1" bg2="lt2" tx2="dk2" accent1="accent1" accent2="accent2" accent3="accent3" accent4="accent4" accent5="accent5" accent6="accent6" hlink="hlink" folHlink="folHlink"/>
  <p:sldLayoutIdLst>
    <p:sldLayoutId id="2147488315" r:id="rId1"/>
    <p:sldLayoutId id="2147488316" r:id="rId2"/>
    <p:sldLayoutId id="2147488317" r:id="rId3"/>
    <p:sldLayoutId id="2147488318" r:id="rId4"/>
    <p:sldLayoutId id="2147488319" r:id="rId5"/>
    <p:sldLayoutId id="2147488320" r:id="rId6"/>
    <p:sldLayoutId id="2147488321" r:id="rId7"/>
    <p:sldLayoutId id="2147488322" r:id="rId8"/>
    <p:sldLayoutId id="2147488323" r:id="rId9"/>
    <p:sldLayoutId id="2147488324" r:id="rId10"/>
    <p:sldLayoutId id="2147488325"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Logo">
            <a:extLst>
              <a:ext uri="{FF2B5EF4-FFF2-40B4-BE49-F238E27FC236}">
                <a16:creationId xmlns:a16="http://schemas.microsoft.com/office/drawing/2014/main" id="{F59600AD-534F-429F-99D6-A9CC0C8960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object 5">
            <a:extLst>
              <a:ext uri="{FF2B5EF4-FFF2-40B4-BE49-F238E27FC236}">
                <a16:creationId xmlns:a16="http://schemas.microsoft.com/office/drawing/2014/main" id="{0D63FFA9-1074-41CD-9F61-37307A12AA72}"/>
              </a:ext>
            </a:extLst>
          </p:cNvPr>
          <p:cNvSpPr/>
          <p:nvPr/>
        </p:nvSpPr>
        <p:spPr>
          <a:xfrm>
            <a:off x="921631" y="3383280"/>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8" name="object 4">
            <a:extLst>
              <a:ext uri="{FF2B5EF4-FFF2-40B4-BE49-F238E27FC236}">
                <a16:creationId xmlns:a16="http://schemas.microsoft.com/office/drawing/2014/main" id="{AC2E87EC-C7BB-4A8A-B0D3-736837E0731E}"/>
              </a:ext>
            </a:extLst>
          </p:cNvPr>
          <p:cNvSpPr txBox="1"/>
          <p:nvPr/>
        </p:nvSpPr>
        <p:spPr>
          <a:xfrm>
            <a:off x="921631" y="2929460"/>
            <a:ext cx="3383083" cy="453820"/>
          </a:xfrm>
          <a:prstGeom prst="rect">
            <a:avLst/>
          </a:prstGeom>
        </p:spPr>
        <p:txBody>
          <a:bodyPr wrap="square" lIns="0" tIns="16224" rIns="0" bIns="0" rtlCol="0">
            <a:noAutofit/>
          </a:bodyPr>
          <a:lstStyle/>
          <a:p>
            <a:pPr marL="12700" marR="0" lvl="0" indent="0" algn="l" defTabSz="457200" rtl="0" eaLnBrk="1" fontAlgn="auto" latinLnBrk="0" hangingPunct="1">
              <a:lnSpc>
                <a:spcPts val="2555"/>
              </a:lnSpc>
              <a:spcBef>
                <a:spcPts val="0"/>
              </a:spcBef>
              <a:spcAft>
                <a:spcPts val="0"/>
              </a:spcAft>
              <a:buClrTx/>
              <a:buSzTx/>
              <a:buFontTx/>
              <a:buNone/>
              <a:tabLst/>
              <a:defRPr/>
            </a:pPr>
            <a:r>
              <a:rPr lang="en-IN" sz="2400" b="1" spc="-1" dirty="0">
                <a:solidFill>
                  <a:srgbClr val="004282"/>
                </a:solidFill>
                <a:latin typeface="Arial"/>
                <a:cs typeface="Arial"/>
              </a:rPr>
              <a:t>Docker Storage</a:t>
            </a:r>
            <a:endParaRPr kumimoji="0" sz="2400" b="0" i="0" u="none" strike="noStrike" kern="1200" cap="none" spc="0" normalizeH="0" baseline="0" noProof="0" dirty="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1994510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Storage</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dirty="0">
                <a:solidFill>
                  <a:srgbClr val="000000"/>
                </a:solidFill>
              </a:rPr>
              <a:t>Normally if you wanted to store data in Docker container it would be stored in the writable layer of the Docker container, but this is not an efficient way to store data.</a:t>
            </a:r>
          </a:p>
          <a:p>
            <a:r>
              <a:rPr lang="en-US" sz="2000" dirty="0">
                <a:solidFill>
                  <a:srgbClr val="000000"/>
                </a:solidFill>
              </a:rPr>
              <a:t>So, we make use of different Docker storage types. These storage types have a lot of advantages over the default method like.</a:t>
            </a:r>
          </a:p>
          <a:p>
            <a:endParaRPr lang="en-US" sz="2000" dirty="0">
              <a:solidFill>
                <a:srgbClr val="000000"/>
              </a:solidFill>
            </a:endParaRPr>
          </a:p>
          <a:p>
            <a:endParaRPr lang="en-US" sz="1600"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2" name="Picture 1">
            <a:extLst>
              <a:ext uri="{FF2B5EF4-FFF2-40B4-BE49-F238E27FC236}">
                <a16:creationId xmlns:a16="http://schemas.microsoft.com/office/drawing/2014/main" id="{1F8A165E-8090-405A-8BF3-E0D67BBFED43}"/>
              </a:ext>
            </a:extLst>
          </p:cNvPr>
          <p:cNvPicPr>
            <a:picLocks noChangeAspect="1"/>
          </p:cNvPicPr>
          <p:nvPr/>
        </p:nvPicPr>
        <p:blipFill>
          <a:blip r:embed="rId4"/>
          <a:stretch>
            <a:fillRect/>
          </a:stretch>
        </p:blipFill>
        <p:spPr>
          <a:xfrm>
            <a:off x="922430" y="2925712"/>
            <a:ext cx="9836519" cy="2573508"/>
          </a:xfrm>
          <a:prstGeom prst="rect">
            <a:avLst/>
          </a:prstGeom>
        </p:spPr>
      </p:pic>
    </p:spTree>
    <p:extLst>
      <p:ext uri="{BB962C8B-B14F-4D97-AF65-F5344CB8AC3E}">
        <p14:creationId xmlns:p14="http://schemas.microsoft.com/office/powerpoint/2010/main" val="1195002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Types of Docker Storage</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400" dirty="0">
                <a:solidFill>
                  <a:srgbClr val="000000"/>
                </a:solidFill>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1. Volumes</a:t>
            </a:r>
          </a:p>
          <a:p>
            <a:r>
              <a:rPr lang="en-IN" sz="2400" dirty="0">
                <a:solidFill>
                  <a:srgbClr val="000000"/>
                </a:solidFill>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2. Bind Mount</a:t>
            </a:r>
          </a:p>
          <a:p>
            <a:r>
              <a:rPr lang="en-IN" sz="2400" dirty="0">
                <a:solidFill>
                  <a:srgbClr val="000000"/>
                </a:solidFill>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3. Tmpfs mount</a:t>
            </a:r>
          </a:p>
          <a:p>
            <a:endParaRPr lang="en-IN" sz="2400" dirty="0">
              <a:solidFill>
                <a:srgbClr val="000000"/>
              </a:solidFill>
              <a:latin typeface="Aparajita" panose="02020603050405020304" pitchFamily="18" charset="0"/>
              <a:cs typeface="Aparajita" panose="02020603050405020304" pitchFamily="18" charset="0"/>
            </a:endParaRPr>
          </a:p>
          <a:p>
            <a:endParaRPr lang="en-IN" sz="2400" dirty="0">
              <a:solidFill>
                <a:srgbClr val="000000"/>
              </a:solidFill>
              <a:latin typeface="Aparajita" panose="02020603050405020304" pitchFamily="18" charset="0"/>
              <a:cs typeface="Aparajita" panose="02020603050405020304" pitchFamily="18"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r>
              <a:rPr lang="en-US" sz="2000" b="1" dirty="0">
                <a:solidFill>
                  <a:srgbClr val="000000"/>
                </a:solidFill>
              </a:rPr>
              <a:t>Docker Area: </a:t>
            </a:r>
            <a:r>
              <a:rPr lang="en-US" sz="1600" i="1" dirty="0">
                <a:solidFill>
                  <a:srgbClr val="000000"/>
                </a:solidFill>
                <a:latin typeface="Courier New" panose="02070309020205020404" pitchFamily="49" charset="0"/>
                <a:cs typeface="Courier New" panose="02070309020205020404" pitchFamily="49" charset="0"/>
              </a:rPr>
              <a:t>/var/lib/docker/</a:t>
            </a:r>
          </a:p>
        </p:txBody>
      </p:sp>
      <p:pic>
        <p:nvPicPr>
          <p:cNvPr id="2" name="Picture 1">
            <a:extLst>
              <a:ext uri="{FF2B5EF4-FFF2-40B4-BE49-F238E27FC236}">
                <a16:creationId xmlns:a16="http://schemas.microsoft.com/office/drawing/2014/main" id="{2DE8771A-1D45-42F0-82FC-C03FBEB082D6}"/>
              </a:ext>
            </a:extLst>
          </p:cNvPr>
          <p:cNvPicPr>
            <a:picLocks noChangeAspect="1"/>
          </p:cNvPicPr>
          <p:nvPr/>
        </p:nvPicPr>
        <p:blipFill>
          <a:blip r:embed="rId4"/>
          <a:stretch>
            <a:fillRect/>
          </a:stretch>
        </p:blipFill>
        <p:spPr>
          <a:xfrm>
            <a:off x="3199342" y="1152422"/>
            <a:ext cx="7013999" cy="4553155"/>
          </a:xfrm>
          <a:prstGeom prst="rect">
            <a:avLst/>
          </a:prstGeom>
        </p:spPr>
      </p:pic>
    </p:spTree>
    <p:extLst>
      <p:ext uri="{BB962C8B-B14F-4D97-AF65-F5344CB8AC3E}">
        <p14:creationId xmlns:p14="http://schemas.microsoft.com/office/powerpoint/2010/main" val="823337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1. Volumes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solidFill>
                  <a:srgbClr val="000000"/>
                </a:solidFill>
                <a:cs typeface="Calibri" panose="020F0502020204030204" pitchFamily="34" charset="0"/>
              </a:rPr>
              <a:t>Docker volumes are basically persistent storage locations for the containers. They are managed by Docker completely. They can be easily attached and removed from containers. You can backup your Volumes also. This is most used type of data storage.</a:t>
            </a:r>
          </a:p>
          <a:p>
            <a:endParaRPr lang="en-IN" sz="2400" dirty="0">
              <a:solidFill>
                <a:srgbClr val="000000"/>
              </a:solidFill>
              <a:latin typeface="Aparajita" panose="02020603050405020304" pitchFamily="18" charset="0"/>
              <a:cs typeface="Aparajita" panose="02020603050405020304" pitchFamily="18" charset="0"/>
            </a:endParaRPr>
          </a:p>
          <a:p>
            <a:r>
              <a:rPr lang="en-US" sz="2000" u="sng" dirty="0">
                <a:solidFill>
                  <a:srgbClr val="000000"/>
                </a:solidFill>
              </a:rPr>
              <a:t>Common Commands:</a:t>
            </a:r>
          </a:p>
          <a:p>
            <a:endParaRPr lang="en-US" sz="1600" u="sng" dirty="0">
              <a:solidFill>
                <a:srgbClr val="000000"/>
              </a:solidFill>
            </a:endParaRPr>
          </a:p>
          <a:p>
            <a:pPr marL="342900" indent="-342900">
              <a:buFont typeface="Arial" panose="020B0604020202020204" pitchFamily="34" charset="0"/>
              <a:buChar char="•"/>
            </a:pPr>
            <a:r>
              <a:rPr lang="en-US" sz="2000" u="sng" dirty="0">
                <a:solidFill>
                  <a:srgbClr val="000000"/>
                </a:solidFill>
              </a:rPr>
              <a:t>Create docker volume</a:t>
            </a:r>
            <a:r>
              <a:rPr lang="en-US" sz="2000" dirty="0">
                <a:solidFill>
                  <a:srgbClr val="000000"/>
                </a:solidFill>
              </a:rPr>
              <a:t>.</a:t>
            </a:r>
          </a:p>
          <a:p>
            <a:r>
              <a:rPr lang="en-US" sz="16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a:t>
            </a:r>
            <a:r>
              <a:rPr lang="en-US" sz="12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volume create &lt;volume_name&gt;</a:t>
            </a:r>
          </a:p>
          <a:p>
            <a:endParaRPr lang="en-US" sz="12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List docker volumes</a:t>
            </a:r>
            <a:r>
              <a:rPr lang="en-US" sz="2000" i="1" dirty="0">
                <a:solidFill>
                  <a:srgbClr val="000000"/>
                </a:solidFill>
              </a:rPr>
              <a:t>.</a:t>
            </a:r>
          </a:p>
          <a:p>
            <a:r>
              <a:rPr lang="en-US" sz="16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a:t>
            </a:r>
            <a:r>
              <a:rPr lang="en-US" sz="1200" i="1"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volume ls</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Inspect docker volumes</a:t>
            </a:r>
            <a:r>
              <a:rPr lang="en-US" sz="2000" i="1" dirty="0">
                <a:solidFill>
                  <a:srgbClr val="000000"/>
                </a:solidFill>
              </a:rPr>
              <a:t>.</a:t>
            </a:r>
          </a:p>
          <a:p>
            <a:r>
              <a:rPr lang="en-US" sz="16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a:t>
            </a:r>
            <a:r>
              <a:rPr lang="en-US" sz="1200" i="1"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volume inspect &lt;volume_name&gt;</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Delete docker volumes</a:t>
            </a:r>
            <a:r>
              <a:rPr lang="en-US" sz="2000" i="1" dirty="0">
                <a:solidFill>
                  <a:srgbClr val="000000"/>
                </a:solidFill>
              </a:rPr>
              <a:t>.</a:t>
            </a:r>
          </a:p>
          <a:p>
            <a:r>
              <a:rPr lang="en-US" sz="16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a:t>
            </a:r>
            <a:r>
              <a:rPr lang="en-US" sz="1200" i="1"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volume rm &lt;volume_name&gt;</a:t>
            </a:r>
          </a:p>
          <a:p>
            <a:r>
              <a:rPr lang="en-US" sz="1600" i="1" dirty="0">
                <a:solidFill>
                  <a:srgbClr val="000000"/>
                </a:solidFill>
                <a:latin typeface="Courier New" panose="02070309020205020404" pitchFamily="49" charset="0"/>
                <a:cs typeface="Courier New" panose="02070309020205020404" pitchFamily="49" charset="0"/>
              </a:rPr>
              <a:t>  ~ sudo docker volume prune    (remove all volume at time)</a:t>
            </a: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3637038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1. Volumes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Attach volume to docker container</a:t>
            </a:r>
            <a:r>
              <a:rPr lang="en-US" sz="2000" dirty="0">
                <a:solidFill>
                  <a:srgbClr val="000000"/>
                </a:solidFill>
              </a:rPr>
              <a:t>.</a:t>
            </a:r>
          </a:p>
          <a:p>
            <a:endParaRPr lang="en-US" sz="2000" dirty="0">
              <a:solidFill>
                <a:srgbClr val="000000"/>
              </a:solidFill>
            </a:endParaRPr>
          </a:p>
          <a:p>
            <a:r>
              <a:rPr lang="en-US" sz="16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a:t>
            </a:r>
            <a:r>
              <a:rPr lang="en-US" sz="1600" i="1" dirty="0">
                <a:solidFill>
                  <a:srgbClr val="000000"/>
                </a:solidFill>
                <a:latin typeface="Courier New" panose="02070309020205020404" pitchFamily="49" charset="0"/>
                <a:cs typeface="Courier New" panose="02070309020205020404" pitchFamily="49" charset="0"/>
              </a:rPr>
              <a:t>sudo docker run –it –d –-name &lt;container_name&gt; --mount source=&lt;volume_name&gt;,target=/apps</a:t>
            </a:r>
          </a:p>
          <a:p>
            <a:r>
              <a:rPr lang="en-US" sz="1600" i="1" dirty="0">
                <a:solidFill>
                  <a:srgbClr val="000000"/>
                </a:solidFill>
                <a:latin typeface="Courier New" panose="02070309020205020404" pitchFamily="49" charset="0"/>
                <a:cs typeface="Courier New" panose="02070309020205020404" pitchFamily="49" charset="0"/>
              </a:rPr>
              <a:t>    &lt;image_name&gt;</a:t>
            </a:r>
          </a:p>
          <a:p>
            <a:r>
              <a:rPr lang="en-US" sz="1200" dirty="0">
                <a:solidFill>
                  <a:srgbClr val="000000"/>
                </a:solidFill>
                <a:latin typeface="Courier New" panose="02070309020205020404" pitchFamily="49" charset="0"/>
                <a:cs typeface="Courier New" panose="02070309020205020404" pitchFamily="49" charset="0"/>
              </a:rPr>
              <a:t>    </a:t>
            </a:r>
            <a:r>
              <a:rPr lang="en-US" sz="1600" dirty="0">
                <a:solidFill>
                  <a:srgbClr val="000000"/>
                </a:solidFill>
                <a:latin typeface="Courier New" panose="02070309020205020404" pitchFamily="49" charset="0"/>
                <a:cs typeface="Courier New" panose="02070309020205020404" pitchFamily="49" charset="0"/>
              </a:rPr>
              <a:t>Ex</a:t>
            </a:r>
            <a:r>
              <a:rPr lang="en-US" sz="1200" dirty="0">
                <a:solidFill>
                  <a:srgbClr val="000000"/>
                </a:solidFill>
                <a:latin typeface="Courier New" panose="02070309020205020404" pitchFamily="49" charset="0"/>
                <a:cs typeface="Courier New" panose="02070309020205020404" pitchFamily="49" charset="0"/>
              </a:rPr>
              <a:t>. </a:t>
            </a:r>
            <a:r>
              <a:rPr lang="en-US" sz="1600" dirty="0">
                <a:solidFill>
                  <a:srgbClr val="000000"/>
                </a:solidFill>
                <a:latin typeface="Courier New" panose="02070309020205020404" pitchFamily="49" charset="0"/>
                <a:cs typeface="Courier New" panose="02070309020205020404" pitchFamily="49" charset="0"/>
              </a:rPr>
              <a:t>~</a:t>
            </a:r>
            <a:r>
              <a:rPr lang="en-US" sz="12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run –it –d –-name ConA --mount source=batman,target=/apps ubuntu</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a:t>
            </a:r>
          </a:p>
          <a:p>
            <a:r>
              <a:rPr lang="en-US" sz="1600" i="1" dirty="0">
                <a:solidFill>
                  <a:srgbClr val="000000"/>
                </a:solidFill>
                <a:latin typeface="Courier New" panose="02070309020205020404" pitchFamily="49" charset="0"/>
                <a:cs typeface="Courier New" panose="02070309020205020404" pitchFamily="49" charset="0"/>
              </a:rPr>
              <a:t>  ~ sudo docker run –it –d –name &lt;container_name&gt; --volume &lt;volume_name&gt;:/apps &lt;image_name&gt;</a:t>
            </a:r>
          </a:p>
          <a:p>
            <a:r>
              <a:rPr lang="en-US" sz="1600" i="1" dirty="0">
                <a:solidFill>
                  <a:srgbClr val="000000"/>
                </a:solidFill>
                <a:latin typeface="Courier New" panose="02070309020205020404" pitchFamily="49" charset="0"/>
                <a:cs typeface="Courier New" panose="02070309020205020404" pitchFamily="49" charset="0"/>
              </a:rPr>
              <a:t>   Ex. ~ sudo docker run –it –d –-name ConA --volume batman:/apps ubuntu</a:t>
            </a:r>
          </a:p>
          <a:p>
            <a:r>
              <a:rPr lang="en-US" sz="1600" i="1" dirty="0">
                <a:solidFill>
                  <a:srgbClr val="000000"/>
                </a:solidFill>
                <a:latin typeface="Courier New" panose="02070309020205020404" pitchFamily="49" charset="0"/>
                <a:cs typeface="Courier New" panose="02070309020205020404" pitchFamily="49" charset="0"/>
              </a:rPr>
              <a:t>   Ex. ~ sudo docker run –it –d –-name ConA –v batman:/</a:t>
            </a:r>
            <a:r>
              <a:rPr lang="en-US" sz="1600" i="1">
                <a:solidFill>
                  <a:srgbClr val="000000"/>
                </a:solidFill>
                <a:latin typeface="Courier New" panose="02070309020205020404" pitchFamily="49" charset="0"/>
                <a:cs typeface="Courier New" panose="02070309020205020404" pitchFamily="49" charset="0"/>
              </a:rPr>
              <a:t>apps nginx</a:t>
            </a:r>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b="1" i="1"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Source</a:t>
            </a:r>
            <a:r>
              <a:rPr lang="en-US" sz="1600" i="1" dirty="0">
                <a:solidFill>
                  <a:srgbClr val="000000"/>
                </a:solidFill>
                <a:latin typeface="Courier New" panose="02070309020205020404" pitchFamily="49" charset="0"/>
                <a:cs typeface="Courier New" panose="02070309020205020404" pitchFamily="49" charset="0"/>
              </a:rPr>
              <a:t>: provide path of volume or name of volume if it is not already created then docker  </a:t>
            </a:r>
          </a:p>
          <a:p>
            <a:r>
              <a:rPr lang="en-US" sz="1600" i="1" dirty="0">
                <a:solidFill>
                  <a:srgbClr val="000000"/>
                </a:solidFill>
                <a:latin typeface="Courier New" panose="02070309020205020404" pitchFamily="49" charset="0"/>
                <a:cs typeface="Courier New" panose="02070309020205020404" pitchFamily="49" charset="0"/>
              </a:rPr>
              <a:t>          will create new volume with given name and attached that to container.</a:t>
            </a:r>
          </a:p>
          <a:p>
            <a:r>
              <a:rPr lang="en-US" sz="1600" i="1" dirty="0">
                <a:solidFill>
                  <a:srgbClr val="000000"/>
                </a:solidFill>
                <a:latin typeface="Courier New" panose="02070309020205020404" pitchFamily="49" charset="0"/>
                <a:cs typeface="Courier New" panose="02070309020205020404" pitchFamily="49" charset="0"/>
              </a:rPr>
              <a:t>  </a:t>
            </a:r>
            <a:r>
              <a:rPr lang="en-US" sz="1600" b="1" i="1"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Target</a:t>
            </a:r>
            <a:r>
              <a:rPr lang="en-US" sz="1600" i="1" dirty="0">
                <a:solidFill>
                  <a:srgbClr val="000000"/>
                </a:solidFill>
                <a:latin typeface="Courier New" panose="02070309020205020404" pitchFamily="49" charset="0"/>
                <a:cs typeface="Courier New" panose="02070309020205020404" pitchFamily="49" charset="0"/>
              </a:rPr>
              <a:t>: location inside container where you want to mount that volume ext. /apps</a:t>
            </a:r>
          </a:p>
          <a:p>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dirty="0">
                <a:solidFill>
                  <a:srgbClr val="000000"/>
                </a:solidFill>
              </a:rPr>
              <a:t>     </a:t>
            </a:r>
            <a:r>
              <a:rPr lang="en-US" sz="2000" b="1" u="sng" dirty="0">
                <a:solidFill>
                  <a:srgbClr val="FF0000"/>
                </a:solidFill>
                <a:effectLst>
                  <a:outerShdw blurRad="38100" dist="38100" dir="2700000" algn="tl">
                    <a:srgbClr val="000000">
                      <a:alpha val="43137"/>
                    </a:srgbClr>
                  </a:outerShdw>
                </a:effectLst>
                <a:cs typeface="Calibri" panose="020F0502020204030204" pitchFamily="34" charset="0"/>
              </a:rPr>
              <a:t>Note</a:t>
            </a:r>
            <a:r>
              <a:rPr lang="en-US" sz="2000" b="1" dirty="0">
                <a:solidFill>
                  <a:srgbClr val="FF0000"/>
                </a:solidFill>
                <a:cs typeface="Calibri" panose="020F0502020204030204" pitchFamily="34" charset="0"/>
              </a:rPr>
              <a:t>:</a:t>
            </a:r>
            <a:r>
              <a:rPr lang="en-US" sz="2000" dirty="0">
                <a:solidFill>
                  <a:srgbClr val="000000"/>
                </a:solidFill>
                <a:cs typeface="Calibri" panose="020F0502020204030204" pitchFamily="34" charset="0"/>
              </a:rPr>
              <a:t> Mount flag is generic flag which we can use along with Volumes, Bind mount and Tmpfs mount also.</a:t>
            </a:r>
          </a:p>
          <a:p>
            <a:r>
              <a:rPr lang="en-US" sz="2000" dirty="0">
                <a:solidFill>
                  <a:srgbClr val="000000"/>
                </a:solidFill>
                <a:cs typeface="Calibri" panose="020F0502020204030204" pitchFamily="34" charset="0"/>
              </a:rPr>
              <a:t>    However, volume flag we can use only with volumes.</a:t>
            </a:r>
            <a:endParaRPr lang="en-US" sz="2000" i="1" dirty="0">
              <a:solidFill>
                <a:srgbClr val="000000"/>
              </a:solidFill>
              <a:cs typeface="Calibri" panose="020F0502020204030204" pitchFamily="34" charset="0"/>
            </a:endParaRP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1625732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1. Volumes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Attach volume to docker container as readonly</a:t>
            </a:r>
            <a:r>
              <a:rPr lang="en-US" sz="2000" dirty="0">
                <a:solidFill>
                  <a:srgbClr val="000000"/>
                </a:solidFill>
              </a:rPr>
              <a:t>.</a:t>
            </a:r>
          </a:p>
          <a:p>
            <a:endParaRPr lang="en-US" sz="2000" dirty="0">
              <a:solidFill>
                <a:srgbClr val="000000"/>
              </a:solidFill>
            </a:endParaRPr>
          </a:p>
          <a:p>
            <a:r>
              <a:rPr lang="en-US" sz="16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a:t>
            </a:r>
            <a:r>
              <a:rPr lang="en-US" sz="12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run –it –d –name &lt;container_name&gt; --mount source=&lt;volume_name&gt;,   </a:t>
            </a:r>
          </a:p>
          <a:p>
            <a:r>
              <a:rPr lang="en-US" sz="1600" i="1" dirty="0">
                <a:solidFill>
                  <a:srgbClr val="000000"/>
                </a:solidFill>
                <a:latin typeface="Courier New" panose="02070309020205020404" pitchFamily="49" charset="0"/>
                <a:cs typeface="Courier New" panose="02070309020205020404" pitchFamily="49" charset="0"/>
              </a:rPr>
              <a:t>    target=/apps,readonly &lt;image_name&gt;</a:t>
            </a:r>
          </a:p>
          <a:p>
            <a:r>
              <a:rPr lang="en-US" sz="1600" i="1" dirty="0">
                <a:solidFill>
                  <a:srgbClr val="000000"/>
                </a:solidFill>
                <a:latin typeface="Courier New" panose="02070309020205020404" pitchFamily="49" charset="0"/>
                <a:cs typeface="Courier New" panose="02070309020205020404" pitchFamily="49" charset="0"/>
              </a:rPr>
              <a:t>  </a:t>
            </a:r>
          </a:p>
          <a:p>
            <a:r>
              <a:rPr lang="en-US" sz="1600" i="1" dirty="0">
                <a:solidFill>
                  <a:srgbClr val="000000"/>
                </a:solidFill>
                <a:latin typeface="Courier New" panose="02070309020205020404" pitchFamily="49" charset="0"/>
                <a:cs typeface="Courier New" panose="02070309020205020404" pitchFamily="49" charset="0"/>
              </a:rPr>
              <a:t>   </a:t>
            </a:r>
            <a:r>
              <a:rPr lang="en-US" sz="1600" b="1" i="1" u="sng"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Example</a:t>
            </a:r>
            <a:r>
              <a:rPr lang="en-US" sz="1600" i="1" u="sng"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200" dirty="0">
                <a:solidFill>
                  <a:srgbClr val="000000"/>
                </a:solidFill>
                <a:latin typeface="Courier New" panose="02070309020205020404" pitchFamily="49" charset="0"/>
                <a:cs typeface="Courier New" panose="02070309020205020404" pitchFamily="49" charset="0"/>
              </a:rPr>
              <a:t>   </a:t>
            </a:r>
            <a:r>
              <a:rPr lang="en-US" sz="1600" dirty="0">
                <a:solidFill>
                  <a:srgbClr val="000000"/>
                </a:solidFill>
                <a:latin typeface="Courier New" panose="02070309020205020404" pitchFamily="49" charset="0"/>
                <a:cs typeface="Courier New" panose="02070309020205020404" pitchFamily="49" charset="0"/>
              </a:rPr>
              <a:t>~</a:t>
            </a:r>
            <a:r>
              <a:rPr lang="en-US" sz="12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run –it –d –name ConA --mount source=batman,target=/apps,readonly </a:t>
            </a:r>
          </a:p>
          <a:p>
            <a:r>
              <a:rPr lang="en-US" sz="1600" i="1" dirty="0">
                <a:solidFill>
                  <a:srgbClr val="000000"/>
                </a:solidFill>
                <a:latin typeface="Courier New" panose="02070309020205020404" pitchFamily="49" charset="0"/>
                <a:cs typeface="Courier New" panose="02070309020205020404" pitchFamily="49" charset="0"/>
              </a:rPr>
              <a:t>    ubuntu</a:t>
            </a:r>
          </a:p>
          <a:p>
            <a:endParaRPr lang="en-US" sz="2000" dirty="0">
              <a:solidFill>
                <a:srgbClr val="000000"/>
              </a:solidFill>
            </a:endParaRPr>
          </a:p>
          <a:p>
            <a:r>
              <a:rPr lang="en-US" sz="2000"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container inspect ConA	</a:t>
            </a:r>
          </a:p>
          <a:p>
            <a:endParaRPr lang="en-US" sz="2000" dirty="0">
              <a:solidFill>
                <a:srgbClr val="000000"/>
              </a:solidFill>
            </a:endParaRPr>
          </a:p>
        </p:txBody>
      </p:sp>
    </p:spTree>
    <p:extLst>
      <p:ext uri="{BB962C8B-B14F-4D97-AF65-F5344CB8AC3E}">
        <p14:creationId xmlns:p14="http://schemas.microsoft.com/office/powerpoint/2010/main" val="587922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2. Bind Mount</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solidFill>
                  <a:srgbClr val="000000"/>
                </a:solidFill>
                <a:cs typeface="Calibri" panose="020F0502020204030204" pitchFamily="34" charset="0"/>
              </a:rPr>
              <a:t>Bind Mount’s aren’t managed by Docker and are mapped to a host system directory. The file or directory does not need to exist on the Docker host already. It is created on demand if it does not yet exist</a:t>
            </a:r>
            <a:r>
              <a:rPr lang="en-IN" sz="2000" dirty="0"/>
              <a:t>. </a:t>
            </a:r>
            <a:endParaRPr lang="en-IN" sz="2000" dirty="0">
              <a:solidFill>
                <a:srgbClr val="000000"/>
              </a:solidFill>
              <a:cs typeface="Calibri" panose="020F0502020204030204" pitchFamily="34" charset="0"/>
            </a:endParaRPr>
          </a:p>
          <a:p>
            <a:endParaRPr lang="en-IN" sz="2400" dirty="0">
              <a:solidFill>
                <a:srgbClr val="000000"/>
              </a:solidFill>
              <a:latin typeface="Aparajita" panose="02020603050405020304" pitchFamily="18" charset="0"/>
              <a:cs typeface="Aparajita" panose="02020603050405020304" pitchFamily="18" charset="0"/>
            </a:endParaRPr>
          </a:p>
          <a:p>
            <a:r>
              <a:rPr lang="en-US" sz="2000" u="sng" dirty="0">
                <a:solidFill>
                  <a:srgbClr val="000000"/>
                </a:solidFill>
              </a:rPr>
              <a:t>Common Commands:</a:t>
            </a:r>
          </a:p>
          <a:p>
            <a:endParaRPr lang="en-US" sz="1600" u="sng" dirty="0">
              <a:solidFill>
                <a:srgbClr val="000000"/>
              </a:solidFill>
            </a:endParaRPr>
          </a:p>
          <a:p>
            <a:pPr marL="342900" indent="-342900">
              <a:buFont typeface="Arial" panose="020B0604020202020204" pitchFamily="34" charset="0"/>
              <a:buChar char="•"/>
            </a:pPr>
            <a:r>
              <a:rPr lang="en-US" sz="2000" u="sng" dirty="0">
                <a:solidFill>
                  <a:srgbClr val="000000"/>
                </a:solidFill>
              </a:rPr>
              <a:t>Mount host directory to container using bind mount</a:t>
            </a:r>
            <a:r>
              <a:rPr lang="en-US" sz="2000" dirty="0">
                <a:solidFill>
                  <a:srgbClr val="000000"/>
                </a:solidFill>
              </a:rPr>
              <a:t>.</a:t>
            </a:r>
          </a:p>
          <a:p>
            <a:r>
              <a:rPr lang="en-US" sz="16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a:t>
            </a:r>
            <a:r>
              <a:rPr lang="en-US" sz="12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run –it –d –-name ConA –-mount type=bind,source=/home/ubuntu/fun,  </a:t>
            </a:r>
          </a:p>
          <a:p>
            <a:r>
              <a:rPr lang="en-US" sz="1600" i="1" dirty="0">
                <a:solidFill>
                  <a:srgbClr val="000000"/>
                </a:solidFill>
                <a:latin typeface="Courier New" panose="02070309020205020404" pitchFamily="49" charset="0"/>
                <a:cs typeface="Courier New" panose="02070309020205020404" pitchFamily="49" charset="0"/>
              </a:rPr>
              <a:t>    target=/apps ubuntu</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a:t>
            </a:r>
            <a:r>
              <a:rPr lang="en-US" sz="12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run –it –d –-name ConA –-mount type=bind,source=/home/ubuntu/fun,  </a:t>
            </a:r>
          </a:p>
          <a:p>
            <a:r>
              <a:rPr lang="en-US" sz="1600" i="1" dirty="0">
                <a:solidFill>
                  <a:srgbClr val="000000"/>
                </a:solidFill>
                <a:latin typeface="Courier New" panose="02070309020205020404" pitchFamily="49" charset="0"/>
                <a:cs typeface="Courier New" panose="02070309020205020404" pitchFamily="49" charset="0"/>
              </a:rPr>
              <a:t>    target=/apps,</a:t>
            </a:r>
            <a:r>
              <a:rPr lang="en-US" sz="1600" b="1" i="1" dirty="0">
                <a:solidFill>
                  <a:srgbClr val="000000"/>
                </a:solidFill>
                <a:latin typeface="Courier New" panose="02070309020205020404" pitchFamily="49" charset="0"/>
                <a:cs typeface="Courier New" panose="02070309020205020404" pitchFamily="49" charset="0"/>
              </a:rPr>
              <a:t>readonly</a:t>
            </a:r>
            <a:r>
              <a:rPr lang="en-US" sz="1600" i="1" dirty="0">
                <a:solidFill>
                  <a:srgbClr val="000000"/>
                </a:solidFill>
                <a:latin typeface="Courier New" panose="02070309020205020404" pitchFamily="49" charset="0"/>
                <a:cs typeface="Courier New" panose="02070309020205020404" pitchFamily="49" charset="0"/>
              </a:rPr>
              <a:t> ubuntu</a:t>
            </a: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2703102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3. Tmpfs Mount</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solidFill>
                  <a:srgbClr val="000000"/>
                </a:solidFill>
                <a:cs typeface="Calibri" panose="020F0502020204030204" pitchFamily="34" charset="0"/>
              </a:rPr>
              <a:t>This type of storage maps to the Host system’s (Linux) memory. Tmpfs is not persistent like volumes and Bind Mount’s this will get removed when the container they are attached are stopped. They only ever get mapped to a single container in their lifetime. Allows you to store more temporary data without affecting a container efficiency. </a:t>
            </a:r>
          </a:p>
          <a:p>
            <a:r>
              <a:rPr lang="en-IN" sz="2000" dirty="0">
                <a:solidFill>
                  <a:srgbClr val="000000"/>
                </a:solidFill>
                <a:cs typeface="Calibri" panose="020F0502020204030204" pitchFamily="34" charset="0"/>
              </a:rPr>
              <a:t>Can used with Linux containers only.</a:t>
            </a:r>
          </a:p>
          <a:p>
            <a:endParaRPr lang="en-IN" sz="2400" dirty="0">
              <a:solidFill>
                <a:srgbClr val="000000"/>
              </a:solidFill>
              <a:latin typeface="Aparajita" panose="02020603050405020304" pitchFamily="18" charset="0"/>
              <a:cs typeface="Aparajita" panose="02020603050405020304" pitchFamily="18" charset="0"/>
            </a:endParaRPr>
          </a:p>
          <a:p>
            <a:r>
              <a:rPr lang="en-US" sz="2000" u="sng" dirty="0">
                <a:solidFill>
                  <a:srgbClr val="000000"/>
                </a:solidFill>
              </a:rPr>
              <a:t>Common Commands:</a:t>
            </a:r>
          </a:p>
          <a:p>
            <a:endParaRPr lang="en-US" sz="1600" u="sng" dirty="0">
              <a:solidFill>
                <a:srgbClr val="000000"/>
              </a:solidFill>
            </a:endParaRPr>
          </a:p>
          <a:p>
            <a:pPr marL="342900" indent="-342900">
              <a:buFont typeface="Arial" panose="020B0604020202020204" pitchFamily="34" charset="0"/>
              <a:buChar char="•"/>
            </a:pPr>
            <a:r>
              <a:rPr lang="en-US" sz="2000" u="sng" dirty="0">
                <a:solidFill>
                  <a:srgbClr val="000000"/>
                </a:solidFill>
              </a:rPr>
              <a:t>Mount Tmpfs to container</a:t>
            </a:r>
            <a:r>
              <a:rPr lang="en-US" sz="2000" dirty="0">
                <a:solidFill>
                  <a:srgbClr val="000000"/>
                </a:solidFill>
              </a:rPr>
              <a:t>.</a:t>
            </a:r>
          </a:p>
          <a:p>
            <a:r>
              <a:rPr lang="en-US" sz="16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a:t>
            </a:r>
            <a:r>
              <a:rPr lang="en-US" sz="12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run –it –d –-name ConA –-mount type=tmpfs,target=/apps ubuntu</a:t>
            </a:r>
          </a:p>
          <a:p>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1673715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Storage Drivers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solidFill>
                  <a:srgbClr val="000000"/>
                </a:solidFill>
                <a:cs typeface="Calibri" panose="020F0502020204030204" pitchFamily="34" charset="0"/>
              </a:rPr>
              <a:t>In situations where you must write in the Docker’s writable layer you can make use of specific storage drivers. These will allow you to maintain control over how docker images &amp; containers are managed and stored. </a:t>
            </a:r>
          </a:p>
          <a:p>
            <a:endParaRPr lang="en-IN" sz="2000" dirty="0">
              <a:solidFill>
                <a:srgbClr val="000000"/>
              </a:solidFill>
              <a:cs typeface="Calibri" panose="020F0502020204030204" pitchFamily="34" charset="0"/>
            </a:endParaRPr>
          </a:p>
          <a:p>
            <a:r>
              <a:rPr lang="en-IN" sz="2000" b="1" dirty="0">
                <a:solidFill>
                  <a:srgbClr val="000000"/>
                </a:solidFill>
                <a:cs typeface="Calibri" panose="020F0502020204030204" pitchFamily="34" charset="0"/>
              </a:rPr>
              <a:t>Here are few examples of storage drivers.</a:t>
            </a:r>
          </a:p>
          <a:p>
            <a:endParaRPr lang="en-IN" sz="2000" b="1" dirty="0">
              <a:solidFill>
                <a:srgbClr val="000000"/>
              </a:solidFill>
              <a:cs typeface="Calibri" panose="020F0502020204030204" pitchFamily="34" charset="0"/>
            </a:endParaRPr>
          </a:p>
          <a:p>
            <a:r>
              <a:rPr lang="en-IN" i="1" dirty="0">
                <a:solidFill>
                  <a:srgbClr val="000000"/>
                </a:solidFill>
                <a:latin typeface="Courier New" panose="02070309020205020404" pitchFamily="49" charset="0"/>
                <a:cs typeface="Calibri" panose="020F0502020204030204" pitchFamily="34" charset="0"/>
              </a:rPr>
              <a:t>Overlay2, aufs, devicemapper, btrfs, vfs</a:t>
            </a:r>
            <a:endParaRPr lang="en-US"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3408910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95">
            <a:extLst>
              <a:ext uri="{FF2B5EF4-FFF2-40B4-BE49-F238E27FC236}">
                <a16:creationId xmlns:a16="http://schemas.microsoft.com/office/drawing/2014/main" id="{B54295EC-3B78-4A8A-B115-BD30905FC011}"/>
              </a:ext>
            </a:extLst>
          </p:cNvPr>
          <p:cNvSpPr/>
          <p:nvPr/>
        </p:nvSpPr>
        <p:spPr>
          <a:xfrm>
            <a:off x="821496" y="3669716"/>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3" name="object 15">
            <a:extLst>
              <a:ext uri="{FF2B5EF4-FFF2-40B4-BE49-F238E27FC236}">
                <a16:creationId xmlns:a16="http://schemas.microsoft.com/office/drawing/2014/main" id="{F910F1DE-8BA5-4C09-8947-96234306291C}"/>
              </a:ext>
            </a:extLst>
          </p:cNvPr>
          <p:cNvSpPr txBox="1"/>
          <p:nvPr/>
        </p:nvSpPr>
        <p:spPr>
          <a:xfrm>
            <a:off x="448847" y="156122"/>
            <a:ext cx="6092629" cy="478490"/>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endParaRPr lang="en-IN" sz="2400" dirty="0">
              <a:solidFill>
                <a:prstClr val="black"/>
              </a:solidFill>
              <a:latin typeface="Arial" panose="020B0604020202020204" pitchFamily="34" charset="0"/>
            </a:endParaRPr>
          </a:p>
        </p:txBody>
      </p:sp>
      <p:sp>
        <p:nvSpPr>
          <p:cNvPr id="4" name="TextBox 3">
            <a:extLst>
              <a:ext uri="{FF2B5EF4-FFF2-40B4-BE49-F238E27FC236}">
                <a16:creationId xmlns:a16="http://schemas.microsoft.com/office/drawing/2014/main" id="{33DEAA68-3306-4522-B3A7-C4099824E57A}"/>
              </a:ext>
            </a:extLst>
          </p:cNvPr>
          <p:cNvSpPr txBox="1"/>
          <p:nvPr/>
        </p:nvSpPr>
        <p:spPr>
          <a:xfrm>
            <a:off x="666752" y="3198167"/>
            <a:ext cx="1914755" cy="461665"/>
          </a:xfrm>
          <a:prstGeom prst="rect">
            <a:avLst/>
          </a:prstGeom>
          <a:noFill/>
        </p:spPr>
        <p:txBody>
          <a:bodyPr wrap="none" rtlCol="0">
            <a:spAutoFit/>
          </a:bodyPr>
          <a:lstStyle/>
          <a:p>
            <a:r>
              <a:rPr lang="en-IN" sz="2400" b="1" dirty="0">
                <a:solidFill>
                  <a:schemeClr val="accent6">
                    <a:lumMod val="75000"/>
                  </a:schemeClr>
                </a:solidFill>
                <a:latin typeface="Arial" panose="020B0604020202020204" pitchFamily="34" charset="0"/>
              </a:rPr>
              <a:t>Thank You !</a:t>
            </a:r>
          </a:p>
        </p:txBody>
      </p:sp>
    </p:spTree>
    <p:extLst>
      <p:ext uri="{BB962C8B-B14F-4D97-AF65-F5344CB8AC3E}">
        <p14:creationId xmlns:p14="http://schemas.microsoft.com/office/powerpoint/2010/main" val="32606817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373545"/>
      </a:dk2>
      <a:lt2>
        <a:srgbClr val="BCD0E0"/>
      </a:lt2>
      <a:accent1>
        <a:srgbClr val="3494BA"/>
      </a:accent1>
      <a:accent2>
        <a:srgbClr val="58B6C0"/>
      </a:accent2>
      <a:accent3>
        <a:srgbClr val="75BDA7"/>
      </a:accent3>
      <a:accent4>
        <a:srgbClr val="7A8C8E"/>
      </a:accent4>
      <a:accent5>
        <a:srgbClr val="84ACB6"/>
      </a:accent5>
      <a:accent6>
        <a:srgbClr val="6793CD"/>
      </a:accent6>
      <a:hlink>
        <a:srgbClr val="6B9F25"/>
      </a:hlink>
      <a:folHlink>
        <a:srgbClr val="9F6715"/>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913DB040-6816-4415-960D-8178C78575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F60485A86D6E945B0DE8EE8506DAC62" ma:contentTypeVersion="12" ma:contentTypeDescription="Create a new document." ma:contentTypeScope="" ma:versionID="a3ba1d3c448962d8a7304c03e6365536">
  <xsd:schema xmlns:xsd="http://www.w3.org/2001/XMLSchema" xmlns:xs="http://www.w3.org/2001/XMLSchema" xmlns:p="http://schemas.microsoft.com/office/2006/metadata/properties" xmlns:ns3="8f762557-e92d-48c5-a1e9-2e1ae49911c9" xmlns:ns4="9618bf2c-f524-416d-9ddc-e9ab10641669" targetNamespace="http://schemas.microsoft.com/office/2006/metadata/properties" ma:root="true" ma:fieldsID="73f26707b70974e9febd0829e12fbdfc" ns3:_="" ns4:_="">
    <xsd:import namespace="8f762557-e92d-48c5-a1e9-2e1ae49911c9"/>
    <xsd:import namespace="9618bf2c-f524-416d-9ddc-e9ab10641669"/>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762557-e92d-48c5-a1e9-2e1ae49911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618bf2c-f524-416d-9ddc-e9ab1064166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5BD6EB-5C72-4651-A510-8915F7022125}">
  <ds:schemaRefs>
    <ds:schemaRef ds:uri="http://schemas.microsoft.com/sharepoint/v3/contenttype/forms"/>
  </ds:schemaRefs>
</ds:datastoreItem>
</file>

<file path=customXml/itemProps2.xml><?xml version="1.0" encoding="utf-8"?>
<ds:datastoreItem xmlns:ds="http://schemas.openxmlformats.org/officeDocument/2006/customXml" ds:itemID="{C7EB8BB0-83E9-438D-BDDD-5648298095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762557-e92d-48c5-a1e9-2e1ae49911c9"/>
    <ds:schemaRef ds:uri="9618bf2c-f524-416d-9ddc-e9ab10641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2F91192-B026-43EB-8BFD-6B3E1D8ED4CE}">
  <ds:schemaRefs>
    <ds:schemaRef ds:uri="http://purl.org/dc/terms/"/>
    <ds:schemaRef ds:uri="8f762557-e92d-48c5-a1e9-2e1ae49911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9618bf2c-f524-416d-9ddc-e9ab10641669"/>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3124</TotalTime>
  <Words>813</Words>
  <Application>Microsoft Office PowerPoint</Application>
  <PresentationFormat>Widescreen</PresentationFormat>
  <Paragraphs>118</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Aparajita</vt:lpstr>
      <vt:lpstr>Arial</vt:lpstr>
      <vt:lpstr>Calibri</vt:lpstr>
      <vt:lpstr>Century Gothic</vt:lpstr>
      <vt:lpstr>Courier New</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Angad Wagh</dc:creator>
  <cp:lastModifiedBy>Angad Wagh</cp:lastModifiedBy>
  <cp:revision>353</cp:revision>
  <dcterms:created xsi:type="dcterms:W3CDTF">2022-07-11T16:43:42Z</dcterms:created>
  <dcterms:modified xsi:type="dcterms:W3CDTF">2023-01-02T05:22:05Z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MSIP_Label_a8c544ca-bb84-4280-906e-934547e1d30c_Enabled">
    <vt:lpwstr>True</vt:lpwstr>
  </property>
  <property fmtid="{D5CDD505-2E9C-101B-9397-08002B2CF9AE}" pid="3" name="MSIP_Label_a8c544ca-bb84-4280-906e-934547e1d30c_SiteId">
    <vt:lpwstr>258ac4e4-146a-411e-9dc8-79a9e12fd6da</vt:lpwstr>
  </property>
  <property fmtid="{D5CDD505-2E9C-101B-9397-08002B2CF9AE}" pid="4" name="MSIP_Label_a8c544ca-bb84-4280-906e-934547e1d30c_SetDate">
    <vt:lpwstr>2025-07-23T11:32:21Z</vt:lpwstr>
  </property>
  <property fmtid="{D5CDD505-2E9C-101B-9397-08002B2CF9AE}" pid="5" name="MSIP_Label_a8c544ca-bb84-4280-906e-934547e1d30c_Name">
    <vt:lpwstr>Internal - General Use</vt:lpwstr>
  </property>
  <property fmtid="{D5CDD505-2E9C-101B-9397-08002B2CF9AE}" pid="6" name="MSIP_Label_a8c544ca-bb84-4280-906e-934547e1d30c_ActionId">
    <vt:lpwstr>6d1838f6-9fe3-401d-aaf6-1bb4300383b6</vt:lpwstr>
  </property>
  <property fmtid="{D5CDD505-2E9C-101B-9397-08002B2CF9AE}" pid="7" name="MSIP_Label_a8c544ca-bb84-4280-906e-934547e1d30c_Removed">
    <vt:lpwstr>False</vt:lpwstr>
  </property>
  <property fmtid="{D5CDD505-2E9C-101B-9397-08002B2CF9AE}" pid="8" name="MSIP_Label_a8c544ca-bb84-4280-906e-934547e1d30c_Extended_MSFT_Method">
    <vt:lpwstr>Standard</vt:lpwstr>
  </property>
  <property fmtid="{D5CDD505-2E9C-101B-9397-08002B2CF9AE}" pid="9" name="Sensitivity">
    <vt:lpwstr>Internal - General Use</vt:lpwstr>
  </property>
</Properties>
</file>
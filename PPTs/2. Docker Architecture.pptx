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8314" r:id="rId4"/>
  </p:sldMasterIdLst>
  <p:notesMasterIdLst>
    <p:notesMasterId r:id="rId30"/>
  </p:notesMasterIdLst>
  <p:sldIdLst>
    <p:sldId id="336" r:id="rId5"/>
    <p:sldId id="257" r:id="rId6"/>
    <p:sldId id="381" r:id="rId7"/>
    <p:sldId id="382" r:id="rId8"/>
    <p:sldId id="383" r:id="rId9"/>
    <p:sldId id="384" r:id="rId10"/>
    <p:sldId id="401" r:id="rId11"/>
    <p:sldId id="385" r:id="rId12"/>
    <p:sldId id="386" r:id="rId13"/>
    <p:sldId id="387" r:id="rId14"/>
    <p:sldId id="388" r:id="rId15"/>
    <p:sldId id="389" r:id="rId16"/>
    <p:sldId id="390" r:id="rId17"/>
    <p:sldId id="391" r:id="rId18"/>
    <p:sldId id="394" r:id="rId19"/>
    <p:sldId id="395" r:id="rId20"/>
    <p:sldId id="396" r:id="rId21"/>
    <p:sldId id="397" r:id="rId22"/>
    <p:sldId id="398" r:id="rId23"/>
    <p:sldId id="399" r:id="rId24"/>
    <p:sldId id="400" r:id="rId25"/>
    <p:sldId id="392" r:id="rId26"/>
    <p:sldId id="393" r:id="rId27"/>
    <p:sldId id="402" r:id="rId28"/>
    <p:sldId id="359" r:id="rId2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jesh Patil" initials="RP" lastIdx="1" clrIdx="0">
    <p:extLst>
      <p:ext uri="{19B8F6BF-5375-455C-9EA6-DF929625EA0E}">
        <p15:presenceInfo xmlns:p15="http://schemas.microsoft.com/office/powerpoint/2012/main" userId="S::rajeshpatil@orientindia.net::2484323d-d543-469f-8967-efa59c9c78b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29" autoAdjust="0"/>
    <p:restoredTop sz="93878" autoAdjust="0"/>
  </p:normalViewPr>
  <p:slideViewPr>
    <p:cSldViewPr snapToGrid="0">
      <p:cViewPr>
        <p:scale>
          <a:sx n="150" d="100"/>
          <a:sy n="150" d="100"/>
        </p:scale>
        <p:origin x="-2238" y="-181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cs typeface="+mn-cs"/>
              </a:defRPr>
            </a:lvl1pPr>
          </a:lstStyle>
          <a:p>
            <a:pPr>
              <a:defRPr/>
            </a:pPr>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0" hangingPunct="0">
              <a:defRPr sz="1200">
                <a:cs typeface="+mn-cs"/>
              </a:defRPr>
            </a:lvl1pPr>
          </a:lstStyle>
          <a:p>
            <a:pPr>
              <a:defRPr/>
            </a:pPr>
            <a:fld id="{39BCF0EB-41F1-4287-9EDD-11AF6255FC0E}" type="datetimeFigureOut">
              <a:rPr lang="en-IN"/>
              <a:pPr>
                <a:defRPr/>
              </a:pPr>
              <a:t>24-02-2025</a:t>
            </a:fld>
            <a:endParaRPr lang="en-IN"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IN"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0" hangingPunct="0">
              <a:defRPr sz="1200">
                <a:cs typeface="+mn-cs"/>
              </a:defRPr>
            </a:lvl1pPr>
          </a:lstStyle>
          <a:p>
            <a:pPr>
              <a:defRPr/>
            </a:pPr>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EFE970E-66EF-47DD-A751-C65AD8B91F92}" type="slidenum">
              <a:rPr lang="en-IN" altLang="en-US"/>
              <a:pPr/>
              <a:t>‹#›</a:t>
            </a:fld>
            <a:endParaRPr lang="en-IN" altLang="en-US" dirty="0"/>
          </a:p>
        </p:txBody>
      </p:sp>
    </p:spTree>
    <p:extLst>
      <p:ext uri="{BB962C8B-B14F-4D97-AF65-F5344CB8AC3E}">
        <p14:creationId xmlns:p14="http://schemas.microsoft.com/office/powerpoint/2010/main" val="11149609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EFE970E-66EF-47DD-A751-C65AD8B91F92}" type="slidenum">
              <a:rPr lang="en-IN" altLang="en-US" smtClean="0"/>
              <a:pPr/>
              <a:t>1</a:t>
            </a:fld>
            <a:endParaRPr lang="en-IN" altLang="en-US" dirty="0"/>
          </a:p>
        </p:txBody>
      </p:sp>
    </p:spTree>
    <p:extLst>
      <p:ext uri="{BB962C8B-B14F-4D97-AF65-F5344CB8AC3E}">
        <p14:creationId xmlns:p14="http://schemas.microsoft.com/office/powerpoint/2010/main" val="22773534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a:off x="0" y="0"/>
            <a:ext cx="12192000" cy="6858000"/>
          </a:xfrm>
          <a:prstGeom prst="rect">
            <a:avLst/>
          </a:prstGeom>
          <a:blipFill dpi="0" rotWithShape="1">
            <a:blip r:embed="rId2">
              <a:alphaModFix amt="12000"/>
              <a:duotone>
                <a:schemeClr val="accent1">
                  <a:shade val="45000"/>
                  <a:satMod val="135000"/>
                </a:schemeClr>
                <a:prstClr val="white"/>
              </a:duotone>
            </a:blip>
            <a:srcRect/>
            <a:tile tx="-368300" ty="203200" sx="64000" sy="64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C</a:t>
            </a:r>
          </a:p>
        </p:txBody>
      </p:sp>
      <p:sp>
        <p:nvSpPr>
          <p:cNvPr id="10" name="Rectangle 9"/>
          <p:cNvSpPr/>
          <p:nvPr/>
        </p:nvSpPr>
        <p:spPr>
          <a:xfrm>
            <a:off x="1307870" y="1267730"/>
            <a:ext cx="9576262" cy="4307950"/>
          </a:xfrm>
          <a:prstGeom prst="rect">
            <a:avLst/>
          </a:prstGeom>
          <a:solidFill>
            <a:schemeClr val="tx2"/>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bg2"/>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bg2"/>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6AD6EE87-EBD5-4F12-A48A-63ACA297AC8F}" type="datetimeFigureOut">
              <a:rPr lang="en-US" smtClean="0"/>
              <a:t>2/24/2025</a:t>
            </a:fld>
            <a:endParaRPr lang="en-US" dirty="0"/>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bg2"/>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bg2"/>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143684927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598699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p:cNvSpPr/>
          <p:nvPr/>
        </p:nvSpPr>
        <p:spPr>
          <a:xfrm>
            <a:off x="0" y="0"/>
            <a:ext cx="12192000" cy="6858000"/>
          </a:xfrm>
          <a:prstGeom prst="rect">
            <a:avLst/>
          </a:prstGeom>
          <a:blipFill dpi="0" rotWithShape="1">
            <a:blip r:embed="rId2">
              <a:alphaModFix amt="12000"/>
              <a:duotone>
                <a:schemeClr val="accent2">
                  <a:shade val="45000"/>
                  <a:satMod val="135000"/>
                </a:schemeClr>
                <a:prstClr val="white"/>
              </a:duotone>
            </a:blip>
            <a:srcRect/>
            <a:tile tx="-368300" ty="203200" sx="64000" sy="64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C</a:t>
            </a:r>
          </a:p>
        </p:txBody>
      </p:sp>
      <p:sp>
        <p:nvSpPr>
          <p:cNvPr id="23" name="Rectangle 22"/>
          <p:cNvSpPr/>
          <p:nvPr/>
        </p:nvSpPr>
        <p:spPr>
          <a:xfrm>
            <a:off x="1307870" y="1267730"/>
            <a:ext cx="9576262" cy="4307950"/>
          </a:xfrm>
          <a:prstGeom prst="rect">
            <a:avLst/>
          </a:prstGeom>
          <a:solidFill>
            <a:schemeClr val="tx2"/>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bg2"/>
            </a:solidFill>
            <a:prstDash val="solid"/>
            <a:miter lim="800000"/>
          </a:ln>
          <a:effectLst/>
        </p:spPr>
      </p:sp>
      <p:sp>
        <p:nvSpPr>
          <p:cNvPr id="30" name="Rectangle 29"/>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bg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5A61015F-7CC6-4D0A-9D87-873EA4C304CC}" type="datetimeFigureOut">
              <a:rPr lang="en-US" smtClean="0"/>
              <a:t>2/24/2025</a:t>
            </a:fld>
            <a:endParaRPr lang="en-US" dirty="0"/>
          </a:p>
        </p:txBody>
      </p:sp>
      <p:sp>
        <p:nvSpPr>
          <p:cNvPr id="5" name="Footer Placeholder 4"/>
          <p:cNvSpPr>
            <a:spLocks noGrp="1"/>
          </p:cNvSpPr>
          <p:nvPr>
            <p:ph type="ftr" sz="quarter" idx="11"/>
          </p:nvPr>
        </p:nvSpPr>
        <p:spPr>
          <a:xfrm>
            <a:off x="1453896" y="5212080"/>
            <a:ext cx="5907024" cy="228600"/>
          </a:xfrm>
        </p:spPr>
        <p:txBody>
          <a:bodyPr/>
          <a:lstStyle>
            <a:lvl1pPr algn="l">
              <a:defRPr>
                <a:solidFill>
                  <a:schemeClr val="bg2"/>
                </a:solidFill>
              </a:defRPr>
            </a:lvl1pPr>
          </a:lstStyle>
          <a:p>
            <a:endParaRPr lang="en-US" dirty="0"/>
          </a:p>
        </p:txBody>
      </p:sp>
      <p:sp>
        <p:nvSpPr>
          <p:cNvPr id="6" name="Slide Number Placeholder 5"/>
          <p:cNvSpPr>
            <a:spLocks noGrp="1"/>
          </p:cNvSpPr>
          <p:nvPr>
            <p:ph type="sldNum" sz="quarter" idx="12"/>
          </p:nvPr>
        </p:nvSpPr>
        <p:spPr>
          <a:xfrm>
            <a:off x="8604504" y="5212080"/>
            <a:ext cx="2112264" cy="228600"/>
          </a:xfrm>
        </p:spPr>
        <p:txBody>
          <a:bodyPr/>
          <a:lstStyle>
            <a:lvl1pPr>
              <a:defRPr>
                <a:solidFill>
                  <a:schemeClr val="bg2"/>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2556299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095074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298CD5-6C1E-4009-B41F-6DF62E31D3BE}" type="datetimeFigureOut">
              <a:rPr lang="en-US" smtClean="0"/>
              <a:pPr/>
              <a:t>2/24/2025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52043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2/24/2025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10992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2/24/2025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0065038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ectangle 14"/>
          <p:cNvSpPr/>
          <p:nvPr/>
        </p:nvSpPr>
        <p:spPr>
          <a:xfrm>
            <a:off x="9020386" y="237744"/>
            <a:ext cx="2926080" cy="6382512"/>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5" name="Date Placeholder 4"/>
          <p:cNvSpPr>
            <a:spLocks noGrp="1"/>
          </p:cNvSpPr>
          <p:nvPr>
            <p:ph type="dt" sz="half" idx="10"/>
          </p:nvPr>
        </p:nvSpPr>
        <p:spPr/>
        <p:txBody>
          <a:bodyPr/>
          <a:lstStyle/>
          <a:p>
            <a:fld id="{05C68B11-C5A8-448C-8CE9-B1A273C79CFC}" type="datetimeFigureOut">
              <a:rPr lang="en-US" smtClean="0"/>
              <a:t>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93893672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0" name="Rectangle 9"/>
          <p:cNvSpPr/>
          <p:nvPr/>
        </p:nvSpPr>
        <p:spPr>
          <a:xfrm>
            <a:off x="9020386" y="237744"/>
            <a:ext cx="2926080" cy="6382512"/>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rgbClr val="969696"/>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effectLst>
                  <a:outerShdw blurRad="12700" dist="3810" dir="2700000" algn="tl" rotWithShape="0">
                    <a:prstClr val="black">
                      <a:alpha val="40000"/>
                    </a:prstClr>
                  </a:outerShdw>
                </a:effectLst>
              </a:defRPr>
            </a:lvl1pPr>
          </a:lstStyle>
          <a:p>
            <a:fld id="{C7616CA0-919D-4A49-9C8A-62FDFB3A5183}" type="datetimeFigureOut">
              <a:rPr lang="en-US" smtClean="0"/>
              <a:t>2/24/2025</a:t>
            </a:fld>
            <a:endParaRPr lang="en-US" dirty="0"/>
          </a:p>
        </p:txBody>
      </p:sp>
      <p:sp>
        <p:nvSpPr>
          <p:cNvPr id="12" name="Footer Placeholder 11"/>
          <p:cNvSpPr>
            <a:spLocks noGrp="1"/>
          </p:cNvSpPr>
          <p:nvPr>
            <p:ph type="ftr" sz="quarter" idx="11"/>
          </p:nvPr>
        </p:nvSpPr>
        <p:spPr/>
        <p:txBody>
          <a:bodyPr/>
          <a:lstStyle>
            <a:lvl1pPr algn="r">
              <a:defRPr lang="en-US" sz="1000" kern="1200" dirty="0">
                <a:solidFill>
                  <a:schemeClr val="tx1">
                    <a:lumMod val="75000"/>
                    <a:lumOff val="25000"/>
                  </a:schemeClr>
                </a:solidFill>
                <a:effectLst>
                  <a:outerShdw blurRad="12700" dist="3810" dir="2700000" algn="tl" rotWithShape="0">
                    <a:prstClr val="black">
                      <a:alpha val="40000"/>
                    </a:prstClr>
                  </a:outerShdw>
                </a:effectLst>
                <a:latin typeface="+mn-lt"/>
                <a:ea typeface="+mn-ea"/>
                <a:cs typeface="+mn-cs"/>
              </a:defRPr>
            </a:lvl1pPr>
          </a:lstStyle>
          <a:p>
            <a:endParaRPr lang="en-US" dirty="0"/>
          </a:p>
        </p:txBody>
      </p:sp>
      <p:sp>
        <p:nvSpPr>
          <p:cNvPr id="13" name="Slide Number Placeholder 12"/>
          <p:cNvSpPr>
            <a:spLocks noGrp="1"/>
          </p:cNvSpPr>
          <p:nvPr>
            <p:ph type="sldNum" sz="quarter" idx="12"/>
          </p:nvPr>
        </p:nvSpPr>
        <p:spPr/>
        <p:txBody>
          <a:bodyPr/>
          <a:lstStyle>
            <a:lvl1pPr>
              <a:defRPr>
                <a:solidFill>
                  <a:srgbClr val="FFFFFF"/>
                </a:solidFill>
              </a:defRPr>
            </a:lvl1pPr>
          </a:lstStyle>
          <a:p>
            <a:fld id="{867E5644-1E61-4311-A31E-84CB9C7AA8A9}" type="slidenum">
              <a:rPr lang="en-US" smtClean="0"/>
              <a:t>‹#›</a:t>
            </a:fld>
            <a:endParaRPr lang="en-US" dirty="0"/>
          </a:p>
        </p:txBody>
      </p:sp>
    </p:spTree>
    <p:extLst>
      <p:ext uri="{BB962C8B-B14F-4D97-AF65-F5344CB8AC3E}">
        <p14:creationId xmlns:p14="http://schemas.microsoft.com/office/powerpoint/2010/main" val="551199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42315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smtClean="0"/>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829461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90298CD5-6C1E-4009-B41F-6DF62E31D3BE}" type="datetimeFigureOut">
              <a:rPr lang="en-US" smtClean="0"/>
              <a:pPr/>
              <a:t>2/24/2025</a:t>
            </a:fld>
            <a:endParaRPr lang="en-US" dirty="0"/>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314667" y="6214535"/>
            <a:ext cx="1463040" cy="256032"/>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smtClean="0"/>
              <a:pPr/>
              <a:t>‹#›</a:t>
            </a:fld>
            <a:endParaRPr lang="en-US" dirty="0"/>
          </a:p>
        </p:txBody>
      </p:sp>
      <p:sp>
        <p:nvSpPr>
          <p:cNvPr id="8" name="Rectangle 7"/>
          <p:cNvSpPr/>
          <p:nvPr/>
        </p:nvSpPr>
        <p:spPr>
          <a:xfrm>
            <a:off x="371856" y="374904"/>
            <a:ext cx="11448288" cy="6108192"/>
          </a:xfrm>
          <a:prstGeom prst="rect">
            <a:avLst/>
          </a:prstGeom>
          <a:noFill/>
          <a:ln w="6350" cap="sq" cmpd="sng" algn="ctr">
            <a:solidFill>
              <a:schemeClr val="tx1">
                <a:lumMod val="75000"/>
                <a:lumOff val="25000"/>
              </a:schemeClr>
            </a:solidFill>
            <a:prstDash val="solid"/>
            <a:miter lim="800000"/>
          </a:ln>
          <a:effectLst/>
        </p:spPr>
      </p:sp>
      <p:sp>
        <p:nvSpPr>
          <p:cNvPr id="10" name="TextBox 9">
            <a:extLst>
              <a:ext uri="{FF2B5EF4-FFF2-40B4-BE49-F238E27FC236}">
                <a16:creationId xmlns:a16="http://schemas.microsoft.com/office/drawing/2014/main" id="{B0B50364-C805-1CBD-3931-374E03D843FC}"/>
              </a:ext>
            </a:extLst>
          </p:cNvPr>
          <p:cNvSpPr txBox="1"/>
          <p:nvPr userDrawn="1">
            <p:extLst>
              <p:ext uri="{1162E1C5-73C7-4A58-AE30-91384D911F3F}">
                <p184:classification xmlns:p184="http://schemas.microsoft.com/office/powerpoint/2018/4/main" val="ftr"/>
              </p:ext>
            </p:extLst>
          </p:nvPr>
        </p:nvSpPr>
        <p:spPr>
          <a:xfrm>
            <a:off x="63500" y="6642100"/>
            <a:ext cx="1292225" cy="152400"/>
          </a:xfrm>
          <a:prstGeom prst="rect">
            <a:avLst/>
          </a:prstGeom>
        </p:spPr>
        <p:txBody>
          <a:bodyPr horzOverflow="overflow" lIns="0" tIns="0" rIns="0" bIns="0">
            <a:spAutoFit/>
          </a:bodyPr>
          <a:lstStyle/>
          <a:p>
            <a:pPr algn="l"/>
            <a:r>
              <a:rPr lang="en-IN" sz="1000">
                <a:solidFill>
                  <a:srgbClr val="000000"/>
                </a:solidFill>
                <a:latin typeface="Calibri" panose="020F0502020204030204" pitchFamily="34" charset="0"/>
                <a:ea typeface="Calibri" panose="020F0502020204030204" pitchFamily="34" charset="0"/>
                <a:cs typeface="Calibri" panose="020F0502020204030204" pitchFamily="34" charset="0"/>
              </a:rPr>
              <a:t>Personal - Individual Use</a:t>
            </a:r>
          </a:p>
        </p:txBody>
      </p:sp>
    </p:spTree>
    <p:extLst>
      <p:ext uri="{BB962C8B-B14F-4D97-AF65-F5344CB8AC3E}">
        <p14:creationId xmlns:p14="http://schemas.microsoft.com/office/powerpoint/2010/main" val="2652636884"/>
      </p:ext>
    </p:extLst>
  </p:cSld>
  <p:clrMap bg1="lt1" tx1="dk1" bg2="lt2" tx2="dk2" accent1="accent1" accent2="accent2" accent3="accent3" accent4="accent4" accent5="accent5" accent6="accent6" hlink="hlink" folHlink="folHlink"/>
  <p:sldLayoutIdLst>
    <p:sldLayoutId id="2147488315" r:id="rId1"/>
    <p:sldLayoutId id="2147488316" r:id="rId2"/>
    <p:sldLayoutId id="2147488317" r:id="rId3"/>
    <p:sldLayoutId id="2147488318" r:id="rId4"/>
    <p:sldLayoutId id="2147488319" r:id="rId5"/>
    <p:sldLayoutId id="2147488320" r:id="rId6"/>
    <p:sldLayoutId id="2147488321" r:id="rId7"/>
    <p:sldLayoutId id="2147488322" r:id="rId8"/>
    <p:sldLayoutId id="2147488323" r:id="rId9"/>
    <p:sldLayoutId id="2147488324" r:id="rId10"/>
    <p:sldLayoutId id="2147488325"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2"/>
        </a:buClr>
        <a:buFont typeface="Arial" pitchFamily="34"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2"/>
        </a:buClr>
        <a:buFont typeface="Arial" pitchFamily="34"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Logo">
            <a:extLst>
              <a:ext uri="{FF2B5EF4-FFF2-40B4-BE49-F238E27FC236}">
                <a16:creationId xmlns:a16="http://schemas.microsoft.com/office/drawing/2014/main" id="{F59600AD-534F-429F-99D6-A9CC0C8960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object 5">
            <a:extLst>
              <a:ext uri="{FF2B5EF4-FFF2-40B4-BE49-F238E27FC236}">
                <a16:creationId xmlns:a16="http://schemas.microsoft.com/office/drawing/2014/main" id="{0D63FFA9-1074-41CD-9F61-37307A12AA72}"/>
              </a:ext>
            </a:extLst>
          </p:cNvPr>
          <p:cNvSpPr/>
          <p:nvPr/>
        </p:nvSpPr>
        <p:spPr>
          <a:xfrm>
            <a:off x="921631" y="3383280"/>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8" name="object 4">
            <a:extLst>
              <a:ext uri="{FF2B5EF4-FFF2-40B4-BE49-F238E27FC236}">
                <a16:creationId xmlns:a16="http://schemas.microsoft.com/office/drawing/2014/main" id="{AC2E87EC-C7BB-4A8A-B0D3-736837E0731E}"/>
              </a:ext>
            </a:extLst>
          </p:cNvPr>
          <p:cNvSpPr txBox="1"/>
          <p:nvPr/>
        </p:nvSpPr>
        <p:spPr>
          <a:xfrm>
            <a:off x="921631" y="2929460"/>
            <a:ext cx="3383083" cy="453820"/>
          </a:xfrm>
          <a:prstGeom prst="rect">
            <a:avLst/>
          </a:prstGeom>
        </p:spPr>
        <p:txBody>
          <a:bodyPr wrap="square" lIns="0" tIns="16224" rIns="0" bIns="0" rtlCol="0">
            <a:noAutofit/>
          </a:bodyPr>
          <a:lstStyle/>
          <a:p>
            <a:pPr marL="12700" marR="0" lvl="0" indent="0" algn="l" defTabSz="457200" rtl="0" eaLnBrk="1" fontAlgn="auto" latinLnBrk="0" hangingPunct="1">
              <a:lnSpc>
                <a:spcPts val="2555"/>
              </a:lnSpc>
              <a:spcBef>
                <a:spcPts val="0"/>
              </a:spcBef>
              <a:spcAft>
                <a:spcPts val="0"/>
              </a:spcAft>
              <a:buClrTx/>
              <a:buSzTx/>
              <a:buFontTx/>
              <a:buNone/>
              <a:tabLst/>
              <a:defRPr/>
            </a:pPr>
            <a:r>
              <a:rPr lang="en-IN" sz="2400" b="1" spc="-1" dirty="0">
                <a:solidFill>
                  <a:srgbClr val="004282"/>
                </a:solidFill>
                <a:latin typeface="Arial"/>
                <a:cs typeface="Arial"/>
              </a:rPr>
              <a:t>Docker Architecture</a:t>
            </a:r>
            <a:endParaRPr kumimoji="0" sz="2400" b="0" i="0" u="none" strike="noStrike" kern="1200" cap="none" spc="0" normalizeH="0" baseline="0" noProof="0" dirty="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1994510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3258547"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 Architecture</a:t>
            </a:r>
            <a:endParaRPr kumimoji="0" sz="2400" b="0" i="0" u="none" strike="noStrike" kern="1200" cap="none" spc="0" normalizeH="0" baseline="0" noProof="0" dirty="0">
              <a:ln>
                <a:noFill/>
              </a:ln>
              <a:solidFill>
                <a:prstClr val="black"/>
              </a:solidFill>
              <a:effectLst/>
              <a:uLnTx/>
              <a:uFillTx/>
              <a:latin typeface="Arial"/>
              <a:cs typeface="Arial"/>
            </a:endParaRPr>
          </a:p>
        </p:txBody>
      </p:sp>
      <p:pic>
        <p:nvPicPr>
          <p:cNvPr id="3" name="Picture 2">
            <a:extLst>
              <a:ext uri="{FF2B5EF4-FFF2-40B4-BE49-F238E27FC236}">
                <a16:creationId xmlns:a16="http://schemas.microsoft.com/office/drawing/2014/main" id="{BEA4B9C7-3AA9-49A4-8866-188BE89B884A}"/>
              </a:ext>
            </a:extLst>
          </p:cNvPr>
          <p:cNvPicPr>
            <a:picLocks noChangeAspect="1"/>
          </p:cNvPicPr>
          <p:nvPr/>
        </p:nvPicPr>
        <p:blipFill>
          <a:blip r:embed="rId3"/>
          <a:stretch>
            <a:fillRect/>
          </a:stretch>
        </p:blipFill>
        <p:spPr>
          <a:xfrm>
            <a:off x="675249" y="833071"/>
            <a:ext cx="10367889" cy="577843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3258547"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 File</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p:cNvSpPr txBox="1"/>
          <p:nvPr/>
        </p:nvSpPr>
        <p:spPr>
          <a:xfrm>
            <a:off x="455324" y="976297"/>
            <a:ext cx="10779369" cy="666106"/>
          </a:xfrm>
          <a:prstGeom prst="rect">
            <a:avLst/>
          </a:prstGeom>
        </p:spPr>
        <p:txBody>
          <a:bodyPr wrap="square" lIns="0" tIns="16224" rIns="0" bIns="0" rtlCol="0">
            <a:noAutofit/>
          </a:bodyPr>
          <a:lstStyle/>
          <a:p>
            <a:r>
              <a:rPr lang="en-IN" sz="2000" b="1" u="sng" dirty="0">
                <a:effectLst>
                  <a:outerShdw blurRad="38100" dist="38100" dir="2700000" algn="tl">
                    <a:srgbClr val="000000">
                      <a:alpha val="43137"/>
                    </a:srgbClr>
                  </a:outerShdw>
                </a:effectLst>
                <a:cs typeface="Calibri" panose="020F0502020204030204" pitchFamily="34" charset="0"/>
              </a:rPr>
              <a:t>Docker Files</a:t>
            </a:r>
            <a:r>
              <a:rPr lang="en-IN" sz="2000" dirty="0">
                <a:cs typeface="Calibri" panose="020F0502020204030204" pitchFamily="34" charset="0"/>
              </a:rPr>
              <a:t> are basically scripts that you can write and then build into a Docker Image. The image can then be run to create the Container. Its like a Shell script.</a:t>
            </a:r>
            <a:r>
              <a:rPr lang="en-IN" sz="2000" b="1" u="sng" dirty="0">
                <a:effectLst>
                  <a:outerShdw blurRad="38100" dist="38100" dir="2700000" algn="tl">
                    <a:srgbClr val="000000">
                      <a:alpha val="43137"/>
                    </a:srgbClr>
                  </a:outerShdw>
                </a:effectLst>
                <a:cs typeface="Calibri" panose="020F0502020204030204" pitchFamily="34" charset="0"/>
              </a:rPr>
              <a:t> </a:t>
            </a:r>
          </a:p>
          <a:p>
            <a:endParaRPr lang="en-IN" sz="2400" dirty="0">
              <a:latin typeface="Aparajita" panose="02020603050405020304" pitchFamily="18" charset="0"/>
              <a:cs typeface="Aparajita" panose="02020603050405020304" pitchFamily="18" charset="0"/>
            </a:endParaRPr>
          </a:p>
          <a:p>
            <a:endParaRPr lang="en-US" sz="2000" dirty="0">
              <a:solidFill>
                <a:srgbClr val="000000"/>
              </a:solidFill>
            </a:endParaRPr>
          </a:p>
        </p:txBody>
      </p:sp>
      <p:pic>
        <p:nvPicPr>
          <p:cNvPr id="3" name="Picture 2">
            <a:extLst>
              <a:ext uri="{FF2B5EF4-FFF2-40B4-BE49-F238E27FC236}">
                <a16:creationId xmlns:a16="http://schemas.microsoft.com/office/drawing/2014/main" id="{748F7D79-E474-4C24-A851-D153E83BE209}"/>
              </a:ext>
            </a:extLst>
          </p:cNvPr>
          <p:cNvPicPr>
            <a:picLocks noChangeAspect="1"/>
          </p:cNvPicPr>
          <p:nvPr/>
        </p:nvPicPr>
        <p:blipFill>
          <a:blip r:embed="rId3"/>
          <a:stretch>
            <a:fillRect/>
          </a:stretch>
        </p:blipFill>
        <p:spPr>
          <a:xfrm>
            <a:off x="928863" y="2453934"/>
            <a:ext cx="10005618" cy="3071152"/>
          </a:xfrm>
          <a:prstGeom prst="rect">
            <a:avLst/>
          </a:prstGeom>
        </p:spPr>
      </p:pic>
    </p:spTree>
    <p:extLst>
      <p:ext uri="{BB962C8B-B14F-4D97-AF65-F5344CB8AC3E}">
        <p14:creationId xmlns:p14="http://schemas.microsoft.com/office/powerpoint/2010/main" val="1946456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8A714E-4BA8-480D-A48A-89D2B7603421}"/>
              </a:ext>
            </a:extLst>
          </p:cNvPr>
          <p:cNvSpPr/>
          <p:nvPr/>
        </p:nvSpPr>
        <p:spPr>
          <a:xfrm>
            <a:off x="429261" y="755833"/>
            <a:ext cx="2138289" cy="60107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4369895"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Dockerfile Instructions</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p:cNvSpPr txBox="1"/>
          <p:nvPr/>
        </p:nvSpPr>
        <p:spPr>
          <a:xfrm>
            <a:off x="2883877" y="755833"/>
            <a:ext cx="7661499" cy="5615520"/>
          </a:xfrm>
          <a:prstGeom prst="rect">
            <a:avLst/>
          </a:prstGeom>
        </p:spPr>
        <p:txBody>
          <a:bodyPr wrap="square" lIns="0" tIns="16224" rIns="0" bIns="0" rtlCol="0">
            <a:noAutofit/>
          </a:bodyPr>
          <a:lstStyle/>
          <a:p>
            <a:pPr algn="ctr"/>
            <a:r>
              <a:rPr lang="en-IN" sz="2000" b="1" u="sng" dirty="0">
                <a:effectLst>
                  <a:outerShdw blurRad="38100" dist="38100" dir="2700000" algn="tl">
                    <a:srgbClr val="000000">
                      <a:alpha val="43137"/>
                    </a:srgbClr>
                  </a:outerShdw>
                </a:effectLst>
                <a:cs typeface="Calibri" panose="020F0502020204030204" pitchFamily="34" charset="0"/>
              </a:rPr>
              <a:t>FROM</a:t>
            </a:r>
          </a:p>
          <a:p>
            <a:endParaRPr lang="en-IN" sz="2400" dirty="0">
              <a:cs typeface="Calibri" panose="020F0502020204030204" pitchFamily="34" charset="0"/>
            </a:endParaRPr>
          </a:p>
          <a:p>
            <a:r>
              <a:rPr lang="en-US" sz="2000" b="1" dirty="0">
                <a:solidFill>
                  <a:srgbClr val="000000"/>
                </a:solidFill>
              </a:rPr>
              <a:t>Syntax</a:t>
            </a:r>
            <a:r>
              <a:rPr lang="en-US" sz="1600" i="1" dirty="0">
                <a:solidFill>
                  <a:srgbClr val="000000"/>
                </a:solidFill>
                <a:latin typeface="Courier New" panose="02070309020205020404" pitchFamily="49" charset="0"/>
                <a:cs typeface="Courier New" panose="02070309020205020404" pitchFamily="49" charset="0"/>
              </a:rPr>
              <a:t>: FROM &lt;base_image_name&gt;</a:t>
            </a:r>
          </a:p>
          <a:p>
            <a:endParaRPr lang="en-US" sz="2000" dirty="0">
              <a:solidFill>
                <a:srgbClr val="000000"/>
              </a:solidFill>
            </a:endParaRPr>
          </a:p>
          <a:p>
            <a:r>
              <a:rPr lang="en-US" sz="2000" dirty="0">
                <a:solidFill>
                  <a:srgbClr val="000000"/>
                </a:solidFill>
              </a:rPr>
              <a:t>It is an instruction that informs docker about the base image that is to be used for the container. So basically, if you have an image in mind whose properties you wish to inherit you can mention it using this instruction.</a:t>
            </a:r>
          </a:p>
          <a:p>
            <a:r>
              <a:rPr lang="en-US" sz="2000" dirty="0">
                <a:solidFill>
                  <a:srgbClr val="000000"/>
                </a:solidFill>
              </a:rPr>
              <a:t>This is always used as the first instruction for any docker image, but you can use it multiple times.</a:t>
            </a:r>
          </a:p>
          <a:p>
            <a:r>
              <a:rPr lang="en-US" sz="1600" i="1" dirty="0">
                <a:solidFill>
                  <a:srgbClr val="000000"/>
                </a:solidFill>
                <a:latin typeface="Courier New" panose="02070309020205020404" pitchFamily="49" charset="0"/>
                <a:cs typeface="Courier New" panose="02070309020205020404" pitchFamily="49" charset="0"/>
              </a:rPr>
              <a:t>ARG</a:t>
            </a:r>
            <a:r>
              <a:rPr lang="en-US" sz="2000" dirty="0">
                <a:solidFill>
                  <a:srgbClr val="000000"/>
                </a:solidFill>
              </a:rPr>
              <a:t> is the only instruction that may precede </a:t>
            </a:r>
            <a:r>
              <a:rPr lang="en-US" sz="1600" i="1" dirty="0">
                <a:solidFill>
                  <a:srgbClr val="000000"/>
                </a:solidFill>
                <a:latin typeface="Courier New" panose="02070309020205020404" pitchFamily="49" charset="0"/>
                <a:cs typeface="Courier New" panose="02070309020205020404" pitchFamily="49" charset="0"/>
              </a:rPr>
              <a:t>FROM</a:t>
            </a:r>
            <a:r>
              <a:rPr lang="en-US" sz="2000" dirty="0">
                <a:solidFill>
                  <a:srgbClr val="000000"/>
                </a:solidFill>
              </a:rPr>
              <a:t> in </a:t>
            </a:r>
            <a:r>
              <a:rPr lang="en-US" sz="2000" dirty="0" err="1">
                <a:solidFill>
                  <a:srgbClr val="000000"/>
                </a:solidFill>
              </a:rPr>
              <a:t>dockerfile</a:t>
            </a:r>
            <a:r>
              <a:rPr lang="en-US" sz="2000" dirty="0">
                <a:solidFill>
                  <a:srgbClr val="000000"/>
                </a:solidFill>
              </a:rPr>
              <a:t>.</a:t>
            </a:r>
          </a:p>
          <a:p>
            <a:endParaRPr lang="en-US" sz="2000" dirty="0">
              <a:solidFill>
                <a:srgbClr val="000000"/>
              </a:solidFill>
            </a:endParaRPr>
          </a:p>
          <a:p>
            <a:r>
              <a:rPr lang="en-IN" sz="2000" b="1" dirty="0">
                <a:solidFill>
                  <a:srgbClr val="000000"/>
                </a:solidFill>
              </a:rPr>
              <a:t>Example</a:t>
            </a:r>
            <a:r>
              <a:rPr lang="en-IN" sz="1600" i="1" dirty="0">
                <a:solidFill>
                  <a:srgbClr val="000000"/>
                </a:solidFill>
                <a:latin typeface="Courier New" panose="02070309020205020404" pitchFamily="49" charset="0"/>
                <a:cs typeface="Courier New" panose="02070309020205020404" pitchFamily="49" charset="0"/>
              </a:rPr>
              <a:t>:</a:t>
            </a:r>
          </a:p>
          <a:p>
            <a:endParaRPr lang="en-IN"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FROM </a:t>
            </a:r>
            <a:r>
              <a:rPr lang="en-US" sz="1600" i="1" dirty="0">
                <a:solidFill>
                  <a:srgbClr val="FF0000"/>
                </a:solidFill>
                <a:latin typeface="Courier New" panose="02070309020205020404" pitchFamily="49" charset="0"/>
                <a:cs typeface="Courier New" panose="02070309020205020404" pitchFamily="49" charset="0"/>
              </a:rPr>
              <a:t>ubuntu:latest</a:t>
            </a: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p:txBody>
      </p:sp>
      <p:sp>
        <p:nvSpPr>
          <p:cNvPr id="6" name="object 2">
            <a:extLst>
              <a:ext uri="{FF2B5EF4-FFF2-40B4-BE49-F238E27FC236}">
                <a16:creationId xmlns:a16="http://schemas.microsoft.com/office/drawing/2014/main" id="{7700FF70-4707-44A6-B7A9-8D622F4560C8}"/>
              </a:ext>
            </a:extLst>
          </p:cNvPr>
          <p:cNvSpPr txBox="1"/>
          <p:nvPr/>
        </p:nvSpPr>
        <p:spPr>
          <a:xfrm>
            <a:off x="957307" y="831798"/>
            <a:ext cx="2555163" cy="5653103"/>
          </a:xfrm>
          <a:prstGeom prst="rect">
            <a:avLst/>
          </a:prstGeom>
        </p:spPr>
        <p:txBody>
          <a:bodyPr wrap="square" lIns="0" tIns="16224" rIns="0" bIns="0" rtlCol="0">
            <a:noAutofit/>
          </a:bodyPr>
          <a:lstStyle/>
          <a:p>
            <a:r>
              <a:rPr lang="en-IN" sz="2000" b="1" dirty="0">
                <a:solidFill>
                  <a:schemeClr val="bg1"/>
                </a:solidFill>
                <a:effectLst>
                  <a:outerShdw blurRad="38100" dist="38100" dir="2700000" algn="tl">
                    <a:srgbClr val="000000">
                      <a:alpha val="43137"/>
                    </a:srgbClr>
                  </a:outerShdw>
                </a:effectLst>
                <a:cs typeface="Calibri" panose="020F0502020204030204" pitchFamily="34" charset="0"/>
              </a:rPr>
              <a:t>FROM</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ADD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COPY</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RUN</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WORKDIR</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CMD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VOLUME</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EXPOSE</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ENTRYPOINT</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LEBEL</a:t>
            </a:r>
          </a:p>
          <a:p>
            <a:endParaRPr lang="en-IN" sz="2400" dirty="0">
              <a:latin typeface="Aparajita" panose="02020603050405020304" pitchFamily="18" charset="0"/>
              <a:cs typeface="Aparajita" panose="02020603050405020304" pitchFamily="18" charset="0"/>
            </a:endParaRPr>
          </a:p>
          <a:p>
            <a:endParaRPr lang="en-US" sz="2000" dirty="0">
              <a:solidFill>
                <a:srgbClr val="000000"/>
              </a:solidFill>
            </a:endParaRPr>
          </a:p>
        </p:txBody>
      </p:sp>
    </p:spTree>
    <p:extLst>
      <p:ext uri="{BB962C8B-B14F-4D97-AF65-F5344CB8AC3E}">
        <p14:creationId xmlns:p14="http://schemas.microsoft.com/office/powerpoint/2010/main" val="1724655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8A714E-4BA8-480D-A48A-89D2B7603421}"/>
              </a:ext>
            </a:extLst>
          </p:cNvPr>
          <p:cNvSpPr/>
          <p:nvPr/>
        </p:nvSpPr>
        <p:spPr>
          <a:xfrm>
            <a:off x="429261" y="755833"/>
            <a:ext cx="2138289" cy="60107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4369895"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Dockerfile Instructions</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p:cNvSpPr txBox="1"/>
          <p:nvPr/>
        </p:nvSpPr>
        <p:spPr>
          <a:xfrm>
            <a:off x="2883877" y="755833"/>
            <a:ext cx="7661499" cy="5615520"/>
          </a:xfrm>
          <a:prstGeom prst="rect">
            <a:avLst/>
          </a:prstGeom>
        </p:spPr>
        <p:txBody>
          <a:bodyPr wrap="square" lIns="0" tIns="16224" rIns="0" bIns="0" rtlCol="0">
            <a:noAutofit/>
          </a:bodyPr>
          <a:lstStyle/>
          <a:p>
            <a:pPr algn="ctr"/>
            <a:r>
              <a:rPr lang="en-IN" sz="2000" b="1" u="sng" dirty="0">
                <a:effectLst>
                  <a:outerShdw blurRad="38100" dist="38100" dir="2700000" algn="tl">
                    <a:srgbClr val="000000">
                      <a:alpha val="43137"/>
                    </a:srgbClr>
                  </a:outerShdw>
                </a:effectLst>
                <a:cs typeface="Calibri" panose="020F0502020204030204" pitchFamily="34" charset="0"/>
              </a:rPr>
              <a:t>ADD</a:t>
            </a:r>
          </a:p>
          <a:p>
            <a:endParaRPr lang="en-IN" sz="2400" dirty="0">
              <a:cs typeface="Calibri" panose="020F0502020204030204" pitchFamily="34" charset="0"/>
            </a:endParaRPr>
          </a:p>
          <a:p>
            <a:r>
              <a:rPr lang="en-US" sz="2000" b="1" dirty="0">
                <a:solidFill>
                  <a:srgbClr val="000000"/>
                </a:solidFill>
              </a:rPr>
              <a:t>Syntax</a:t>
            </a:r>
            <a:r>
              <a:rPr lang="en-US" sz="1600" i="1" dirty="0">
                <a:solidFill>
                  <a:srgbClr val="000000"/>
                </a:solidFill>
                <a:latin typeface="Courier New" panose="02070309020205020404" pitchFamily="49" charset="0"/>
                <a:cs typeface="Courier New" panose="02070309020205020404" pitchFamily="49" charset="0"/>
              </a:rPr>
              <a:t>: ADD &lt;source&gt; &lt;destination&gt;</a:t>
            </a:r>
          </a:p>
          <a:p>
            <a:endParaRPr lang="en-US" sz="2000" dirty="0">
              <a:solidFill>
                <a:srgbClr val="000000"/>
              </a:solidFill>
            </a:endParaRPr>
          </a:p>
          <a:p>
            <a:r>
              <a:rPr lang="en-US" sz="2000" dirty="0">
                <a:solidFill>
                  <a:srgbClr val="000000"/>
                </a:solidFill>
              </a:rPr>
              <a:t>It is used to add new sources from your local directory or a URL to the file system of the image that will become the container in the designated locations.</a:t>
            </a:r>
          </a:p>
          <a:p>
            <a:r>
              <a:rPr lang="en-US" sz="2000" dirty="0">
                <a:solidFill>
                  <a:srgbClr val="000000"/>
                </a:solidFill>
              </a:rPr>
              <a:t>You can include multiple items as the source and can even make use of wildcard and if the destination that you have mentioned does not exit then it will create one.</a:t>
            </a:r>
          </a:p>
          <a:p>
            <a:endParaRPr lang="en-US" sz="2000" dirty="0">
              <a:solidFill>
                <a:srgbClr val="000000"/>
              </a:solidFill>
            </a:endParaRPr>
          </a:p>
          <a:p>
            <a:r>
              <a:rPr lang="en-IN" sz="2000" b="1" dirty="0">
                <a:solidFill>
                  <a:srgbClr val="000000"/>
                </a:solidFill>
              </a:rPr>
              <a:t>Example</a:t>
            </a:r>
            <a:r>
              <a:rPr lang="en-IN" sz="2000" i="1" dirty="0">
                <a:solidFill>
                  <a:srgbClr val="000000"/>
                </a:solidFill>
                <a:latin typeface="Courier New" panose="02070309020205020404" pitchFamily="49" charset="0"/>
                <a:cs typeface="Courier New" panose="02070309020205020404" pitchFamily="49" charset="0"/>
              </a:rPr>
              <a:t>:</a:t>
            </a:r>
          </a:p>
          <a:p>
            <a:endParaRPr lang="en-IN" sz="20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ADD </a:t>
            </a:r>
            <a:r>
              <a:rPr lang="en-US" sz="1600" i="1" dirty="0">
                <a:solidFill>
                  <a:srgbClr val="FF0000"/>
                </a:solidFill>
                <a:latin typeface="Courier New" panose="02070309020205020404" pitchFamily="49" charset="0"/>
                <a:cs typeface="Courier New" panose="02070309020205020404" pitchFamily="49" charset="0"/>
              </a:rPr>
              <a:t>test.txt ./app</a:t>
            </a:r>
          </a:p>
          <a:p>
            <a:r>
              <a:rPr lang="en-US" sz="1600" i="1" dirty="0">
                <a:solidFill>
                  <a:srgbClr val="000000"/>
                </a:solidFill>
                <a:latin typeface="Courier New" panose="02070309020205020404" pitchFamily="49" charset="0"/>
                <a:cs typeface="Courier New" panose="02070309020205020404" pitchFamily="49" charset="0"/>
              </a:rPr>
              <a:t>ADD</a:t>
            </a:r>
            <a:r>
              <a:rPr lang="en-US" sz="1600" i="1" dirty="0">
                <a:solidFill>
                  <a:srgbClr val="FF0000"/>
                </a:solidFill>
                <a:latin typeface="Courier New" panose="02070309020205020404" pitchFamily="49" charset="0"/>
                <a:cs typeface="Courier New" panose="02070309020205020404" pitchFamily="49" charset="0"/>
              </a:rPr>
              <a:t> --keep-git-dir=true https://github.com/moby/buildkit.git#v0.10.1 /buildkit</a:t>
            </a: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p:txBody>
      </p:sp>
      <p:sp>
        <p:nvSpPr>
          <p:cNvPr id="6" name="object 2">
            <a:extLst>
              <a:ext uri="{FF2B5EF4-FFF2-40B4-BE49-F238E27FC236}">
                <a16:creationId xmlns:a16="http://schemas.microsoft.com/office/drawing/2014/main" id="{7700FF70-4707-44A6-B7A9-8D622F4560C8}"/>
              </a:ext>
            </a:extLst>
          </p:cNvPr>
          <p:cNvSpPr txBox="1"/>
          <p:nvPr/>
        </p:nvSpPr>
        <p:spPr>
          <a:xfrm>
            <a:off x="957307" y="831798"/>
            <a:ext cx="2555163" cy="5653103"/>
          </a:xfrm>
          <a:prstGeom prst="rect">
            <a:avLst/>
          </a:prstGeom>
        </p:spPr>
        <p:txBody>
          <a:bodyPr wrap="square" lIns="0" tIns="16224" rIns="0" bIns="0" rtlCol="0">
            <a:noAutofit/>
          </a:bodyPr>
          <a:lstStyle/>
          <a:p>
            <a:r>
              <a:rPr lang="en-IN" sz="2000" dirty="0">
                <a:effectLst>
                  <a:outerShdw blurRad="38100" dist="38100" dir="2700000" algn="tl">
                    <a:srgbClr val="000000">
                      <a:alpha val="43137"/>
                    </a:srgbClr>
                  </a:outerShdw>
                </a:effectLst>
                <a:cs typeface="Calibri" panose="020F0502020204030204" pitchFamily="34" charset="0"/>
              </a:rPr>
              <a:t>FROM</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b="1" dirty="0">
                <a:solidFill>
                  <a:schemeClr val="bg1"/>
                </a:solidFill>
                <a:effectLst>
                  <a:outerShdw blurRad="38100" dist="38100" dir="2700000" algn="tl">
                    <a:srgbClr val="000000">
                      <a:alpha val="43137"/>
                    </a:srgbClr>
                  </a:outerShdw>
                </a:effectLst>
                <a:cs typeface="Calibri" panose="020F0502020204030204" pitchFamily="34" charset="0"/>
              </a:rPr>
              <a:t>ADD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COPY</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RUN</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WORKDIR</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CMD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VOLUME</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EXPOSE</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ENTRYPOINT</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LEBEL</a:t>
            </a:r>
          </a:p>
          <a:p>
            <a:endParaRPr lang="en-IN" sz="2400" dirty="0">
              <a:latin typeface="Aparajita" panose="02020603050405020304" pitchFamily="18" charset="0"/>
              <a:cs typeface="Aparajita" panose="02020603050405020304" pitchFamily="18" charset="0"/>
            </a:endParaRPr>
          </a:p>
          <a:p>
            <a:endParaRPr lang="en-US" sz="2000" dirty="0">
              <a:solidFill>
                <a:srgbClr val="000000"/>
              </a:solidFill>
            </a:endParaRPr>
          </a:p>
        </p:txBody>
      </p:sp>
    </p:spTree>
    <p:extLst>
      <p:ext uri="{BB962C8B-B14F-4D97-AF65-F5344CB8AC3E}">
        <p14:creationId xmlns:p14="http://schemas.microsoft.com/office/powerpoint/2010/main" val="3891144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8A714E-4BA8-480D-A48A-89D2B7603421}"/>
              </a:ext>
            </a:extLst>
          </p:cNvPr>
          <p:cNvSpPr/>
          <p:nvPr/>
        </p:nvSpPr>
        <p:spPr>
          <a:xfrm>
            <a:off x="429261" y="755833"/>
            <a:ext cx="2138289" cy="60107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4369895"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Dockerfile Instructions</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p:cNvSpPr txBox="1"/>
          <p:nvPr/>
        </p:nvSpPr>
        <p:spPr>
          <a:xfrm>
            <a:off x="2883877" y="755833"/>
            <a:ext cx="7661499" cy="5615520"/>
          </a:xfrm>
          <a:prstGeom prst="rect">
            <a:avLst/>
          </a:prstGeom>
        </p:spPr>
        <p:txBody>
          <a:bodyPr wrap="square" lIns="0" tIns="16224" rIns="0" bIns="0" rtlCol="0">
            <a:noAutofit/>
          </a:bodyPr>
          <a:lstStyle/>
          <a:p>
            <a:pPr algn="ctr"/>
            <a:r>
              <a:rPr lang="en-IN" sz="2000" b="1" u="sng" dirty="0">
                <a:effectLst>
                  <a:outerShdw blurRad="38100" dist="38100" dir="2700000" algn="tl">
                    <a:srgbClr val="000000">
                      <a:alpha val="43137"/>
                    </a:srgbClr>
                  </a:outerShdw>
                </a:effectLst>
                <a:cs typeface="Calibri" panose="020F0502020204030204" pitchFamily="34" charset="0"/>
              </a:rPr>
              <a:t>COPY</a:t>
            </a:r>
          </a:p>
          <a:p>
            <a:endParaRPr lang="en-IN" sz="2400" dirty="0">
              <a:cs typeface="Calibri" panose="020F0502020204030204" pitchFamily="34" charset="0"/>
            </a:endParaRPr>
          </a:p>
          <a:p>
            <a:r>
              <a:rPr lang="en-US" sz="2000" b="1" dirty="0">
                <a:solidFill>
                  <a:srgbClr val="000000"/>
                </a:solidFill>
              </a:rPr>
              <a:t>Syntax</a:t>
            </a:r>
            <a:r>
              <a:rPr lang="en-US" sz="1600" i="1" dirty="0">
                <a:solidFill>
                  <a:srgbClr val="000000"/>
                </a:solidFill>
                <a:latin typeface="Courier New" panose="02070309020205020404" pitchFamily="49" charset="0"/>
                <a:cs typeface="Courier New" panose="02070309020205020404" pitchFamily="49" charset="0"/>
              </a:rPr>
              <a:t>: COPY &lt;source&gt; &lt;destination&gt;</a:t>
            </a:r>
          </a:p>
          <a:p>
            <a:endParaRPr lang="en-US" sz="2000" dirty="0">
              <a:solidFill>
                <a:srgbClr val="000000"/>
              </a:solidFill>
            </a:endParaRPr>
          </a:p>
          <a:p>
            <a:r>
              <a:rPr lang="en-US" sz="2000" dirty="0">
                <a:solidFill>
                  <a:srgbClr val="000000"/>
                </a:solidFill>
              </a:rPr>
              <a:t>It is used to copy new sources from only your local directory to the file system of the image that will become the container in the designated locations.</a:t>
            </a:r>
          </a:p>
          <a:p>
            <a:r>
              <a:rPr lang="en-US" sz="2000" dirty="0">
                <a:solidFill>
                  <a:srgbClr val="000000"/>
                </a:solidFill>
              </a:rPr>
              <a:t>You can include multiple items as the source and can even make use of wildcard and if the destination that you have mentioned does not exit then it will create one.</a:t>
            </a:r>
          </a:p>
          <a:p>
            <a:r>
              <a:rPr lang="en-US" sz="2000" dirty="0">
                <a:solidFill>
                  <a:srgbClr val="000000"/>
                </a:solidFill>
              </a:rPr>
              <a:t>It’s like ADD, the difference being that ADD can also add new URL to the file system whereas COPY can’t.</a:t>
            </a:r>
          </a:p>
          <a:p>
            <a:endParaRPr lang="en-US" sz="2000" dirty="0">
              <a:solidFill>
                <a:srgbClr val="000000"/>
              </a:solidFill>
            </a:endParaRPr>
          </a:p>
          <a:p>
            <a:r>
              <a:rPr lang="en-US" sz="2000" dirty="0">
                <a:solidFill>
                  <a:srgbClr val="000000"/>
                </a:solidFill>
              </a:rPr>
              <a:t>Best practice is to use COPY instruction instead of ADD.</a:t>
            </a:r>
          </a:p>
          <a:p>
            <a:endParaRPr lang="en-US" sz="2000" dirty="0">
              <a:solidFill>
                <a:srgbClr val="000000"/>
              </a:solidFill>
            </a:endParaRPr>
          </a:p>
          <a:p>
            <a:r>
              <a:rPr lang="en-IN" sz="2000" b="1" dirty="0">
                <a:solidFill>
                  <a:srgbClr val="000000"/>
                </a:solidFill>
              </a:rPr>
              <a:t>Example</a:t>
            </a:r>
            <a:r>
              <a:rPr lang="en-IN" sz="2000" i="1" dirty="0">
                <a:solidFill>
                  <a:srgbClr val="000000"/>
                </a:solidFill>
                <a:latin typeface="Courier New" panose="02070309020205020404" pitchFamily="49" charset="0"/>
                <a:cs typeface="Courier New" panose="02070309020205020404" pitchFamily="49" charset="0"/>
              </a:rPr>
              <a:t>:</a:t>
            </a:r>
          </a:p>
          <a:p>
            <a:endParaRPr lang="en-IN" sz="20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COPY </a:t>
            </a:r>
            <a:r>
              <a:rPr lang="en-US" sz="1600" i="1" dirty="0">
                <a:solidFill>
                  <a:srgbClr val="FF0000"/>
                </a:solidFill>
                <a:latin typeface="Courier New" panose="02070309020205020404" pitchFamily="49" charset="0"/>
                <a:cs typeface="Courier New" panose="02070309020205020404" pitchFamily="49" charset="0"/>
              </a:rPr>
              <a:t>test.txt ./app</a:t>
            </a:r>
          </a:p>
          <a:p>
            <a:endParaRPr lang="en-US" sz="2000" dirty="0">
              <a:solidFill>
                <a:srgbClr val="000000"/>
              </a:solidFill>
            </a:endParaRPr>
          </a:p>
        </p:txBody>
      </p:sp>
      <p:sp>
        <p:nvSpPr>
          <p:cNvPr id="6" name="object 2">
            <a:extLst>
              <a:ext uri="{FF2B5EF4-FFF2-40B4-BE49-F238E27FC236}">
                <a16:creationId xmlns:a16="http://schemas.microsoft.com/office/drawing/2014/main" id="{7700FF70-4707-44A6-B7A9-8D622F4560C8}"/>
              </a:ext>
            </a:extLst>
          </p:cNvPr>
          <p:cNvSpPr txBox="1"/>
          <p:nvPr/>
        </p:nvSpPr>
        <p:spPr>
          <a:xfrm>
            <a:off x="957307" y="831798"/>
            <a:ext cx="2555163" cy="5653103"/>
          </a:xfrm>
          <a:prstGeom prst="rect">
            <a:avLst/>
          </a:prstGeom>
        </p:spPr>
        <p:txBody>
          <a:bodyPr wrap="square" lIns="0" tIns="16224" rIns="0" bIns="0" rtlCol="0">
            <a:noAutofit/>
          </a:bodyPr>
          <a:lstStyle/>
          <a:p>
            <a:r>
              <a:rPr lang="en-IN" sz="2000" dirty="0">
                <a:effectLst>
                  <a:outerShdw blurRad="38100" dist="38100" dir="2700000" algn="tl">
                    <a:srgbClr val="000000">
                      <a:alpha val="43137"/>
                    </a:srgbClr>
                  </a:outerShdw>
                </a:effectLst>
                <a:cs typeface="Calibri" panose="020F0502020204030204" pitchFamily="34" charset="0"/>
              </a:rPr>
              <a:t>FROM</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ADD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b="1" dirty="0">
                <a:solidFill>
                  <a:schemeClr val="bg1"/>
                </a:solidFill>
                <a:effectLst>
                  <a:outerShdw blurRad="38100" dist="38100" dir="2700000" algn="tl">
                    <a:srgbClr val="000000">
                      <a:alpha val="43137"/>
                    </a:srgbClr>
                  </a:outerShdw>
                </a:effectLst>
                <a:cs typeface="Calibri" panose="020F0502020204030204" pitchFamily="34" charset="0"/>
              </a:rPr>
              <a:t>COPY</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RUN</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WORKDIR</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CMD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VOLUME</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EXPOSE</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ENTRYPOINT</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LEBEL</a:t>
            </a:r>
          </a:p>
          <a:p>
            <a:endParaRPr lang="en-IN" sz="2400" dirty="0">
              <a:latin typeface="Aparajita" panose="02020603050405020304" pitchFamily="18" charset="0"/>
              <a:cs typeface="Aparajita" panose="02020603050405020304" pitchFamily="18" charset="0"/>
            </a:endParaRPr>
          </a:p>
          <a:p>
            <a:endParaRPr lang="en-US" sz="2000" dirty="0">
              <a:solidFill>
                <a:srgbClr val="000000"/>
              </a:solidFill>
            </a:endParaRPr>
          </a:p>
        </p:txBody>
      </p:sp>
    </p:spTree>
    <p:extLst>
      <p:ext uri="{BB962C8B-B14F-4D97-AF65-F5344CB8AC3E}">
        <p14:creationId xmlns:p14="http://schemas.microsoft.com/office/powerpoint/2010/main" val="1534194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5AF987-460C-5212-5BA1-FBCCB545837B}"/>
              </a:ext>
            </a:extLst>
          </p:cNvPr>
          <p:cNvPicPr>
            <a:picLocks noChangeAspect="1"/>
          </p:cNvPicPr>
          <p:nvPr/>
        </p:nvPicPr>
        <p:blipFill>
          <a:blip r:embed="rId2"/>
          <a:stretch>
            <a:fillRect/>
          </a:stretch>
        </p:blipFill>
        <p:spPr>
          <a:xfrm>
            <a:off x="0" y="3629"/>
            <a:ext cx="12192000" cy="5827546"/>
          </a:xfrm>
          <a:prstGeom prst="rect">
            <a:avLst/>
          </a:prstGeom>
        </p:spPr>
      </p:pic>
      <p:sp>
        <p:nvSpPr>
          <p:cNvPr id="6" name="TextBox 5">
            <a:extLst>
              <a:ext uri="{FF2B5EF4-FFF2-40B4-BE49-F238E27FC236}">
                <a16:creationId xmlns:a16="http://schemas.microsoft.com/office/drawing/2014/main" id="{19317256-3538-81BC-4E93-D483F1F9B42F}"/>
              </a:ext>
            </a:extLst>
          </p:cNvPr>
          <p:cNvSpPr txBox="1"/>
          <p:nvPr/>
        </p:nvSpPr>
        <p:spPr>
          <a:xfrm>
            <a:off x="2500" y="5831175"/>
            <a:ext cx="12189500" cy="923330"/>
          </a:xfrm>
          <a:prstGeom prst="rect">
            <a:avLst/>
          </a:prstGeom>
          <a:noFill/>
        </p:spPr>
        <p:txBody>
          <a:bodyPr wrap="square">
            <a:spAutoFit/>
          </a:bodyPr>
          <a:lstStyle/>
          <a:p>
            <a:r>
              <a:rPr lang="en-IN" dirty="0"/>
              <a:t>COPY is more efficient because it only copies files without any extra processing. ADD, on the other hand, may unintentionally increase image size by downloading remote files or extracting compressed files, which can complicate the build process.</a:t>
            </a:r>
          </a:p>
          <a:p>
            <a:endParaRPr lang="en-IN" dirty="0"/>
          </a:p>
        </p:txBody>
      </p:sp>
    </p:spTree>
    <p:extLst>
      <p:ext uri="{BB962C8B-B14F-4D97-AF65-F5344CB8AC3E}">
        <p14:creationId xmlns:p14="http://schemas.microsoft.com/office/powerpoint/2010/main" val="2662228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8A714E-4BA8-480D-A48A-89D2B7603421}"/>
              </a:ext>
            </a:extLst>
          </p:cNvPr>
          <p:cNvSpPr/>
          <p:nvPr/>
        </p:nvSpPr>
        <p:spPr>
          <a:xfrm>
            <a:off x="429261" y="755833"/>
            <a:ext cx="2138289" cy="60107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4369895"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Dockerfile Instructions</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p:cNvSpPr txBox="1"/>
          <p:nvPr/>
        </p:nvSpPr>
        <p:spPr>
          <a:xfrm>
            <a:off x="2883877" y="755833"/>
            <a:ext cx="7661499" cy="5615520"/>
          </a:xfrm>
          <a:prstGeom prst="rect">
            <a:avLst/>
          </a:prstGeom>
        </p:spPr>
        <p:txBody>
          <a:bodyPr wrap="square" lIns="0" tIns="16224" rIns="0" bIns="0" rtlCol="0">
            <a:noAutofit/>
          </a:bodyPr>
          <a:lstStyle/>
          <a:p>
            <a:pPr algn="ctr"/>
            <a:r>
              <a:rPr lang="en-IN" sz="2000" b="1" u="sng" dirty="0">
                <a:effectLst>
                  <a:outerShdw blurRad="38100" dist="38100" dir="2700000" algn="tl">
                    <a:srgbClr val="000000">
                      <a:alpha val="43137"/>
                    </a:srgbClr>
                  </a:outerShdw>
                </a:effectLst>
                <a:cs typeface="Calibri" panose="020F0502020204030204" pitchFamily="34" charset="0"/>
              </a:rPr>
              <a:t>RUN</a:t>
            </a:r>
          </a:p>
          <a:p>
            <a:endParaRPr lang="en-IN" sz="2400" dirty="0">
              <a:cs typeface="Calibri" panose="020F0502020204030204" pitchFamily="34" charset="0"/>
            </a:endParaRPr>
          </a:p>
          <a:p>
            <a:r>
              <a:rPr lang="en-US" sz="2000" b="1" dirty="0">
                <a:solidFill>
                  <a:srgbClr val="000000"/>
                </a:solidFill>
              </a:rPr>
              <a:t>Syntax</a:t>
            </a:r>
            <a:r>
              <a:rPr lang="en-US" sz="1600" i="1" dirty="0">
                <a:solidFill>
                  <a:srgbClr val="000000"/>
                </a:solidFill>
                <a:latin typeface="Courier New" panose="02070309020205020404" pitchFamily="49" charset="0"/>
                <a:cs typeface="Courier New" panose="02070309020205020404" pitchFamily="49" charset="0"/>
              </a:rPr>
              <a:t>: RUN &lt;command&gt;</a:t>
            </a:r>
          </a:p>
          <a:p>
            <a:endParaRPr lang="en-US" sz="2000" dirty="0">
              <a:solidFill>
                <a:srgbClr val="000000"/>
              </a:solidFill>
            </a:endParaRPr>
          </a:p>
          <a:p>
            <a:r>
              <a:rPr lang="en-US" sz="2000" dirty="0">
                <a:solidFill>
                  <a:srgbClr val="000000"/>
                </a:solidFill>
              </a:rPr>
              <a:t>This instruction is used to run specific commands that you want to run in the container during its creation. For example, you want to update the ubuntu instance then you can use the instruction such as: </a:t>
            </a:r>
          </a:p>
          <a:p>
            <a:endParaRPr lang="en-US" sz="2000" dirty="0">
              <a:solidFill>
                <a:srgbClr val="000000"/>
              </a:solidFill>
            </a:endParaRPr>
          </a:p>
          <a:p>
            <a:r>
              <a:rPr lang="en-IN" sz="2000" b="1" dirty="0">
                <a:solidFill>
                  <a:srgbClr val="000000"/>
                </a:solidFill>
              </a:rPr>
              <a:t>Example</a:t>
            </a:r>
            <a:r>
              <a:rPr lang="en-IN" sz="1600" i="1" dirty="0">
                <a:solidFill>
                  <a:srgbClr val="000000"/>
                </a:solidFill>
                <a:latin typeface="Courier New" panose="02070309020205020404" pitchFamily="49" charset="0"/>
                <a:cs typeface="Courier New" panose="02070309020205020404" pitchFamily="49" charset="0"/>
              </a:rPr>
              <a:t>:</a:t>
            </a:r>
          </a:p>
          <a:p>
            <a:endParaRPr lang="en-IN"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RUN </a:t>
            </a:r>
            <a:r>
              <a:rPr lang="en-US" sz="1600" i="1" dirty="0">
                <a:solidFill>
                  <a:srgbClr val="FF0000"/>
                </a:solidFill>
                <a:latin typeface="Courier New" panose="02070309020205020404" pitchFamily="49" charset="0"/>
                <a:cs typeface="Courier New" panose="02070309020205020404" pitchFamily="49" charset="0"/>
              </a:rPr>
              <a:t>apt-get update</a:t>
            </a:r>
          </a:p>
          <a:p>
            <a:endParaRPr lang="en-US" sz="2000" dirty="0">
              <a:solidFill>
                <a:srgbClr val="000000"/>
              </a:solidFill>
            </a:endParaRPr>
          </a:p>
        </p:txBody>
      </p:sp>
      <p:sp>
        <p:nvSpPr>
          <p:cNvPr id="6" name="object 2">
            <a:extLst>
              <a:ext uri="{FF2B5EF4-FFF2-40B4-BE49-F238E27FC236}">
                <a16:creationId xmlns:a16="http://schemas.microsoft.com/office/drawing/2014/main" id="{7700FF70-4707-44A6-B7A9-8D622F4560C8}"/>
              </a:ext>
            </a:extLst>
          </p:cNvPr>
          <p:cNvSpPr txBox="1"/>
          <p:nvPr/>
        </p:nvSpPr>
        <p:spPr>
          <a:xfrm>
            <a:off x="957307" y="831798"/>
            <a:ext cx="2555163" cy="5653103"/>
          </a:xfrm>
          <a:prstGeom prst="rect">
            <a:avLst/>
          </a:prstGeom>
        </p:spPr>
        <p:txBody>
          <a:bodyPr wrap="square" lIns="0" tIns="16224" rIns="0" bIns="0" rtlCol="0">
            <a:noAutofit/>
          </a:bodyPr>
          <a:lstStyle/>
          <a:p>
            <a:r>
              <a:rPr lang="en-IN" sz="2000" dirty="0">
                <a:effectLst>
                  <a:outerShdw blurRad="38100" dist="38100" dir="2700000" algn="tl">
                    <a:srgbClr val="000000">
                      <a:alpha val="43137"/>
                    </a:srgbClr>
                  </a:outerShdw>
                </a:effectLst>
                <a:cs typeface="Calibri" panose="020F0502020204030204" pitchFamily="34" charset="0"/>
              </a:rPr>
              <a:t>FROM</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ADD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COPY</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b="1" dirty="0">
                <a:solidFill>
                  <a:schemeClr val="bg1"/>
                </a:solidFill>
                <a:effectLst>
                  <a:outerShdw blurRad="38100" dist="38100" dir="2700000" algn="tl">
                    <a:srgbClr val="000000">
                      <a:alpha val="43137"/>
                    </a:srgbClr>
                  </a:outerShdw>
                </a:effectLst>
                <a:cs typeface="Calibri" panose="020F0502020204030204" pitchFamily="34" charset="0"/>
              </a:rPr>
              <a:t>RUN</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WORKDIR</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CMD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VOLUME</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EXPOSE</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ENTRYPOINT</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LEBEL</a:t>
            </a:r>
          </a:p>
          <a:p>
            <a:endParaRPr lang="en-IN" sz="2400" dirty="0">
              <a:latin typeface="Aparajita" panose="02020603050405020304" pitchFamily="18" charset="0"/>
              <a:cs typeface="Aparajita" panose="02020603050405020304" pitchFamily="18" charset="0"/>
            </a:endParaRPr>
          </a:p>
          <a:p>
            <a:endParaRPr lang="en-US" sz="2000" dirty="0">
              <a:solidFill>
                <a:srgbClr val="000000"/>
              </a:solidFill>
            </a:endParaRPr>
          </a:p>
        </p:txBody>
      </p:sp>
    </p:spTree>
    <p:extLst>
      <p:ext uri="{BB962C8B-B14F-4D97-AF65-F5344CB8AC3E}">
        <p14:creationId xmlns:p14="http://schemas.microsoft.com/office/powerpoint/2010/main" val="266442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8A714E-4BA8-480D-A48A-89D2B7603421}"/>
              </a:ext>
            </a:extLst>
          </p:cNvPr>
          <p:cNvSpPr/>
          <p:nvPr/>
        </p:nvSpPr>
        <p:spPr>
          <a:xfrm>
            <a:off x="429261" y="755833"/>
            <a:ext cx="2138289" cy="60107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4369895"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Dockerfile Instructions</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p:cNvSpPr txBox="1"/>
          <p:nvPr/>
        </p:nvSpPr>
        <p:spPr>
          <a:xfrm>
            <a:off x="2883877" y="755833"/>
            <a:ext cx="7661499" cy="5615520"/>
          </a:xfrm>
          <a:prstGeom prst="rect">
            <a:avLst/>
          </a:prstGeom>
        </p:spPr>
        <p:txBody>
          <a:bodyPr wrap="square" lIns="0" tIns="16224" rIns="0" bIns="0" rtlCol="0">
            <a:noAutofit/>
          </a:bodyPr>
          <a:lstStyle/>
          <a:p>
            <a:pPr algn="ctr"/>
            <a:r>
              <a:rPr lang="en-IN" sz="2000" b="1" u="sng" dirty="0">
                <a:effectLst>
                  <a:outerShdw blurRad="38100" dist="38100" dir="2700000" algn="tl">
                    <a:srgbClr val="000000">
                      <a:alpha val="43137"/>
                    </a:srgbClr>
                  </a:outerShdw>
                </a:effectLst>
                <a:cs typeface="Calibri" panose="020F0502020204030204" pitchFamily="34" charset="0"/>
              </a:rPr>
              <a:t>WORKDIR</a:t>
            </a:r>
          </a:p>
          <a:p>
            <a:endParaRPr lang="en-IN" sz="2400" dirty="0">
              <a:cs typeface="Calibri" panose="020F0502020204030204" pitchFamily="34" charset="0"/>
            </a:endParaRPr>
          </a:p>
          <a:p>
            <a:r>
              <a:rPr lang="en-US" sz="2000" b="1" dirty="0">
                <a:solidFill>
                  <a:srgbClr val="000000"/>
                </a:solidFill>
              </a:rPr>
              <a:t>Syntax</a:t>
            </a:r>
            <a:r>
              <a:rPr lang="en-US" sz="1600" i="1" dirty="0">
                <a:solidFill>
                  <a:srgbClr val="000000"/>
                </a:solidFill>
                <a:latin typeface="Courier New" panose="02070309020205020404" pitchFamily="49" charset="0"/>
                <a:cs typeface="Courier New" panose="02070309020205020404" pitchFamily="49" charset="0"/>
              </a:rPr>
              <a:t>: WORKDIR &lt;directory&gt;</a:t>
            </a:r>
          </a:p>
          <a:p>
            <a:endParaRPr lang="en-US" sz="2000" dirty="0">
              <a:solidFill>
                <a:srgbClr val="000000"/>
              </a:solidFill>
            </a:endParaRPr>
          </a:p>
          <a:p>
            <a:r>
              <a:rPr lang="en-US" sz="2000" dirty="0">
                <a:solidFill>
                  <a:srgbClr val="000000"/>
                </a:solidFill>
              </a:rPr>
              <a:t>This instruction is responsible for setting the working directory so that you can run shell commands in that specific directory during the build time of the image. </a:t>
            </a:r>
          </a:p>
          <a:p>
            <a:endParaRPr lang="en-US" sz="2000" dirty="0">
              <a:solidFill>
                <a:srgbClr val="000000"/>
              </a:solidFill>
            </a:endParaRPr>
          </a:p>
          <a:p>
            <a:r>
              <a:rPr lang="en-IN" sz="2000" b="1" dirty="0">
                <a:solidFill>
                  <a:srgbClr val="000000"/>
                </a:solidFill>
              </a:rPr>
              <a:t>Example</a:t>
            </a:r>
            <a:r>
              <a:rPr lang="en-IN" sz="1600" i="1" dirty="0">
                <a:solidFill>
                  <a:srgbClr val="000000"/>
                </a:solidFill>
                <a:latin typeface="Courier New" panose="02070309020205020404" pitchFamily="49" charset="0"/>
                <a:cs typeface="Courier New" panose="02070309020205020404" pitchFamily="49" charset="0"/>
              </a:rPr>
              <a:t>:</a:t>
            </a:r>
          </a:p>
          <a:p>
            <a:endParaRPr lang="en-IN"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WORKDIR </a:t>
            </a:r>
            <a:r>
              <a:rPr lang="en-US" sz="1600" i="1" dirty="0">
                <a:solidFill>
                  <a:srgbClr val="FF0000"/>
                </a:solidFill>
                <a:latin typeface="Courier New" panose="02070309020205020404" pitchFamily="49" charset="0"/>
                <a:cs typeface="Courier New" panose="02070309020205020404" pitchFamily="49" charset="0"/>
              </a:rPr>
              <a:t>/app</a:t>
            </a:r>
          </a:p>
          <a:p>
            <a:endParaRPr lang="en-US" sz="1600" dirty="0">
              <a:solidFill>
                <a:srgbClr val="000000"/>
              </a:solidFill>
            </a:endParaRPr>
          </a:p>
          <a:p>
            <a:endParaRPr lang="en-US" sz="2000" dirty="0">
              <a:solidFill>
                <a:srgbClr val="000000"/>
              </a:solidFill>
            </a:endParaRPr>
          </a:p>
        </p:txBody>
      </p:sp>
      <p:sp>
        <p:nvSpPr>
          <p:cNvPr id="6" name="object 2">
            <a:extLst>
              <a:ext uri="{FF2B5EF4-FFF2-40B4-BE49-F238E27FC236}">
                <a16:creationId xmlns:a16="http://schemas.microsoft.com/office/drawing/2014/main" id="{7700FF70-4707-44A6-B7A9-8D622F4560C8}"/>
              </a:ext>
            </a:extLst>
          </p:cNvPr>
          <p:cNvSpPr txBox="1"/>
          <p:nvPr/>
        </p:nvSpPr>
        <p:spPr>
          <a:xfrm>
            <a:off x="957307" y="831798"/>
            <a:ext cx="2555163" cy="5653103"/>
          </a:xfrm>
          <a:prstGeom prst="rect">
            <a:avLst/>
          </a:prstGeom>
        </p:spPr>
        <p:txBody>
          <a:bodyPr wrap="square" lIns="0" tIns="16224" rIns="0" bIns="0" rtlCol="0">
            <a:noAutofit/>
          </a:bodyPr>
          <a:lstStyle/>
          <a:p>
            <a:r>
              <a:rPr lang="en-IN" sz="2000" dirty="0">
                <a:effectLst>
                  <a:outerShdw blurRad="38100" dist="38100" dir="2700000" algn="tl">
                    <a:srgbClr val="000000">
                      <a:alpha val="43137"/>
                    </a:srgbClr>
                  </a:outerShdw>
                </a:effectLst>
                <a:cs typeface="Calibri" panose="020F0502020204030204" pitchFamily="34" charset="0"/>
              </a:rPr>
              <a:t>FROM</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ADD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COPY</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RUN</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b="1" dirty="0">
                <a:solidFill>
                  <a:schemeClr val="bg1"/>
                </a:solidFill>
                <a:effectLst>
                  <a:outerShdw blurRad="38100" dist="38100" dir="2700000" algn="tl">
                    <a:srgbClr val="000000">
                      <a:alpha val="43137"/>
                    </a:srgbClr>
                  </a:outerShdw>
                </a:effectLst>
                <a:cs typeface="Calibri" panose="020F0502020204030204" pitchFamily="34" charset="0"/>
              </a:rPr>
              <a:t>WORKDIR</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CMD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VOLUME</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EXPOSE</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ENTRYPOINT</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LEBEL</a:t>
            </a:r>
          </a:p>
          <a:p>
            <a:endParaRPr lang="en-IN" sz="2400" dirty="0">
              <a:latin typeface="Aparajita" panose="02020603050405020304" pitchFamily="18" charset="0"/>
              <a:cs typeface="Aparajita" panose="02020603050405020304" pitchFamily="18" charset="0"/>
            </a:endParaRPr>
          </a:p>
          <a:p>
            <a:endParaRPr lang="en-US" sz="2000" dirty="0">
              <a:solidFill>
                <a:srgbClr val="000000"/>
              </a:solidFill>
            </a:endParaRPr>
          </a:p>
        </p:txBody>
      </p:sp>
    </p:spTree>
    <p:extLst>
      <p:ext uri="{BB962C8B-B14F-4D97-AF65-F5344CB8AC3E}">
        <p14:creationId xmlns:p14="http://schemas.microsoft.com/office/powerpoint/2010/main" val="986627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8A714E-4BA8-480D-A48A-89D2B7603421}"/>
              </a:ext>
            </a:extLst>
          </p:cNvPr>
          <p:cNvSpPr/>
          <p:nvPr/>
        </p:nvSpPr>
        <p:spPr>
          <a:xfrm>
            <a:off x="429261" y="755833"/>
            <a:ext cx="2138289" cy="60107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4369895"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Dockerfile Instructions</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p:cNvSpPr txBox="1"/>
          <p:nvPr/>
        </p:nvSpPr>
        <p:spPr>
          <a:xfrm>
            <a:off x="2883877" y="755833"/>
            <a:ext cx="7661499" cy="5615520"/>
          </a:xfrm>
          <a:prstGeom prst="rect">
            <a:avLst/>
          </a:prstGeom>
        </p:spPr>
        <p:txBody>
          <a:bodyPr wrap="square" lIns="0" tIns="16224" rIns="0" bIns="0" rtlCol="0">
            <a:noAutofit/>
          </a:bodyPr>
          <a:lstStyle/>
          <a:p>
            <a:pPr algn="ctr"/>
            <a:r>
              <a:rPr lang="en-IN" sz="2000" b="1" u="sng" dirty="0">
                <a:effectLst>
                  <a:outerShdw blurRad="38100" dist="38100" dir="2700000" algn="tl">
                    <a:srgbClr val="000000">
                      <a:alpha val="43137"/>
                    </a:srgbClr>
                  </a:outerShdw>
                </a:effectLst>
                <a:cs typeface="Calibri" panose="020F0502020204030204" pitchFamily="34" charset="0"/>
              </a:rPr>
              <a:t>CMD</a:t>
            </a:r>
          </a:p>
          <a:p>
            <a:endParaRPr lang="en-IN" sz="2400" dirty="0">
              <a:cs typeface="Calibri" panose="020F0502020204030204" pitchFamily="34" charset="0"/>
            </a:endParaRPr>
          </a:p>
          <a:p>
            <a:r>
              <a:rPr lang="en-US" sz="2000" b="1" dirty="0">
                <a:solidFill>
                  <a:srgbClr val="000000"/>
                </a:solidFill>
              </a:rPr>
              <a:t>Syntax</a:t>
            </a:r>
            <a:r>
              <a:rPr lang="en-US" sz="1600" i="1" dirty="0">
                <a:solidFill>
                  <a:srgbClr val="000000"/>
                </a:solidFill>
                <a:latin typeface="Courier New" panose="02070309020205020404" pitchFamily="49" charset="0"/>
                <a:cs typeface="Courier New" panose="02070309020205020404" pitchFamily="49" charset="0"/>
              </a:rPr>
              <a:t>: CMD &lt;command&gt;</a:t>
            </a:r>
          </a:p>
          <a:p>
            <a:endParaRPr lang="en-US" sz="2000" dirty="0">
              <a:solidFill>
                <a:srgbClr val="000000"/>
              </a:solidFill>
            </a:endParaRPr>
          </a:p>
          <a:p>
            <a:r>
              <a:rPr lang="en-US" sz="2000" dirty="0">
                <a:solidFill>
                  <a:srgbClr val="000000"/>
                </a:solidFill>
              </a:rPr>
              <a:t>This instruction tells the container what command to run when it gets started.</a:t>
            </a:r>
          </a:p>
          <a:p>
            <a:r>
              <a:rPr lang="en-US" sz="2000" dirty="0">
                <a:solidFill>
                  <a:srgbClr val="000000"/>
                </a:solidFill>
              </a:rPr>
              <a:t>The difference between </a:t>
            </a:r>
            <a:r>
              <a:rPr lang="en-US" i="1" dirty="0">
                <a:solidFill>
                  <a:srgbClr val="000000"/>
                </a:solidFill>
                <a:latin typeface="Courier New" panose="02070309020205020404" pitchFamily="49" charset="0"/>
                <a:cs typeface="Courier New" panose="02070309020205020404" pitchFamily="49" charset="0"/>
              </a:rPr>
              <a:t>RUN</a:t>
            </a:r>
            <a:r>
              <a:rPr lang="en-US" sz="2000" dirty="0">
                <a:solidFill>
                  <a:srgbClr val="000000"/>
                </a:solidFill>
              </a:rPr>
              <a:t> and </a:t>
            </a:r>
            <a:r>
              <a:rPr lang="en-US" i="1" dirty="0">
                <a:solidFill>
                  <a:srgbClr val="000000"/>
                </a:solidFill>
                <a:latin typeface="Courier New" panose="02070309020205020404" pitchFamily="49" charset="0"/>
                <a:cs typeface="Courier New" panose="02070309020205020404" pitchFamily="49" charset="0"/>
              </a:rPr>
              <a:t>CMD</a:t>
            </a:r>
            <a:r>
              <a:rPr lang="en-US" sz="2000" dirty="0">
                <a:solidFill>
                  <a:srgbClr val="000000"/>
                </a:solidFill>
              </a:rPr>
              <a:t> is that </a:t>
            </a:r>
            <a:r>
              <a:rPr lang="en-US" i="1" dirty="0">
                <a:solidFill>
                  <a:srgbClr val="000000"/>
                </a:solidFill>
                <a:latin typeface="Courier New" panose="02070309020205020404" pitchFamily="49" charset="0"/>
                <a:cs typeface="Courier New" panose="02070309020205020404" pitchFamily="49" charset="0"/>
              </a:rPr>
              <a:t>RUN</a:t>
            </a:r>
            <a:r>
              <a:rPr lang="en-US" sz="2000" dirty="0">
                <a:solidFill>
                  <a:srgbClr val="000000"/>
                </a:solidFill>
              </a:rPr>
              <a:t> instruction executes command at the time of creating container while </a:t>
            </a:r>
            <a:r>
              <a:rPr lang="en-US" i="1" dirty="0">
                <a:solidFill>
                  <a:srgbClr val="000000"/>
                </a:solidFill>
                <a:latin typeface="Courier New" panose="02070309020205020404" pitchFamily="49" charset="0"/>
                <a:cs typeface="Courier New" panose="02070309020205020404" pitchFamily="49" charset="0"/>
              </a:rPr>
              <a:t>CMD</a:t>
            </a:r>
            <a:r>
              <a:rPr lang="en-US" sz="2000" dirty="0">
                <a:solidFill>
                  <a:srgbClr val="000000"/>
                </a:solidFill>
              </a:rPr>
              <a:t> instruction executes command after container gets created.</a:t>
            </a:r>
          </a:p>
          <a:p>
            <a:r>
              <a:rPr lang="en-US" sz="2000" dirty="0">
                <a:solidFill>
                  <a:srgbClr val="000000"/>
                </a:solidFill>
              </a:rPr>
              <a:t>There can only be one CMD instruction in a Dockerfile. If you list more than one CMD then only the last CMD will take effect.</a:t>
            </a:r>
          </a:p>
          <a:p>
            <a:endParaRPr lang="en-US" sz="2000" dirty="0">
              <a:solidFill>
                <a:srgbClr val="000000"/>
              </a:solidFill>
            </a:endParaRPr>
          </a:p>
          <a:p>
            <a:r>
              <a:rPr lang="en-IN" sz="2000" b="1" dirty="0">
                <a:solidFill>
                  <a:srgbClr val="000000"/>
                </a:solidFill>
              </a:rPr>
              <a:t>Example</a:t>
            </a:r>
            <a:r>
              <a:rPr lang="en-IN" sz="1600" i="1" dirty="0">
                <a:solidFill>
                  <a:srgbClr val="000000"/>
                </a:solidFill>
                <a:latin typeface="Courier New" panose="02070309020205020404" pitchFamily="49" charset="0"/>
                <a:cs typeface="Courier New" panose="02070309020205020404" pitchFamily="49" charset="0"/>
              </a:rPr>
              <a:t>:</a:t>
            </a:r>
          </a:p>
          <a:p>
            <a:endParaRPr lang="en-IN"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CMD </a:t>
            </a:r>
            <a:r>
              <a:rPr lang="en-US" sz="1600" i="1" dirty="0">
                <a:solidFill>
                  <a:srgbClr val="FF0000"/>
                </a:solidFill>
                <a:latin typeface="Courier New" panose="02070309020205020404" pitchFamily="49" charset="0"/>
                <a:cs typeface="Courier New" panose="02070309020205020404" pitchFamily="49" charset="0"/>
              </a:rPr>
              <a:t>/app</a:t>
            </a:r>
          </a:p>
          <a:p>
            <a:endParaRPr lang="en-US" sz="1600" dirty="0">
              <a:solidFill>
                <a:srgbClr val="000000"/>
              </a:solidFill>
            </a:endParaRPr>
          </a:p>
          <a:p>
            <a:endParaRPr lang="en-US" sz="2000" dirty="0">
              <a:solidFill>
                <a:srgbClr val="000000"/>
              </a:solidFill>
            </a:endParaRPr>
          </a:p>
        </p:txBody>
      </p:sp>
      <p:sp>
        <p:nvSpPr>
          <p:cNvPr id="6" name="object 2">
            <a:extLst>
              <a:ext uri="{FF2B5EF4-FFF2-40B4-BE49-F238E27FC236}">
                <a16:creationId xmlns:a16="http://schemas.microsoft.com/office/drawing/2014/main" id="{7700FF70-4707-44A6-B7A9-8D622F4560C8}"/>
              </a:ext>
            </a:extLst>
          </p:cNvPr>
          <p:cNvSpPr txBox="1"/>
          <p:nvPr/>
        </p:nvSpPr>
        <p:spPr>
          <a:xfrm>
            <a:off x="957307" y="831798"/>
            <a:ext cx="2555163" cy="5653103"/>
          </a:xfrm>
          <a:prstGeom prst="rect">
            <a:avLst/>
          </a:prstGeom>
        </p:spPr>
        <p:txBody>
          <a:bodyPr wrap="square" lIns="0" tIns="16224" rIns="0" bIns="0" rtlCol="0">
            <a:noAutofit/>
          </a:bodyPr>
          <a:lstStyle/>
          <a:p>
            <a:r>
              <a:rPr lang="en-IN" sz="2000" dirty="0">
                <a:effectLst>
                  <a:outerShdw blurRad="38100" dist="38100" dir="2700000" algn="tl">
                    <a:srgbClr val="000000">
                      <a:alpha val="43137"/>
                    </a:srgbClr>
                  </a:outerShdw>
                </a:effectLst>
                <a:cs typeface="Calibri" panose="020F0502020204030204" pitchFamily="34" charset="0"/>
              </a:rPr>
              <a:t>FROM</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ADD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COPY</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RUN</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WORKDIR</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b="1" dirty="0">
                <a:solidFill>
                  <a:schemeClr val="bg1"/>
                </a:solidFill>
                <a:effectLst>
                  <a:outerShdw blurRad="38100" dist="38100" dir="2700000" algn="tl">
                    <a:srgbClr val="000000">
                      <a:alpha val="43137"/>
                    </a:srgbClr>
                  </a:outerShdw>
                </a:effectLst>
                <a:cs typeface="Calibri" panose="020F0502020204030204" pitchFamily="34" charset="0"/>
              </a:rPr>
              <a:t>CMD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VOLUME</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EXPOSE</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ENTRYPOINT</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LEBEL</a:t>
            </a:r>
          </a:p>
          <a:p>
            <a:endParaRPr lang="en-IN" sz="2400" dirty="0">
              <a:latin typeface="Aparajita" panose="02020603050405020304" pitchFamily="18" charset="0"/>
              <a:cs typeface="Aparajita" panose="02020603050405020304" pitchFamily="18" charset="0"/>
            </a:endParaRPr>
          </a:p>
          <a:p>
            <a:endParaRPr lang="en-US" sz="2000" dirty="0">
              <a:solidFill>
                <a:srgbClr val="000000"/>
              </a:solidFill>
            </a:endParaRPr>
          </a:p>
        </p:txBody>
      </p:sp>
    </p:spTree>
    <p:extLst>
      <p:ext uri="{BB962C8B-B14F-4D97-AF65-F5344CB8AC3E}">
        <p14:creationId xmlns:p14="http://schemas.microsoft.com/office/powerpoint/2010/main" val="2873255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8A714E-4BA8-480D-A48A-89D2B7603421}"/>
              </a:ext>
            </a:extLst>
          </p:cNvPr>
          <p:cNvSpPr/>
          <p:nvPr/>
        </p:nvSpPr>
        <p:spPr>
          <a:xfrm>
            <a:off x="429261" y="755833"/>
            <a:ext cx="2138289" cy="60107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4369895"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Dockerfile Instructions</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p:cNvSpPr txBox="1"/>
          <p:nvPr/>
        </p:nvSpPr>
        <p:spPr>
          <a:xfrm>
            <a:off x="2883877" y="755833"/>
            <a:ext cx="7661499" cy="5615520"/>
          </a:xfrm>
          <a:prstGeom prst="rect">
            <a:avLst/>
          </a:prstGeom>
        </p:spPr>
        <p:txBody>
          <a:bodyPr wrap="square" lIns="0" tIns="16224" rIns="0" bIns="0" rtlCol="0">
            <a:noAutofit/>
          </a:bodyPr>
          <a:lstStyle/>
          <a:p>
            <a:pPr algn="ctr"/>
            <a:r>
              <a:rPr lang="en-IN" sz="2000" b="1" u="sng" dirty="0">
                <a:effectLst>
                  <a:outerShdw blurRad="38100" dist="38100" dir="2700000" algn="tl">
                    <a:srgbClr val="000000">
                      <a:alpha val="43137"/>
                    </a:srgbClr>
                  </a:outerShdw>
                </a:effectLst>
                <a:cs typeface="Calibri" panose="020F0502020204030204" pitchFamily="34" charset="0"/>
              </a:rPr>
              <a:t>VOLUME</a:t>
            </a:r>
          </a:p>
          <a:p>
            <a:endParaRPr lang="en-IN" sz="2400" dirty="0">
              <a:cs typeface="Calibri" panose="020F0502020204030204" pitchFamily="34" charset="0"/>
            </a:endParaRPr>
          </a:p>
          <a:p>
            <a:r>
              <a:rPr lang="en-US" sz="2000" b="1" dirty="0">
                <a:solidFill>
                  <a:srgbClr val="000000"/>
                </a:solidFill>
              </a:rPr>
              <a:t>Syntax</a:t>
            </a:r>
            <a:r>
              <a:rPr lang="en-US" sz="1600" i="1" dirty="0">
                <a:solidFill>
                  <a:srgbClr val="000000"/>
                </a:solidFill>
                <a:latin typeface="Courier New" panose="02070309020205020404" pitchFamily="49" charset="0"/>
                <a:cs typeface="Courier New" panose="02070309020205020404" pitchFamily="49" charset="0"/>
              </a:rPr>
              <a:t>: VOLUME &lt;path&gt;</a:t>
            </a:r>
          </a:p>
          <a:p>
            <a:endParaRPr lang="en-US" sz="2000" dirty="0">
              <a:solidFill>
                <a:srgbClr val="000000"/>
              </a:solidFill>
            </a:endParaRPr>
          </a:p>
          <a:p>
            <a:r>
              <a:rPr lang="en-US" sz="2000" dirty="0">
                <a:solidFill>
                  <a:srgbClr val="000000"/>
                </a:solidFill>
              </a:rPr>
              <a:t>This instruction makes a mount point for the volume of a specified name.</a:t>
            </a:r>
          </a:p>
          <a:p>
            <a:endParaRPr lang="en-US" sz="2000" dirty="0">
              <a:solidFill>
                <a:srgbClr val="000000"/>
              </a:solidFill>
            </a:endParaRPr>
          </a:p>
          <a:p>
            <a:r>
              <a:rPr lang="en-IN" sz="2000" b="1" dirty="0">
                <a:solidFill>
                  <a:srgbClr val="000000"/>
                </a:solidFill>
              </a:rPr>
              <a:t>Example</a:t>
            </a:r>
            <a:r>
              <a:rPr lang="en-IN" sz="1600" i="1" dirty="0">
                <a:solidFill>
                  <a:srgbClr val="000000"/>
                </a:solidFill>
                <a:latin typeface="Courier New" panose="02070309020205020404" pitchFamily="49" charset="0"/>
                <a:cs typeface="Courier New" panose="02070309020205020404" pitchFamily="49" charset="0"/>
              </a:rPr>
              <a:t>:</a:t>
            </a:r>
          </a:p>
          <a:p>
            <a:endParaRPr lang="en-IN"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VOLUME </a:t>
            </a:r>
            <a:r>
              <a:rPr lang="en-US" sz="1600" i="1" dirty="0">
                <a:solidFill>
                  <a:srgbClr val="FF0000"/>
                </a:solidFill>
                <a:latin typeface="Courier New" panose="02070309020205020404" pitchFamily="49" charset="0"/>
                <a:cs typeface="Courier New" panose="02070309020205020404" pitchFamily="49" charset="0"/>
              </a:rPr>
              <a:t>/myvol</a:t>
            </a:r>
          </a:p>
          <a:p>
            <a:endParaRPr lang="en-US" sz="1600" dirty="0">
              <a:solidFill>
                <a:srgbClr val="000000"/>
              </a:solidFill>
            </a:endParaRPr>
          </a:p>
          <a:p>
            <a:endParaRPr lang="en-US" sz="2000" dirty="0">
              <a:solidFill>
                <a:srgbClr val="000000"/>
              </a:solidFill>
            </a:endParaRPr>
          </a:p>
        </p:txBody>
      </p:sp>
      <p:sp>
        <p:nvSpPr>
          <p:cNvPr id="6" name="object 2">
            <a:extLst>
              <a:ext uri="{FF2B5EF4-FFF2-40B4-BE49-F238E27FC236}">
                <a16:creationId xmlns:a16="http://schemas.microsoft.com/office/drawing/2014/main" id="{7700FF70-4707-44A6-B7A9-8D622F4560C8}"/>
              </a:ext>
            </a:extLst>
          </p:cNvPr>
          <p:cNvSpPr txBox="1"/>
          <p:nvPr/>
        </p:nvSpPr>
        <p:spPr>
          <a:xfrm>
            <a:off x="957307" y="831798"/>
            <a:ext cx="2555163" cy="5653103"/>
          </a:xfrm>
          <a:prstGeom prst="rect">
            <a:avLst/>
          </a:prstGeom>
        </p:spPr>
        <p:txBody>
          <a:bodyPr wrap="square" lIns="0" tIns="16224" rIns="0" bIns="0" rtlCol="0">
            <a:noAutofit/>
          </a:bodyPr>
          <a:lstStyle/>
          <a:p>
            <a:r>
              <a:rPr lang="en-IN" sz="2000" dirty="0">
                <a:effectLst>
                  <a:outerShdw blurRad="38100" dist="38100" dir="2700000" algn="tl">
                    <a:srgbClr val="000000">
                      <a:alpha val="43137"/>
                    </a:srgbClr>
                  </a:outerShdw>
                </a:effectLst>
                <a:cs typeface="Calibri" panose="020F0502020204030204" pitchFamily="34" charset="0"/>
              </a:rPr>
              <a:t>FROM</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ADD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COPY</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RUN</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WORKDIR</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CMD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b="1" dirty="0">
                <a:solidFill>
                  <a:schemeClr val="bg1"/>
                </a:solidFill>
                <a:effectLst>
                  <a:outerShdw blurRad="38100" dist="38100" dir="2700000" algn="tl">
                    <a:srgbClr val="000000">
                      <a:alpha val="43137"/>
                    </a:srgbClr>
                  </a:outerShdw>
                </a:effectLst>
                <a:cs typeface="Calibri" panose="020F0502020204030204" pitchFamily="34" charset="0"/>
              </a:rPr>
              <a:t>VOLUME</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EXPOSE</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ENTRYPOINT</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LEBEL</a:t>
            </a:r>
          </a:p>
          <a:p>
            <a:endParaRPr lang="en-IN" sz="2400" dirty="0">
              <a:latin typeface="Aparajita" panose="02020603050405020304" pitchFamily="18" charset="0"/>
              <a:cs typeface="Aparajita" panose="02020603050405020304" pitchFamily="18" charset="0"/>
            </a:endParaRPr>
          </a:p>
          <a:p>
            <a:endParaRPr lang="en-US" sz="2000" dirty="0">
              <a:solidFill>
                <a:srgbClr val="000000"/>
              </a:solidFill>
            </a:endParaRPr>
          </a:p>
        </p:txBody>
      </p:sp>
    </p:spTree>
    <p:extLst>
      <p:ext uri="{BB962C8B-B14F-4D97-AF65-F5344CB8AC3E}">
        <p14:creationId xmlns:p14="http://schemas.microsoft.com/office/powerpoint/2010/main" val="1262074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8A714E-4BA8-480D-A48A-89D2B7603421}"/>
              </a:ext>
            </a:extLst>
          </p:cNvPr>
          <p:cNvSpPr/>
          <p:nvPr/>
        </p:nvSpPr>
        <p:spPr>
          <a:xfrm>
            <a:off x="429261" y="755833"/>
            <a:ext cx="2138289" cy="60107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4369895"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Dockerfile Instructions</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p:cNvSpPr txBox="1"/>
          <p:nvPr/>
        </p:nvSpPr>
        <p:spPr>
          <a:xfrm>
            <a:off x="2883877" y="755833"/>
            <a:ext cx="7661499" cy="5615520"/>
          </a:xfrm>
          <a:prstGeom prst="rect">
            <a:avLst/>
          </a:prstGeom>
        </p:spPr>
        <p:txBody>
          <a:bodyPr wrap="square" lIns="0" tIns="16224" rIns="0" bIns="0" rtlCol="0">
            <a:noAutofit/>
          </a:bodyPr>
          <a:lstStyle/>
          <a:p>
            <a:pPr algn="ctr"/>
            <a:r>
              <a:rPr lang="en-IN" sz="2000" b="1" u="sng" dirty="0">
                <a:effectLst>
                  <a:outerShdw blurRad="38100" dist="38100" dir="2700000" algn="tl">
                    <a:srgbClr val="000000">
                      <a:alpha val="43137"/>
                    </a:srgbClr>
                  </a:outerShdw>
                </a:effectLst>
                <a:cs typeface="Calibri" panose="020F0502020204030204" pitchFamily="34" charset="0"/>
              </a:rPr>
              <a:t>EXPOSE</a:t>
            </a:r>
          </a:p>
          <a:p>
            <a:endParaRPr lang="en-IN" sz="2400" dirty="0">
              <a:cs typeface="Calibri" panose="020F0502020204030204" pitchFamily="34" charset="0"/>
            </a:endParaRPr>
          </a:p>
          <a:p>
            <a:r>
              <a:rPr lang="en-US" sz="2000" b="1" dirty="0">
                <a:solidFill>
                  <a:srgbClr val="000000"/>
                </a:solidFill>
              </a:rPr>
              <a:t>Syntax</a:t>
            </a:r>
            <a:r>
              <a:rPr lang="en-US" sz="1600" i="1" dirty="0">
                <a:solidFill>
                  <a:srgbClr val="000000"/>
                </a:solidFill>
                <a:latin typeface="Courier New" panose="02070309020205020404" pitchFamily="49" charset="0"/>
                <a:cs typeface="Courier New" panose="02070309020205020404" pitchFamily="49" charset="0"/>
              </a:rPr>
              <a:t>: EXPOSE &lt;ports&gt;</a:t>
            </a:r>
          </a:p>
          <a:p>
            <a:endParaRPr lang="en-US" sz="2000" dirty="0">
              <a:solidFill>
                <a:srgbClr val="000000"/>
              </a:solidFill>
            </a:endParaRPr>
          </a:p>
          <a:p>
            <a:r>
              <a:rPr lang="en-US" sz="2000" dirty="0">
                <a:solidFill>
                  <a:srgbClr val="000000"/>
                </a:solidFill>
              </a:rPr>
              <a:t>This instruction tells what port the container should be exposed at. But this can only happen for an internal network, the host will not be able to access the container from this port.</a:t>
            </a:r>
          </a:p>
          <a:p>
            <a:endParaRPr lang="en-US" sz="2000" dirty="0">
              <a:solidFill>
                <a:srgbClr val="000000"/>
              </a:solidFill>
            </a:endParaRPr>
          </a:p>
          <a:p>
            <a:r>
              <a:rPr lang="en-IN" sz="2000" b="1" dirty="0">
                <a:solidFill>
                  <a:srgbClr val="000000"/>
                </a:solidFill>
              </a:rPr>
              <a:t>Example</a:t>
            </a:r>
            <a:r>
              <a:rPr lang="en-IN" sz="1600" i="1" dirty="0">
                <a:solidFill>
                  <a:srgbClr val="000000"/>
                </a:solidFill>
                <a:latin typeface="Courier New" panose="02070309020205020404" pitchFamily="49" charset="0"/>
                <a:cs typeface="Courier New" panose="02070309020205020404" pitchFamily="49" charset="0"/>
              </a:rPr>
              <a:t>:</a:t>
            </a:r>
          </a:p>
          <a:p>
            <a:endParaRPr lang="en-IN"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EXPOSE </a:t>
            </a:r>
            <a:r>
              <a:rPr lang="en-US" sz="1600" i="1" dirty="0">
                <a:solidFill>
                  <a:srgbClr val="FF0000"/>
                </a:solidFill>
                <a:latin typeface="Courier New" panose="02070309020205020404" pitchFamily="49" charset="0"/>
                <a:cs typeface="Courier New" panose="02070309020205020404" pitchFamily="49" charset="0"/>
              </a:rPr>
              <a:t>80/tcp</a:t>
            </a:r>
          </a:p>
          <a:p>
            <a:r>
              <a:rPr lang="en-US" sz="1600" i="1" dirty="0">
                <a:solidFill>
                  <a:srgbClr val="000000"/>
                </a:solidFill>
                <a:latin typeface="Courier New" panose="02070309020205020404" pitchFamily="49" charset="0"/>
                <a:cs typeface="Courier New" panose="02070309020205020404" pitchFamily="49" charset="0"/>
              </a:rPr>
              <a:t>EXPOSE </a:t>
            </a:r>
            <a:r>
              <a:rPr lang="en-US" sz="1600" i="1" dirty="0">
                <a:solidFill>
                  <a:srgbClr val="FF0000"/>
                </a:solidFill>
                <a:latin typeface="Courier New" panose="02070309020205020404" pitchFamily="49" charset="0"/>
                <a:cs typeface="Courier New" panose="02070309020205020404" pitchFamily="49" charset="0"/>
              </a:rPr>
              <a:t>80/udp</a:t>
            </a:r>
          </a:p>
          <a:p>
            <a:endParaRPr lang="en-US" sz="1600" i="1" dirty="0">
              <a:solidFill>
                <a:srgbClr val="FF0000"/>
              </a:solidFill>
              <a:latin typeface="Courier New" panose="02070309020205020404" pitchFamily="49" charset="0"/>
              <a:cs typeface="Courier New" panose="02070309020205020404" pitchFamily="49" charset="0"/>
            </a:endParaRPr>
          </a:p>
          <a:p>
            <a:endParaRPr lang="en-US" sz="1600" dirty="0">
              <a:solidFill>
                <a:srgbClr val="000000"/>
              </a:solidFill>
            </a:endParaRPr>
          </a:p>
          <a:p>
            <a:endParaRPr lang="en-US" sz="2000" dirty="0">
              <a:solidFill>
                <a:srgbClr val="000000"/>
              </a:solidFill>
            </a:endParaRPr>
          </a:p>
        </p:txBody>
      </p:sp>
      <p:sp>
        <p:nvSpPr>
          <p:cNvPr id="6" name="object 2">
            <a:extLst>
              <a:ext uri="{FF2B5EF4-FFF2-40B4-BE49-F238E27FC236}">
                <a16:creationId xmlns:a16="http://schemas.microsoft.com/office/drawing/2014/main" id="{7700FF70-4707-44A6-B7A9-8D622F4560C8}"/>
              </a:ext>
            </a:extLst>
          </p:cNvPr>
          <p:cNvSpPr txBox="1"/>
          <p:nvPr/>
        </p:nvSpPr>
        <p:spPr>
          <a:xfrm>
            <a:off x="957307" y="831798"/>
            <a:ext cx="2555163" cy="5653103"/>
          </a:xfrm>
          <a:prstGeom prst="rect">
            <a:avLst/>
          </a:prstGeom>
        </p:spPr>
        <p:txBody>
          <a:bodyPr wrap="square" lIns="0" tIns="16224" rIns="0" bIns="0" rtlCol="0">
            <a:noAutofit/>
          </a:bodyPr>
          <a:lstStyle/>
          <a:p>
            <a:r>
              <a:rPr lang="en-IN" sz="2000" dirty="0">
                <a:effectLst>
                  <a:outerShdw blurRad="38100" dist="38100" dir="2700000" algn="tl">
                    <a:srgbClr val="000000">
                      <a:alpha val="43137"/>
                    </a:srgbClr>
                  </a:outerShdw>
                </a:effectLst>
                <a:cs typeface="Calibri" panose="020F0502020204030204" pitchFamily="34" charset="0"/>
              </a:rPr>
              <a:t>FROM</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ADD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COPY</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RUN</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WORKDIR</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CMD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VOLUME</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b="1" dirty="0">
                <a:solidFill>
                  <a:schemeClr val="bg1"/>
                </a:solidFill>
                <a:effectLst>
                  <a:outerShdw blurRad="38100" dist="38100" dir="2700000" algn="tl">
                    <a:srgbClr val="000000">
                      <a:alpha val="43137"/>
                    </a:srgbClr>
                  </a:outerShdw>
                </a:effectLst>
                <a:cs typeface="Calibri" panose="020F0502020204030204" pitchFamily="34" charset="0"/>
              </a:rPr>
              <a:t>EXPOSE</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ENTRYPOINT</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LEBEL</a:t>
            </a:r>
          </a:p>
          <a:p>
            <a:endParaRPr lang="en-IN" sz="2400" dirty="0">
              <a:latin typeface="Aparajita" panose="02020603050405020304" pitchFamily="18" charset="0"/>
              <a:cs typeface="Aparajita" panose="02020603050405020304" pitchFamily="18" charset="0"/>
            </a:endParaRPr>
          </a:p>
          <a:p>
            <a:endParaRPr lang="en-US" sz="2000" dirty="0">
              <a:solidFill>
                <a:srgbClr val="000000"/>
              </a:solidFill>
            </a:endParaRPr>
          </a:p>
        </p:txBody>
      </p:sp>
    </p:spTree>
    <p:extLst>
      <p:ext uri="{BB962C8B-B14F-4D97-AF65-F5344CB8AC3E}">
        <p14:creationId xmlns:p14="http://schemas.microsoft.com/office/powerpoint/2010/main" val="3346295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8A714E-4BA8-480D-A48A-89D2B7603421}"/>
              </a:ext>
            </a:extLst>
          </p:cNvPr>
          <p:cNvSpPr/>
          <p:nvPr/>
        </p:nvSpPr>
        <p:spPr>
          <a:xfrm>
            <a:off x="429261" y="755833"/>
            <a:ext cx="2138289" cy="60107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4369895"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Dockerfile Instructions</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p:cNvSpPr txBox="1"/>
          <p:nvPr/>
        </p:nvSpPr>
        <p:spPr>
          <a:xfrm>
            <a:off x="2883877" y="755833"/>
            <a:ext cx="7661499" cy="5615520"/>
          </a:xfrm>
          <a:prstGeom prst="rect">
            <a:avLst/>
          </a:prstGeom>
        </p:spPr>
        <p:txBody>
          <a:bodyPr wrap="square" lIns="0" tIns="16224" rIns="0" bIns="0" rtlCol="0">
            <a:noAutofit/>
          </a:bodyPr>
          <a:lstStyle/>
          <a:p>
            <a:pPr algn="ctr"/>
            <a:r>
              <a:rPr lang="en-IN" sz="2000" b="1" u="sng" dirty="0">
                <a:effectLst>
                  <a:outerShdw blurRad="38100" dist="38100" dir="2700000" algn="tl">
                    <a:srgbClr val="000000">
                      <a:alpha val="43137"/>
                    </a:srgbClr>
                  </a:outerShdw>
                </a:effectLst>
                <a:cs typeface="Calibri" panose="020F0502020204030204" pitchFamily="34" charset="0"/>
              </a:rPr>
              <a:t>ENTRYPOINT</a:t>
            </a:r>
          </a:p>
          <a:p>
            <a:endParaRPr lang="en-IN" sz="2400" dirty="0">
              <a:cs typeface="Calibri" panose="020F0502020204030204" pitchFamily="34" charset="0"/>
            </a:endParaRPr>
          </a:p>
          <a:p>
            <a:r>
              <a:rPr lang="en-US" sz="2000" b="1" dirty="0">
                <a:solidFill>
                  <a:srgbClr val="000000"/>
                </a:solidFill>
              </a:rPr>
              <a:t>Syntax</a:t>
            </a:r>
            <a:r>
              <a:rPr lang="en-US" sz="1600" i="1" dirty="0">
                <a:solidFill>
                  <a:srgbClr val="000000"/>
                </a:solidFill>
                <a:latin typeface="Courier New" panose="02070309020205020404" pitchFamily="49" charset="0"/>
                <a:cs typeface="Courier New" panose="02070309020205020404" pitchFamily="49" charset="0"/>
              </a:rPr>
              <a:t>: ENTRYPOINT &lt;command&gt; &lt;parameter 1&gt; &lt;parameter 2&gt;</a:t>
            </a:r>
          </a:p>
          <a:p>
            <a:endParaRPr lang="en-US" sz="2000" dirty="0">
              <a:solidFill>
                <a:srgbClr val="000000"/>
              </a:solidFill>
            </a:endParaRPr>
          </a:p>
          <a:p>
            <a:r>
              <a:rPr lang="en-US" sz="2000" dirty="0">
                <a:solidFill>
                  <a:srgbClr val="000000"/>
                </a:solidFill>
              </a:rPr>
              <a:t>This instruction allows you to run commands with parameters when your container starts.</a:t>
            </a:r>
          </a:p>
          <a:p>
            <a:r>
              <a:rPr lang="en-US" sz="2000" dirty="0">
                <a:solidFill>
                  <a:srgbClr val="000000"/>
                </a:solidFill>
              </a:rPr>
              <a:t>The difference between </a:t>
            </a:r>
            <a:r>
              <a:rPr lang="en-US" i="1" dirty="0">
                <a:solidFill>
                  <a:srgbClr val="000000"/>
                </a:solidFill>
                <a:latin typeface="Courier New" panose="02070309020205020404" pitchFamily="49" charset="0"/>
                <a:cs typeface="Courier New" panose="02070309020205020404" pitchFamily="49" charset="0"/>
              </a:rPr>
              <a:t>CMD</a:t>
            </a:r>
            <a:r>
              <a:rPr lang="en-US" sz="2000" dirty="0">
                <a:solidFill>
                  <a:srgbClr val="000000"/>
                </a:solidFill>
              </a:rPr>
              <a:t> and </a:t>
            </a:r>
            <a:r>
              <a:rPr lang="en-US" i="1" dirty="0">
                <a:solidFill>
                  <a:srgbClr val="000000"/>
                </a:solidFill>
                <a:latin typeface="Courier New" panose="02070309020205020404" pitchFamily="49" charset="0"/>
                <a:cs typeface="Courier New" panose="02070309020205020404" pitchFamily="49" charset="0"/>
              </a:rPr>
              <a:t>ENTRYPOINT</a:t>
            </a:r>
            <a:r>
              <a:rPr lang="en-US" sz="2000" dirty="0">
                <a:solidFill>
                  <a:srgbClr val="000000"/>
                </a:solidFill>
              </a:rPr>
              <a:t> is that with </a:t>
            </a:r>
            <a:r>
              <a:rPr lang="en-US" i="1" dirty="0">
                <a:solidFill>
                  <a:srgbClr val="000000"/>
                </a:solidFill>
                <a:latin typeface="Courier New" panose="02070309020205020404" pitchFamily="49" charset="0"/>
                <a:cs typeface="Courier New" panose="02070309020205020404" pitchFamily="49" charset="0"/>
              </a:rPr>
              <a:t>ENTRYPOINT</a:t>
            </a:r>
            <a:r>
              <a:rPr lang="en-US" sz="2000" dirty="0">
                <a:solidFill>
                  <a:srgbClr val="000000"/>
                </a:solidFill>
              </a:rPr>
              <a:t> your command is not overwritten during runtime. When you use </a:t>
            </a:r>
            <a:r>
              <a:rPr lang="en-US" i="1" dirty="0">
                <a:solidFill>
                  <a:srgbClr val="000000"/>
                </a:solidFill>
                <a:latin typeface="Courier New" panose="02070309020205020404" pitchFamily="49" charset="0"/>
                <a:cs typeface="Courier New" panose="02070309020205020404" pitchFamily="49" charset="0"/>
              </a:rPr>
              <a:t>ENTRYPOINT</a:t>
            </a:r>
            <a:r>
              <a:rPr lang="en-US" sz="2000" dirty="0">
                <a:solidFill>
                  <a:srgbClr val="000000"/>
                </a:solidFill>
              </a:rPr>
              <a:t> it will override any elements specified in another </a:t>
            </a:r>
            <a:r>
              <a:rPr lang="en-US" i="1" dirty="0">
                <a:solidFill>
                  <a:srgbClr val="000000"/>
                </a:solidFill>
                <a:latin typeface="Courier New" panose="02070309020205020404" pitchFamily="49" charset="0"/>
                <a:cs typeface="Courier New" panose="02070309020205020404" pitchFamily="49" charset="0"/>
              </a:rPr>
              <a:t>CMD</a:t>
            </a:r>
            <a:r>
              <a:rPr lang="en-US" sz="2000" dirty="0">
                <a:solidFill>
                  <a:srgbClr val="000000"/>
                </a:solidFill>
              </a:rPr>
              <a:t> instruction.</a:t>
            </a:r>
          </a:p>
          <a:p>
            <a:endParaRPr lang="en-US" sz="2000" dirty="0">
              <a:solidFill>
                <a:srgbClr val="000000"/>
              </a:solidFill>
            </a:endParaRPr>
          </a:p>
          <a:p>
            <a:r>
              <a:rPr lang="en-IN" sz="2000" b="1" dirty="0">
                <a:solidFill>
                  <a:srgbClr val="000000"/>
                </a:solidFill>
              </a:rPr>
              <a:t>Example</a:t>
            </a:r>
            <a:r>
              <a:rPr lang="en-IN" sz="2000" i="1" dirty="0">
                <a:solidFill>
                  <a:srgbClr val="000000"/>
                </a:solidFill>
                <a:latin typeface="Courier New" panose="02070309020205020404" pitchFamily="49" charset="0"/>
                <a:cs typeface="Courier New" panose="02070309020205020404" pitchFamily="49" charset="0"/>
              </a:rPr>
              <a:t>:</a:t>
            </a:r>
          </a:p>
          <a:p>
            <a:endParaRPr lang="en-IN" sz="20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ENTRYPOINT </a:t>
            </a:r>
            <a:r>
              <a:rPr lang="en-US" sz="1600" i="1" dirty="0">
                <a:solidFill>
                  <a:srgbClr val="FF0000"/>
                </a:solidFill>
                <a:latin typeface="Courier New" panose="02070309020205020404" pitchFamily="49" charset="0"/>
                <a:cs typeface="Courier New" panose="02070309020205020404" pitchFamily="49" charset="0"/>
              </a:rPr>
              <a:t>["top", "-b"]</a:t>
            </a:r>
          </a:p>
          <a:p>
            <a:endParaRPr lang="en-US" sz="2000" dirty="0">
              <a:solidFill>
                <a:srgbClr val="000000"/>
              </a:solidFill>
            </a:endParaRPr>
          </a:p>
        </p:txBody>
      </p:sp>
      <p:sp>
        <p:nvSpPr>
          <p:cNvPr id="6" name="object 2">
            <a:extLst>
              <a:ext uri="{FF2B5EF4-FFF2-40B4-BE49-F238E27FC236}">
                <a16:creationId xmlns:a16="http://schemas.microsoft.com/office/drawing/2014/main" id="{7700FF70-4707-44A6-B7A9-8D622F4560C8}"/>
              </a:ext>
            </a:extLst>
          </p:cNvPr>
          <p:cNvSpPr txBox="1"/>
          <p:nvPr/>
        </p:nvSpPr>
        <p:spPr>
          <a:xfrm>
            <a:off x="957307" y="831798"/>
            <a:ext cx="2555163" cy="5653103"/>
          </a:xfrm>
          <a:prstGeom prst="rect">
            <a:avLst/>
          </a:prstGeom>
        </p:spPr>
        <p:txBody>
          <a:bodyPr wrap="square" lIns="0" tIns="16224" rIns="0" bIns="0" rtlCol="0">
            <a:noAutofit/>
          </a:bodyPr>
          <a:lstStyle/>
          <a:p>
            <a:r>
              <a:rPr lang="en-IN" sz="2000" dirty="0">
                <a:effectLst>
                  <a:outerShdw blurRad="38100" dist="38100" dir="2700000" algn="tl">
                    <a:srgbClr val="000000">
                      <a:alpha val="43137"/>
                    </a:srgbClr>
                  </a:outerShdw>
                </a:effectLst>
                <a:cs typeface="Calibri" panose="020F0502020204030204" pitchFamily="34" charset="0"/>
              </a:rPr>
              <a:t>FROM</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ADD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COPY</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RUN</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WORKDIR</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CMD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VOLUME</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EXPOSE</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b="1" dirty="0">
                <a:solidFill>
                  <a:schemeClr val="bg1"/>
                </a:solidFill>
                <a:effectLst>
                  <a:outerShdw blurRad="38100" dist="38100" dir="2700000" algn="tl">
                    <a:srgbClr val="000000">
                      <a:alpha val="43137"/>
                    </a:srgbClr>
                  </a:outerShdw>
                </a:effectLst>
                <a:cs typeface="Calibri" panose="020F0502020204030204" pitchFamily="34" charset="0"/>
              </a:rPr>
              <a:t>ENTRYPOINT</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LEBEL</a:t>
            </a:r>
          </a:p>
          <a:p>
            <a:endParaRPr lang="en-IN" sz="2400" dirty="0">
              <a:latin typeface="Aparajita" panose="02020603050405020304" pitchFamily="18" charset="0"/>
              <a:cs typeface="Aparajita" panose="02020603050405020304" pitchFamily="18" charset="0"/>
            </a:endParaRPr>
          </a:p>
          <a:p>
            <a:endParaRPr lang="en-US" sz="2000" dirty="0">
              <a:solidFill>
                <a:srgbClr val="000000"/>
              </a:solidFill>
            </a:endParaRPr>
          </a:p>
        </p:txBody>
      </p:sp>
    </p:spTree>
    <p:extLst>
      <p:ext uri="{BB962C8B-B14F-4D97-AF65-F5344CB8AC3E}">
        <p14:creationId xmlns:p14="http://schemas.microsoft.com/office/powerpoint/2010/main" val="1123449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8A714E-4BA8-480D-A48A-89D2B7603421}"/>
              </a:ext>
            </a:extLst>
          </p:cNvPr>
          <p:cNvSpPr/>
          <p:nvPr/>
        </p:nvSpPr>
        <p:spPr>
          <a:xfrm>
            <a:off x="429261" y="755833"/>
            <a:ext cx="2138289" cy="60107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4369895"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Dockerfile Instructions</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p:cNvSpPr txBox="1"/>
          <p:nvPr/>
        </p:nvSpPr>
        <p:spPr>
          <a:xfrm>
            <a:off x="2883877" y="755833"/>
            <a:ext cx="7661499" cy="5615520"/>
          </a:xfrm>
          <a:prstGeom prst="rect">
            <a:avLst/>
          </a:prstGeom>
        </p:spPr>
        <p:txBody>
          <a:bodyPr wrap="square" lIns="0" tIns="16224" rIns="0" bIns="0" rtlCol="0">
            <a:noAutofit/>
          </a:bodyPr>
          <a:lstStyle/>
          <a:p>
            <a:pPr algn="ctr"/>
            <a:r>
              <a:rPr lang="en-IN" sz="2000" b="1" u="sng" dirty="0">
                <a:effectLst>
                  <a:outerShdw blurRad="38100" dist="38100" dir="2700000" algn="tl">
                    <a:srgbClr val="000000">
                      <a:alpha val="43137"/>
                    </a:srgbClr>
                  </a:outerShdw>
                </a:effectLst>
                <a:cs typeface="Calibri" panose="020F0502020204030204" pitchFamily="34" charset="0"/>
              </a:rPr>
              <a:t>LABEL</a:t>
            </a:r>
          </a:p>
          <a:p>
            <a:endParaRPr lang="en-IN" sz="2400" dirty="0">
              <a:cs typeface="Calibri" panose="020F0502020204030204" pitchFamily="34" charset="0"/>
            </a:endParaRPr>
          </a:p>
          <a:p>
            <a:r>
              <a:rPr lang="en-US" sz="2000" b="1" dirty="0">
                <a:solidFill>
                  <a:srgbClr val="000000"/>
                </a:solidFill>
              </a:rPr>
              <a:t>Syntax</a:t>
            </a:r>
            <a:r>
              <a:rPr lang="en-US" sz="1600" i="1" dirty="0">
                <a:solidFill>
                  <a:srgbClr val="000000"/>
                </a:solidFill>
                <a:latin typeface="Courier New" panose="02070309020205020404" pitchFamily="49" charset="0"/>
                <a:cs typeface="Courier New" panose="02070309020205020404" pitchFamily="49" charset="0"/>
              </a:rPr>
              <a:t>: LABEL &lt;key&gt;=&lt;value&gt;</a:t>
            </a:r>
          </a:p>
          <a:p>
            <a:endParaRPr lang="en-US" sz="2000" dirty="0">
              <a:solidFill>
                <a:srgbClr val="000000"/>
              </a:solidFill>
            </a:endParaRPr>
          </a:p>
          <a:p>
            <a:r>
              <a:rPr lang="en-US" sz="2000" dirty="0">
                <a:solidFill>
                  <a:srgbClr val="000000"/>
                </a:solidFill>
              </a:rPr>
              <a:t>This instruction is used to add meta data to your image. You need to make use of quotes &amp; backslashes if you want to include spaces. If there are any older labels, they will be replaced with the new label value. You can make use of Docker inspect command to see its container.</a:t>
            </a:r>
          </a:p>
          <a:p>
            <a:endParaRPr lang="en-US" sz="2000" dirty="0">
              <a:solidFill>
                <a:srgbClr val="000000"/>
              </a:solidFill>
            </a:endParaRPr>
          </a:p>
          <a:p>
            <a:r>
              <a:rPr lang="en-US" sz="2000" dirty="0">
                <a:solidFill>
                  <a:srgbClr val="000000"/>
                </a:solidFill>
              </a:rPr>
              <a:t>Since a new layer is created each time, a new instruction is written, it is important to write in the most optimized way as possible and least number of instructions as possible.</a:t>
            </a:r>
          </a:p>
          <a:p>
            <a:endParaRPr lang="en-US" sz="2000" dirty="0">
              <a:solidFill>
                <a:srgbClr val="000000"/>
              </a:solidFill>
            </a:endParaRPr>
          </a:p>
          <a:p>
            <a:r>
              <a:rPr lang="en-IN" sz="2000" b="1" dirty="0">
                <a:solidFill>
                  <a:srgbClr val="000000"/>
                </a:solidFill>
              </a:rPr>
              <a:t>Example</a:t>
            </a:r>
            <a:r>
              <a:rPr lang="en-IN" sz="2000" i="1" dirty="0">
                <a:solidFill>
                  <a:srgbClr val="000000"/>
                </a:solidFill>
                <a:latin typeface="Courier New" panose="02070309020205020404" pitchFamily="49" charset="0"/>
                <a:cs typeface="Courier New" panose="02070309020205020404" pitchFamily="49" charset="0"/>
              </a:rPr>
              <a:t>:</a:t>
            </a:r>
          </a:p>
          <a:p>
            <a:endParaRPr lang="en-IN"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LABEL </a:t>
            </a:r>
            <a:r>
              <a:rPr lang="en-US" sz="1600" i="1" dirty="0">
                <a:solidFill>
                  <a:srgbClr val="FF0000"/>
                </a:solidFill>
                <a:latin typeface="Courier New" panose="02070309020205020404" pitchFamily="49" charset="0"/>
                <a:cs typeface="Courier New" panose="02070309020205020404" pitchFamily="49" charset="0"/>
              </a:rPr>
              <a:t>vender1=ACM</a:t>
            </a:r>
          </a:p>
          <a:p>
            <a:endParaRPr lang="en-US" sz="2000" dirty="0">
              <a:solidFill>
                <a:srgbClr val="000000"/>
              </a:solidFill>
            </a:endParaRPr>
          </a:p>
          <a:p>
            <a:endParaRPr lang="en-US" sz="2000" dirty="0">
              <a:solidFill>
                <a:srgbClr val="000000"/>
              </a:solidFill>
            </a:endParaRPr>
          </a:p>
        </p:txBody>
      </p:sp>
      <p:sp>
        <p:nvSpPr>
          <p:cNvPr id="6" name="object 2">
            <a:extLst>
              <a:ext uri="{FF2B5EF4-FFF2-40B4-BE49-F238E27FC236}">
                <a16:creationId xmlns:a16="http://schemas.microsoft.com/office/drawing/2014/main" id="{7700FF70-4707-44A6-B7A9-8D622F4560C8}"/>
              </a:ext>
            </a:extLst>
          </p:cNvPr>
          <p:cNvSpPr txBox="1"/>
          <p:nvPr/>
        </p:nvSpPr>
        <p:spPr>
          <a:xfrm>
            <a:off x="957307" y="831798"/>
            <a:ext cx="2555163" cy="5897179"/>
          </a:xfrm>
          <a:prstGeom prst="rect">
            <a:avLst/>
          </a:prstGeom>
        </p:spPr>
        <p:txBody>
          <a:bodyPr wrap="square" lIns="0" tIns="16224" rIns="0" bIns="0" rtlCol="0">
            <a:noAutofit/>
          </a:bodyPr>
          <a:lstStyle/>
          <a:p>
            <a:r>
              <a:rPr lang="en-IN" sz="2000" dirty="0">
                <a:effectLst>
                  <a:outerShdw blurRad="38100" dist="38100" dir="2700000" algn="tl">
                    <a:srgbClr val="000000">
                      <a:alpha val="43137"/>
                    </a:srgbClr>
                  </a:outerShdw>
                </a:effectLst>
                <a:cs typeface="Calibri" panose="020F0502020204030204" pitchFamily="34" charset="0"/>
              </a:rPr>
              <a:t>FROM</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ADD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COPY</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RUN</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WORKDIR</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CMD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VOLUME</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EXPOSE</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ENTRYPOINT</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b="1" dirty="0">
                <a:solidFill>
                  <a:schemeClr val="bg1"/>
                </a:solidFill>
                <a:effectLst>
                  <a:outerShdw blurRad="38100" dist="38100" dir="2700000" algn="tl">
                    <a:srgbClr val="000000">
                      <a:alpha val="43137"/>
                    </a:srgbClr>
                  </a:outerShdw>
                </a:effectLst>
                <a:cs typeface="Calibri" panose="020F0502020204030204" pitchFamily="34" charset="0"/>
              </a:rPr>
              <a:t>LABEL</a:t>
            </a:r>
          </a:p>
          <a:p>
            <a:endParaRPr lang="en-IN" sz="2400" dirty="0">
              <a:latin typeface="Aparajita" panose="02020603050405020304" pitchFamily="18" charset="0"/>
              <a:cs typeface="Aparajita" panose="02020603050405020304" pitchFamily="18" charset="0"/>
            </a:endParaRPr>
          </a:p>
          <a:p>
            <a:endParaRPr lang="en-US" sz="2000" dirty="0">
              <a:solidFill>
                <a:srgbClr val="000000"/>
              </a:solidFill>
            </a:endParaRPr>
          </a:p>
        </p:txBody>
      </p:sp>
    </p:spTree>
    <p:extLst>
      <p:ext uri="{BB962C8B-B14F-4D97-AF65-F5344CB8AC3E}">
        <p14:creationId xmlns:p14="http://schemas.microsoft.com/office/powerpoint/2010/main" val="2147432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8A714E-4BA8-480D-A48A-89D2B7603421}"/>
              </a:ext>
            </a:extLst>
          </p:cNvPr>
          <p:cNvSpPr/>
          <p:nvPr/>
        </p:nvSpPr>
        <p:spPr>
          <a:xfrm>
            <a:off x="429261" y="755833"/>
            <a:ext cx="2138289" cy="60107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4369895"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Dockerfile Instructions</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p:cNvSpPr txBox="1"/>
          <p:nvPr/>
        </p:nvSpPr>
        <p:spPr>
          <a:xfrm>
            <a:off x="2883877" y="755833"/>
            <a:ext cx="7661499" cy="5615520"/>
          </a:xfrm>
          <a:prstGeom prst="rect">
            <a:avLst/>
          </a:prstGeom>
        </p:spPr>
        <p:txBody>
          <a:bodyPr wrap="square" lIns="0" tIns="16224" rIns="0" bIns="0" rtlCol="0">
            <a:noAutofit/>
          </a:bodyPr>
          <a:lstStyle/>
          <a:p>
            <a:pPr algn="ctr"/>
            <a:r>
              <a:rPr lang="en-IN" sz="2000" b="1" u="sng" dirty="0">
                <a:effectLst>
                  <a:outerShdw blurRad="38100" dist="38100" dir="2700000" algn="tl">
                    <a:srgbClr val="000000">
                      <a:alpha val="43137"/>
                    </a:srgbClr>
                  </a:outerShdw>
                </a:effectLst>
                <a:cs typeface="Calibri" panose="020F0502020204030204" pitchFamily="34" charset="0"/>
              </a:rPr>
              <a:t>ENV</a:t>
            </a:r>
          </a:p>
          <a:p>
            <a:endParaRPr lang="en-IN" sz="2400" dirty="0">
              <a:cs typeface="Calibri" panose="020F0502020204030204" pitchFamily="34" charset="0"/>
            </a:endParaRPr>
          </a:p>
          <a:p>
            <a:r>
              <a:rPr lang="en-US" sz="2000" b="1" dirty="0">
                <a:solidFill>
                  <a:srgbClr val="000000"/>
                </a:solidFill>
              </a:rPr>
              <a:t>Syntax</a:t>
            </a:r>
            <a:r>
              <a:rPr lang="en-US" sz="1600" i="1" dirty="0">
                <a:solidFill>
                  <a:srgbClr val="000000"/>
                </a:solidFill>
                <a:latin typeface="Courier New" panose="02070309020205020404" pitchFamily="49" charset="0"/>
                <a:cs typeface="Courier New" panose="02070309020205020404" pitchFamily="49" charset="0"/>
              </a:rPr>
              <a:t>: ENV &lt;key&gt;=&lt;value&gt;</a:t>
            </a:r>
          </a:p>
          <a:p>
            <a:endParaRPr lang="en-US" sz="2000" dirty="0">
              <a:solidFill>
                <a:srgbClr val="000000"/>
              </a:solidFill>
            </a:endParaRPr>
          </a:p>
          <a:p>
            <a:r>
              <a:rPr lang="en-IN" sz="2000" dirty="0">
                <a:solidFill>
                  <a:srgbClr val="000000"/>
                </a:solidFill>
              </a:rPr>
              <a:t>The </a:t>
            </a:r>
            <a:r>
              <a:rPr lang="en-IN" sz="1600" i="1" dirty="0">
                <a:solidFill>
                  <a:srgbClr val="000000"/>
                </a:solidFill>
                <a:latin typeface="Courier New" panose="02070309020205020404" pitchFamily="49" charset="0"/>
                <a:cs typeface="Courier New" panose="02070309020205020404" pitchFamily="49" charset="0"/>
              </a:rPr>
              <a:t>ENV</a:t>
            </a:r>
            <a:r>
              <a:rPr lang="en-IN" sz="2000" dirty="0">
                <a:solidFill>
                  <a:srgbClr val="000000"/>
                </a:solidFill>
              </a:rPr>
              <a:t> instruction sets the environment variable </a:t>
            </a:r>
            <a:r>
              <a:rPr lang="en-IN" sz="1600" i="1" dirty="0">
                <a:solidFill>
                  <a:srgbClr val="000000"/>
                </a:solidFill>
                <a:latin typeface="Courier New" panose="02070309020205020404" pitchFamily="49" charset="0"/>
                <a:cs typeface="Courier New" panose="02070309020205020404" pitchFamily="49" charset="0"/>
              </a:rPr>
              <a:t>&lt;key&gt; </a:t>
            </a:r>
            <a:r>
              <a:rPr lang="en-IN" sz="2000" dirty="0">
                <a:solidFill>
                  <a:srgbClr val="000000"/>
                </a:solidFill>
              </a:rPr>
              <a:t>to the value </a:t>
            </a:r>
            <a:r>
              <a:rPr lang="en-IN" sz="1600" i="1" dirty="0">
                <a:solidFill>
                  <a:srgbClr val="000000"/>
                </a:solidFill>
                <a:latin typeface="Courier New" panose="02070309020205020404" pitchFamily="49" charset="0"/>
                <a:cs typeface="Courier New" panose="02070309020205020404" pitchFamily="49" charset="0"/>
              </a:rPr>
              <a:t>&lt;value&gt;. </a:t>
            </a:r>
            <a:r>
              <a:rPr lang="en-IN" sz="2000" dirty="0">
                <a:solidFill>
                  <a:srgbClr val="000000"/>
                </a:solidFill>
              </a:rPr>
              <a:t>This value will be in the environment for all subsequent instructions in the build stage and can be replaced inline in many as well.</a:t>
            </a:r>
          </a:p>
          <a:p>
            <a:endParaRPr lang="en-IN" sz="2000" dirty="0">
              <a:solidFill>
                <a:srgbClr val="000000"/>
              </a:solidFill>
            </a:endParaRPr>
          </a:p>
          <a:p>
            <a:r>
              <a:rPr lang="en-IN" sz="2000" b="1" dirty="0">
                <a:solidFill>
                  <a:srgbClr val="000000"/>
                </a:solidFill>
              </a:rPr>
              <a:t>Example:</a:t>
            </a:r>
          </a:p>
          <a:p>
            <a:endParaRPr lang="en-IN" sz="2000" dirty="0">
              <a:solidFill>
                <a:srgbClr val="000000"/>
              </a:solidFill>
            </a:endParaRPr>
          </a:p>
          <a:p>
            <a:r>
              <a:rPr lang="en-IN" sz="1600" i="1" dirty="0">
                <a:solidFill>
                  <a:srgbClr val="000000"/>
                </a:solidFill>
                <a:latin typeface="Courier New" panose="02070309020205020404" pitchFamily="49" charset="0"/>
                <a:cs typeface="Courier New" panose="02070309020205020404" pitchFamily="49" charset="0"/>
              </a:rPr>
              <a:t>ENV </a:t>
            </a:r>
            <a:r>
              <a:rPr lang="en-IN" sz="1600" i="1" dirty="0">
                <a:solidFill>
                  <a:srgbClr val="FF0000"/>
                </a:solidFill>
                <a:latin typeface="Courier New" panose="02070309020205020404" pitchFamily="49" charset="0"/>
                <a:cs typeface="Courier New" panose="02070309020205020404" pitchFamily="49" charset="0"/>
              </a:rPr>
              <a:t>MY_NAME="John Doe"</a:t>
            </a:r>
          </a:p>
          <a:p>
            <a:r>
              <a:rPr lang="en-IN" sz="1600" i="1" dirty="0">
                <a:solidFill>
                  <a:srgbClr val="000000"/>
                </a:solidFill>
                <a:latin typeface="Courier New" panose="02070309020205020404" pitchFamily="49" charset="0"/>
                <a:cs typeface="Courier New" panose="02070309020205020404" pitchFamily="49" charset="0"/>
              </a:rPr>
              <a:t>ENV </a:t>
            </a:r>
            <a:r>
              <a:rPr lang="en-IN" sz="1600" i="1" dirty="0">
                <a:solidFill>
                  <a:srgbClr val="FF0000"/>
                </a:solidFill>
                <a:latin typeface="Courier New" panose="02070309020205020404" pitchFamily="49" charset="0"/>
                <a:cs typeface="Courier New" panose="02070309020205020404" pitchFamily="49" charset="0"/>
              </a:rPr>
              <a:t>DB_ENDPOINT=“test:sql:3306”</a:t>
            </a:r>
          </a:p>
          <a:p>
            <a:r>
              <a:rPr lang="en-IN" sz="1600" i="1" dirty="0">
                <a:solidFill>
                  <a:srgbClr val="000000"/>
                </a:solidFill>
                <a:latin typeface="Courier New" panose="02070309020205020404" pitchFamily="49" charset="0"/>
                <a:cs typeface="Courier New" panose="02070309020205020404" pitchFamily="49" charset="0"/>
              </a:rPr>
              <a:t>ENV </a:t>
            </a:r>
            <a:r>
              <a:rPr lang="en-IN" sz="1600" i="1" dirty="0">
                <a:solidFill>
                  <a:srgbClr val="FF0000"/>
                </a:solidFill>
                <a:latin typeface="Courier New" panose="02070309020205020404" pitchFamily="49" charset="0"/>
                <a:cs typeface="Courier New" panose="02070309020205020404" pitchFamily="49" charset="0"/>
              </a:rPr>
              <a:t>DB_SCHEMA=study</a:t>
            </a:r>
            <a:endParaRPr lang="en-US" sz="1600" i="1" dirty="0">
              <a:solidFill>
                <a:srgbClr val="FF0000"/>
              </a:solidFill>
              <a:latin typeface="Courier New" panose="02070309020205020404" pitchFamily="49" charset="0"/>
              <a:cs typeface="Courier New" panose="02070309020205020404" pitchFamily="49" charset="0"/>
            </a:endParaRPr>
          </a:p>
        </p:txBody>
      </p:sp>
      <p:sp>
        <p:nvSpPr>
          <p:cNvPr id="6" name="object 2">
            <a:extLst>
              <a:ext uri="{FF2B5EF4-FFF2-40B4-BE49-F238E27FC236}">
                <a16:creationId xmlns:a16="http://schemas.microsoft.com/office/drawing/2014/main" id="{7700FF70-4707-44A6-B7A9-8D622F4560C8}"/>
              </a:ext>
            </a:extLst>
          </p:cNvPr>
          <p:cNvSpPr txBox="1"/>
          <p:nvPr/>
        </p:nvSpPr>
        <p:spPr>
          <a:xfrm>
            <a:off x="957307" y="831798"/>
            <a:ext cx="2555163" cy="5897179"/>
          </a:xfrm>
          <a:prstGeom prst="rect">
            <a:avLst/>
          </a:prstGeom>
        </p:spPr>
        <p:txBody>
          <a:bodyPr wrap="square" lIns="0" tIns="16224" rIns="0" bIns="0" rtlCol="0">
            <a:noAutofit/>
          </a:bodyPr>
          <a:lstStyle/>
          <a:p>
            <a:r>
              <a:rPr lang="en-IN" sz="2000" b="1" dirty="0">
                <a:solidFill>
                  <a:schemeClr val="bg1"/>
                </a:solidFill>
                <a:effectLst>
                  <a:outerShdw blurRad="38100" dist="38100" dir="2700000" algn="tl">
                    <a:srgbClr val="000000">
                      <a:alpha val="43137"/>
                    </a:srgbClr>
                  </a:outerShdw>
                </a:effectLst>
                <a:cs typeface="Calibri" panose="020F0502020204030204" pitchFamily="34" charset="0"/>
              </a:rPr>
              <a:t>ENV</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USER</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ARG</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ONBUILD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STOPSIGNAL</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HEALTHCHECK</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SHELL</a:t>
            </a: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b="1" dirty="0">
              <a:solidFill>
                <a:schemeClr val="bg1"/>
              </a:solidFill>
              <a:effectLst>
                <a:outerShdw blurRad="38100" dist="38100" dir="2700000" algn="tl">
                  <a:srgbClr val="000000">
                    <a:alpha val="43137"/>
                  </a:srgbClr>
                </a:outerShdw>
              </a:effectLst>
              <a:cs typeface="Calibri" panose="020F0502020204030204" pitchFamily="34" charset="0"/>
            </a:endParaRPr>
          </a:p>
          <a:p>
            <a:endParaRPr lang="en-IN" sz="2400" dirty="0">
              <a:latin typeface="Aparajita" panose="02020603050405020304" pitchFamily="18" charset="0"/>
              <a:cs typeface="Aparajita" panose="02020603050405020304" pitchFamily="18" charset="0"/>
            </a:endParaRPr>
          </a:p>
          <a:p>
            <a:endParaRPr lang="en-US" sz="2000" dirty="0">
              <a:solidFill>
                <a:srgbClr val="000000"/>
              </a:solidFill>
            </a:endParaRPr>
          </a:p>
        </p:txBody>
      </p:sp>
    </p:spTree>
    <p:extLst>
      <p:ext uri="{BB962C8B-B14F-4D97-AF65-F5344CB8AC3E}">
        <p14:creationId xmlns:p14="http://schemas.microsoft.com/office/powerpoint/2010/main" val="1250413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8A714E-4BA8-480D-A48A-89D2B7603421}"/>
              </a:ext>
            </a:extLst>
          </p:cNvPr>
          <p:cNvSpPr/>
          <p:nvPr/>
        </p:nvSpPr>
        <p:spPr>
          <a:xfrm>
            <a:off x="429261" y="755833"/>
            <a:ext cx="2138289" cy="60107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4369895"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Dockerfile Instructions</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p:cNvSpPr txBox="1"/>
          <p:nvPr/>
        </p:nvSpPr>
        <p:spPr>
          <a:xfrm>
            <a:off x="2883877" y="755833"/>
            <a:ext cx="7661499" cy="5615520"/>
          </a:xfrm>
          <a:prstGeom prst="rect">
            <a:avLst/>
          </a:prstGeom>
        </p:spPr>
        <p:txBody>
          <a:bodyPr wrap="square" lIns="0" tIns="16224" rIns="0" bIns="0" rtlCol="0">
            <a:noAutofit/>
          </a:bodyPr>
          <a:lstStyle/>
          <a:p>
            <a:pPr algn="ctr"/>
            <a:r>
              <a:rPr lang="en-IN" sz="2000" b="1" u="sng" dirty="0">
                <a:effectLst>
                  <a:outerShdw blurRad="38100" dist="38100" dir="2700000" algn="tl">
                    <a:srgbClr val="000000">
                      <a:alpha val="43137"/>
                    </a:srgbClr>
                  </a:outerShdw>
                </a:effectLst>
                <a:cs typeface="Calibri" panose="020F0502020204030204" pitchFamily="34" charset="0"/>
              </a:rPr>
              <a:t>USER</a:t>
            </a:r>
          </a:p>
          <a:p>
            <a:endParaRPr lang="en-IN" sz="2400" dirty="0">
              <a:cs typeface="Calibri" panose="020F0502020204030204" pitchFamily="34" charset="0"/>
            </a:endParaRPr>
          </a:p>
          <a:p>
            <a:r>
              <a:rPr lang="en-US" sz="2000" b="1" dirty="0">
                <a:solidFill>
                  <a:srgbClr val="000000"/>
                </a:solidFill>
              </a:rPr>
              <a:t>Syntax</a:t>
            </a:r>
            <a:r>
              <a:rPr lang="en-US" sz="1600" i="1" dirty="0">
                <a:solidFill>
                  <a:srgbClr val="000000"/>
                </a:solidFill>
                <a:latin typeface="Courier New" panose="02070309020205020404" pitchFamily="49" charset="0"/>
                <a:cs typeface="Courier New" panose="02070309020205020404" pitchFamily="49" charset="0"/>
              </a:rPr>
              <a:t>: USER &lt;username&gt;</a:t>
            </a:r>
          </a:p>
          <a:p>
            <a:endParaRPr lang="en-US" sz="2000" dirty="0">
              <a:solidFill>
                <a:srgbClr val="000000"/>
              </a:solidFill>
            </a:endParaRPr>
          </a:p>
          <a:p>
            <a:r>
              <a:rPr lang="en-US" sz="2000" dirty="0">
                <a:solidFill>
                  <a:srgbClr val="000000"/>
                </a:solidFill>
              </a:rPr>
              <a:t>If a service can run without privileges, use </a:t>
            </a:r>
            <a:r>
              <a:rPr lang="en-US" sz="1600" i="1" dirty="0">
                <a:solidFill>
                  <a:srgbClr val="000000"/>
                </a:solidFill>
                <a:latin typeface="Courier New" panose="02070309020205020404" pitchFamily="49" charset="0"/>
                <a:cs typeface="Courier New" panose="02070309020205020404" pitchFamily="49" charset="0"/>
              </a:rPr>
              <a:t>USER</a:t>
            </a:r>
            <a:r>
              <a:rPr lang="en-US" sz="2000" dirty="0">
                <a:solidFill>
                  <a:srgbClr val="000000"/>
                </a:solidFill>
              </a:rPr>
              <a:t> to change to a non-root user. Avoid installing or using sudo as it has unpredictable TTY and signal-forwarding behavior that can cause problems.</a:t>
            </a:r>
          </a:p>
          <a:p>
            <a:r>
              <a:rPr lang="en-US" sz="2000" dirty="0">
                <a:solidFill>
                  <a:srgbClr val="000000"/>
                </a:solidFill>
              </a:rPr>
              <a:t>Lastly, to reduce layers and complexity, avoid switching USER back and forth frequently.</a:t>
            </a:r>
            <a:endParaRPr lang="en-IN" sz="2000" dirty="0">
              <a:solidFill>
                <a:srgbClr val="000000"/>
              </a:solidFill>
            </a:endParaRPr>
          </a:p>
          <a:p>
            <a:endParaRPr lang="en-IN" sz="2000" dirty="0">
              <a:solidFill>
                <a:srgbClr val="000000"/>
              </a:solidFill>
            </a:endParaRPr>
          </a:p>
          <a:p>
            <a:r>
              <a:rPr lang="en-IN" sz="2000" b="1" dirty="0">
                <a:solidFill>
                  <a:srgbClr val="000000"/>
                </a:solidFill>
              </a:rPr>
              <a:t>Example:</a:t>
            </a:r>
          </a:p>
          <a:p>
            <a:endParaRPr lang="en-IN" sz="2000" dirty="0">
              <a:solidFill>
                <a:srgbClr val="000000"/>
              </a:solidFill>
            </a:endParaRPr>
          </a:p>
          <a:p>
            <a:r>
              <a:rPr lang="en-IN" sz="1600" i="1" dirty="0">
                <a:solidFill>
                  <a:srgbClr val="000000"/>
                </a:solidFill>
                <a:latin typeface="Courier New" panose="02070309020205020404" pitchFamily="49" charset="0"/>
                <a:cs typeface="Courier New" panose="02070309020205020404" pitchFamily="49" charset="0"/>
              </a:rPr>
              <a:t>USER </a:t>
            </a:r>
            <a:r>
              <a:rPr lang="en-IN" sz="1600" i="1" dirty="0">
                <a:solidFill>
                  <a:srgbClr val="FF0000"/>
                </a:solidFill>
                <a:latin typeface="Courier New" panose="02070309020205020404" pitchFamily="49" charset="0"/>
                <a:cs typeface="Courier New" panose="02070309020205020404" pitchFamily="49" charset="0"/>
              </a:rPr>
              <a:t>swuser</a:t>
            </a:r>
          </a:p>
        </p:txBody>
      </p:sp>
      <p:sp>
        <p:nvSpPr>
          <p:cNvPr id="6" name="object 2">
            <a:extLst>
              <a:ext uri="{FF2B5EF4-FFF2-40B4-BE49-F238E27FC236}">
                <a16:creationId xmlns:a16="http://schemas.microsoft.com/office/drawing/2014/main" id="{7700FF70-4707-44A6-B7A9-8D622F4560C8}"/>
              </a:ext>
            </a:extLst>
          </p:cNvPr>
          <p:cNvSpPr txBox="1"/>
          <p:nvPr/>
        </p:nvSpPr>
        <p:spPr>
          <a:xfrm>
            <a:off x="957307" y="831798"/>
            <a:ext cx="2555163" cy="5897179"/>
          </a:xfrm>
          <a:prstGeom prst="rect">
            <a:avLst/>
          </a:prstGeom>
        </p:spPr>
        <p:txBody>
          <a:bodyPr wrap="square" lIns="0" tIns="16224" rIns="0" bIns="0" rtlCol="0">
            <a:noAutofit/>
          </a:bodyPr>
          <a:lstStyle/>
          <a:p>
            <a:r>
              <a:rPr lang="en-IN" sz="2000" dirty="0">
                <a:effectLst>
                  <a:outerShdw blurRad="38100" dist="38100" dir="2700000" algn="tl">
                    <a:srgbClr val="000000">
                      <a:alpha val="43137"/>
                    </a:srgbClr>
                  </a:outerShdw>
                </a:effectLst>
                <a:cs typeface="Calibri" panose="020F0502020204030204" pitchFamily="34" charset="0"/>
              </a:rPr>
              <a:t>ENV</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b="1" dirty="0">
                <a:solidFill>
                  <a:schemeClr val="bg1"/>
                </a:solidFill>
                <a:effectLst>
                  <a:outerShdw blurRad="38100" dist="38100" dir="2700000" algn="tl">
                    <a:srgbClr val="000000">
                      <a:alpha val="43137"/>
                    </a:srgbClr>
                  </a:outerShdw>
                </a:effectLst>
                <a:cs typeface="Calibri" panose="020F0502020204030204" pitchFamily="34" charset="0"/>
              </a:rPr>
              <a:t>USER</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ARG</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ONBUILD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STOPSIGNAL</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HEALTHCHECK</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SHELL</a:t>
            </a: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b="1" dirty="0">
              <a:solidFill>
                <a:schemeClr val="bg1"/>
              </a:solidFill>
              <a:effectLst>
                <a:outerShdw blurRad="38100" dist="38100" dir="2700000" algn="tl">
                  <a:srgbClr val="000000">
                    <a:alpha val="43137"/>
                  </a:srgbClr>
                </a:outerShdw>
              </a:effectLst>
              <a:cs typeface="Calibri" panose="020F0502020204030204" pitchFamily="34" charset="0"/>
            </a:endParaRPr>
          </a:p>
          <a:p>
            <a:endParaRPr lang="en-IN" sz="2400" dirty="0">
              <a:latin typeface="Aparajita" panose="02020603050405020304" pitchFamily="18" charset="0"/>
              <a:cs typeface="Aparajita" panose="02020603050405020304" pitchFamily="18" charset="0"/>
            </a:endParaRPr>
          </a:p>
          <a:p>
            <a:endParaRPr lang="en-US" sz="2000" dirty="0">
              <a:solidFill>
                <a:srgbClr val="000000"/>
              </a:solidFill>
            </a:endParaRPr>
          </a:p>
        </p:txBody>
      </p:sp>
    </p:spTree>
    <p:extLst>
      <p:ext uri="{BB962C8B-B14F-4D97-AF65-F5344CB8AC3E}">
        <p14:creationId xmlns:p14="http://schemas.microsoft.com/office/powerpoint/2010/main" val="3311065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8A714E-4BA8-480D-A48A-89D2B7603421}"/>
              </a:ext>
            </a:extLst>
          </p:cNvPr>
          <p:cNvSpPr/>
          <p:nvPr/>
        </p:nvSpPr>
        <p:spPr>
          <a:xfrm>
            <a:off x="429261" y="755833"/>
            <a:ext cx="2138289" cy="60107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4369895"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Dockerfile Instructions</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p:cNvSpPr txBox="1"/>
          <p:nvPr/>
        </p:nvSpPr>
        <p:spPr>
          <a:xfrm>
            <a:off x="2883877" y="755833"/>
            <a:ext cx="7661499" cy="5615520"/>
          </a:xfrm>
          <a:prstGeom prst="rect">
            <a:avLst/>
          </a:prstGeom>
        </p:spPr>
        <p:txBody>
          <a:bodyPr wrap="square" lIns="0" tIns="16224" rIns="0" bIns="0" rtlCol="0">
            <a:noAutofit/>
          </a:bodyPr>
          <a:lstStyle/>
          <a:p>
            <a:pPr algn="ctr"/>
            <a:r>
              <a:rPr lang="en-IN" sz="2000" b="1" u="sng" dirty="0">
                <a:effectLst>
                  <a:outerShdw blurRad="38100" dist="38100" dir="2700000" algn="tl">
                    <a:srgbClr val="000000">
                      <a:alpha val="43137"/>
                    </a:srgbClr>
                  </a:outerShdw>
                </a:effectLst>
                <a:cs typeface="Calibri" panose="020F0502020204030204" pitchFamily="34" charset="0"/>
              </a:rPr>
              <a:t>ARG</a:t>
            </a:r>
          </a:p>
          <a:p>
            <a:endParaRPr lang="en-IN" sz="2400" dirty="0">
              <a:cs typeface="Calibri" panose="020F0502020204030204" pitchFamily="34" charset="0"/>
            </a:endParaRPr>
          </a:p>
          <a:p>
            <a:r>
              <a:rPr lang="en-US" sz="2000" b="1" dirty="0">
                <a:solidFill>
                  <a:srgbClr val="000000"/>
                </a:solidFill>
              </a:rPr>
              <a:t>Syntax</a:t>
            </a:r>
            <a:r>
              <a:rPr lang="en-US" sz="1600" i="1" dirty="0">
                <a:solidFill>
                  <a:srgbClr val="000000"/>
                </a:solidFill>
                <a:latin typeface="Courier New" panose="02070309020205020404" pitchFamily="49" charset="0"/>
                <a:cs typeface="Courier New" panose="02070309020205020404" pitchFamily="49" charset="0"/>
              </a:rPr>
              <a:t>: ARG &lt;Key&gt;=&lt;Value&gt;</a:t>
            </a:r>
          </a:p>
          <a:p>
            <a:endParaRPr lang="en-US" sz="2000" dirty="0">
              <a:solidFill>
                <a:srgbClr val="000000"/>
              </a:solidFill>
            </a:endParaRPr>
          </a:p>
          <a:p>
            <a:r>
              <a:rPr lang="en-US" sz="2000" dirty="0">
                <a:solidFill>
                  <a:srgbClr val="000000"/>
                </a:solidFill>
              </a:rPr>
              <a:t>You can use the </a:t>
            </a:r>
            <a:r>
              <a:rPr lang="en-US" sz="1600" i="1" dirty="0">
                <a:solidFill>
                  <a:srgbClr val="000000"/>
                </a:solidFill>
                <a:latin typeface="Courier New" panose="02070309020205020404" pitchFamily="49" charset="0"/>
                <a:cs typeface="Courier New" panose="02070309020205020404" pitchFamily="49" charset="0"/>
              </a:rPr>
              <a:t>ARG</a:t>
            </a:r>
            <a:r>
              <a:rPr lang="en-US" sz="2000" dirty="0">
                <a:solidFill>
                  <a:srgbClr val="000000"/>
                </a:solidFill>
              </a:rPr>
              <a:t> command inside a Dockerfile to define the name of a parameter and its default value. This default value can also be overridden using a simple option with the Docker build command. The difference between </a:t>
            </a:r>
            <a:r>
              <a:rPr lang="en-US" sz="1600" i="1" dirty="0">
                <a:solidFill>
                  <a:srgbClr val="000000"/>
                </a:solidFill>
                <a:latin typeface="Courier New" panose="02070309020205020404" pitchFamily="49" charset="0"/>
                <a:cs typeface="Courier New" panose="02070309020205020404" pitchFamily="49" charset="0"/>
              </a:rPr>
              <a:t>ENV</a:t>
            </a:r>
            <a:r>
              <a:rPr lang="en-US" sz="2000" dirty="0">
                <a:solidFill>
                  <a:srgbClr val="000000"/>
                </a:solidFill>
              </a:rPr>
              <a:t> and </a:t>
            </a:r>
            <a:r>
              <a:rPr lang="en-US" sz="1600" i="1" dirty="0">
                <a:solidFill>
                  <a:srgbClr val="000000"/>
                </a:solidFill>
                <a:latin typeface="Courier New" panose="02070309020205020404" pitchFamily="49" charset="0"/>
                <a:cs typeface="Courier New" panose="02070309020205020404" pitchFamily="49" charset="0"/>
              </a:rPr>
              <a:t>ARG</a:t>
            </a:r>
            <a:r>
              <a:rPr lang="en-US" sz="2000" dirty="0">
                <a:solidFill>
                  <a:srgbClr val="000000"/>
                </a:solidFill>
              </a:rPr>
              <a:t> is that the </a:t>
            </a:r>
            <a:r>
              <a:rPr lang="en-US" sz="1600" i="1" dirty="0">
                <a:solidFill>
                  <a:srgbClr val="000000"/>
                </a:solidFill>
                <a:latin typeface="Courier New" panose="02070309020205020404" pitchFamily="49" charset="0"/>
                <a:cs typeface="Courier New" panose="02070309020205020404" pitchFamily="49" charset="0"/>
              </a:rPr>
              <a:t>ENV</a:t>
            </a:r>
            <a:r>
              <a:rPr lang="en-US" sz="2000" dirty="0">
                <a:solidFill>
                  <a:srgbClr val="000000"/>
                </a:solidFill>
              </a:rPr>
              <a:t> will persist when container run whereas user can pass </a:t>
            </a:r>
            <a:r>
              <a:rPr lang="en-US" sz="1600" i="1" dirty="0">
                <a:solidFill>
                  <a:srgbClr val="000000"/>
                </a:solidFill>
                <a:latin typeface="Courier New" panose="02070309020205020404" pitchFamily="49" charset="0"/>
                <a:cs typeface="Courier New" panose="02070309020205020404" pitchFamily="49" charset="0"/>
              </a:rPr>
              <a:t>ARG</a:t>
            </a:r>
            <a:r>
              <a:rPr lang="en-US" sz="2000" dirty="0">
                <a:solidFill>
                  <a:srgbClr val="000000"/>
                </a:solidFill>
              </a:rPr>
              <a:t> at build time.</a:t>
            </a:r>
          </a:p>
          <a:p>
            <a:endParaRPr lang="en-IN" sz="2000" dirty="0">
              <a:solidFill>
                <a:srgbClr val="000000"/>
              </a:solidFill>
            </a:endParaRPr>
          </a:p>
          <a:p>
            <a:r>
              <a:rPr lang="en-IN" sz="2000" b="1" dirty="0">
                <a:solidFill>
                  <a:srgbClr val="000000"/>
                </a:solidFill>
              </a:rPr>
              <a:t>Example:</a:t>
            </a:r>
          </a:p>
          <a:p>
            <a:endParaRPr lang="en-IN" sz="2000" dirty="0">
              <a:solidFill>
                <a:srgbClr val="000000"/>
              </a:solidFill>
            </a:endParaRPr>
          </a:p>
          <a:p>
            <a:r>
              <a:rPr lang="en-IN" sz="1600" i="1" dirty="0">
                <a:solidFill>
                  <a:srgbClr val="000000"/>
                </a:solidFill>
                <a:latin typeface="Courier New" panose="02070309020205020404" pitchFamily="49" charset="0"/>
                <a:cs typeface="Courier New" panose="02070309020205020404" pitchFamily="49" charset="0"/>
              </a:rPr>
              <a:t>ARG </a:t>
            </a:r>
            <a:r>
              <a:rPr lang="en-IN" sz="1600" i="1" dirty="0">
                <a:solidFill>
                  <a:srgbClr val="FF0000"/>
                </a:solidFill>
                <a:latin typeface="Courier New" panose="02070309020205020404" pitchFamily="49" charset="0"/>
                <a:cs typeface="Courier New" panose="02070309020205020404" pitchFamily="49" charset="0"/>
              </a:rPr>
              <a:t>Greet=Greeks</a:t>
            </a:r>
          </a:p>
        </p:txBody>
      </p:sp>
      <p:sp>
        <p:nvSpPr>
          <p:cNvPr id="6" name="object 2">
            <a:extLst>
              <a:ext uri="{FF2B5EF4-FFF2-40B4-BE49-F238E27FC236}">
                <a16:creationId xmlns:a16="http://schemas.microsoft.com/office/drawing/2014/main" id="{7700FF70-4707-44A6-B7A9-8D622F4560C8}"/>
              </a:ext>
            </a:extLst>
          </p:cNvPr>
          <p:cNvSpPr txBox="1"/>
          <p:nvPr/>
        </p:nvSpPr>
        <p:spPr>
          <a:xfrm>
            <a:off x="957307" y="831798"/>
            <a:ext cx="2555163" cy="5897179"/>
          </a:xfrm>
          <a:prstGeom prst="rect">
            <a:avLst/>
          </a:prstGeom>
        </p:spPr>
        <p:txBody>
          <a:bodyPr wrap="square" lIns="0" tIns="16224" rIns="0" bIns="0" rtlCol="0">
            <a:noAutofit/>
          </a:bodyPr>
          <a:lstStyle/>
          <a:p>
            <a:r>
              <a:rPr lang="en-IN" sz="2000" dirty="0">
                <a:effectLst>
                  <a:outerShdw blurRad="38100" dist="38100" dir="2700000" algn="tl">
                    <a:srgbClr val="000000">
                      <a:alpha val="43137"/>
                    </a:srgbClr>
                  </a:outerShdw>
                </a:effectLst>
                <a:cs typeface="Calibri" panose="020F0502020204030204" pitchFamily="34" charset="0"/>
              </a:rPr>
              <a:t>ENV</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USER</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b="1" dirty="0">
                <a:solidFill>
                  <a:schemeClr val="bg1"/>
                </a:solidFill>
                <a:effectLst>
                  <a:outerShdw blurRad="38100" dist="38100" dir="2700000" algn="tl">
                    <a:srgbClr val="000000">
                      <a:alpha val="43137"/>
                    </a:srgbClr>
                  </a:outerShdw>
                </a:effectLst>
                <a:cs typeface="Calibri" panose="020F0502020204030204" pitchFamily="34" charset="0"/>
              </a:rPr>
              <a:t>ARG</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ONBUILD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STOPSIGNAL</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HEALTHCHECK</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SHELL</a:t>
            </a: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b="1" dirty="0">
              <a:solidFill>
                <a:schemeClr val="bg1"/>
              </a:solidFill>
              <a:effectLst>
                <a:outerShdw blurRad="38100" dist="38100" dir="2700000" algn="tl">
                  <a:srgbClr val="000000">
                    <a:alpha val="43137"/>
                  </a:srgbClr>
                </a:outerShdw>
              </a:effectLst>
              <a:cs typeface="Calibri" panose="020F0502020204030204" pitchFamily="34" charset="0"/>
            </a:endParaRPr>
          </a:p>
          <a:p>
            <a:endParaRPr lang="en-IN" sz="2400" dirty="0">
              <a:latin typeface="Aparajita" panose="02020603050405020304" pitchFamily="18" charset="0"/>
              <a:cs typeface="Aparajita" panose="02020603050405020304" pitchFamily="18" charset="0"/>
            </a:endParaRPr>
          </a:p>
          <a:p>
            <a:endParaRPr lang="en-US" sz="2000" dirty="0">
              <a:solidFill>
                <a:srgbClr val="000000"/>
              </a:solidFill>
            </a:endParaRPr>
          </a:p>
        </p:txBody>
      </p:sp>
    </p:spTree>
    <p:extLst>
      <p:ext uri="{BB962C8B-B14F-4D97-AF65-F5344CB8AC3E}">
        <p14:creationId xmlns:p14="http://schemas.microsoft.com/office/powerpoint/2010/main" val="2365184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8A714E-4BA8-480D-A48A-89D2B7603421}"/>
              </a:ext>
            </a:extLst>
          </p:cNvPr>
          <p:cNvSpPr/>
          <p:nvPr/>
        </p:nvSpPr>
        <p:spPr>
          <a:xfrm>
            <a:off x="429261" y="755833"/>
            <a:ext cx="2138289" cy="60107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4369895"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Dockerfile Instructions</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p:cNvSpPr txBox="1"/>
          <p:nvPr/>
        </p:nvSpPr>
        <p:spPr>
          <a:xfrm>
            <a:off x="2883877" y="755833"/>
            <a:ext cx="7661499" cy="5615520"/>
          </a:xfrm>
          <a:prstGeom prst="rect">
            <a:avLst/>
          </a:prstGeom>
        </p:spPr>
        <p:txBody>
          <a:bodyPr wrap="square" lIns="0" tIns="16224" rIns="0" bIns="0" rtlCol="0">
            <a:noAutofit/>
          </a:bodyPr>
          <a:lstStyle/>
          <a:p>
            <a:pPr algn="ctr"/>
            <a:r>
              <a:rPr lang="en-IN" sz="2000" b="1" u="sng" dirty="0">
                <a:effectLst>
                  <a:outerShdw blurRad="38100" dist="38100" dir="2700000" algn="tl">
                    <a:srgbClr val="000000">
                      <a:alpha val="43137"/>
                    </a:srgbClr>
                  </a:outerShdw>
                </a:effectLst>
                <a:cs typeface="Calibri" panose="020F0502020204030204" pitchFamily="34" charset="0"/>
              </a:rPr>
              <a:t>ONBUILD</a:t>
            </a:r>
          </a:p>
          <a:p>
            <a:endParaRPr lang="en-IN" sz="2400" dirty="0">
              <a:cs typeface="Calibri" panose="020F0502020204030204" pitchFamily="34" charset="0"/>
            </a:endParaRPr>
          </a:p>
          <a:p>
            <a:r>
              <a:rPr lang="en-US" sz="2000" b="1" dirty="0">
                <a:solidFill>
                  <a:srgbClr val="000000"/>
                </a:solidFill>
              </a:rPr>
              <a:t>Syntax</a:t>
            </a:r>
            <a:r>
              <a:rPr lang="en-US" sz="1600" i="1" dirty="0">
                <a:solidFill>
                  <a:srgbClr val="000000"/>
                </a:solidFill>
                <a:latin typeface="Courier New" panose="02070309020205020404" pitchFamily="49" charset="0"/>
                <a:cs typeface="Courier New" panose="02070309020205020404" pitchFamily="49" charset="0"/>
              </a:rPr>
              <a:t>: ONBUILD &lt;INSTRUCTION&gt;</a:t>
            </a:r>
          </a:p>
          <a:p>
            <a:endParaRPr lang="en-US" sz="2000" dirty="0">
              <a:solidFill>
                <a:srgbClr val="000000"/>
              </a:solidFill>
            </a:endParaRPr>
          </a:p>
          <a:p>
            <a:r>
              <a:rPr lang="en-US" sz="2000" dirty="0">
                <a:solidFill>
                  <a:srgbClr val="000000"/>
                </a:solidFill>
              </a:rPr>
              <a:t>An </a:t>
            </a:r>
            <a:r>
              <a:rPr lang="en-US" sz="1600" i="1" dirty="0">
                <a:solidFill>
                  <a:srgbClr val="000000"/>
                </a:solidFill>
                <a:latin typeface="Courier New" panose="02070309020205020404" pitchFamily="49" charset="0"/>
                <a:cs typeface="Courier New" panose="02070309020205020404" pitchFamily="49" charset="0"/>
              </a:rPr>
              <a:t>ONBUILD</a:t>
            </a:r>
            <a:r>
              <a:rPr lang="en-US" sz="2000" dirty="0">
                <a:solidFill>
                  <a:srgbClr val="000000"/>
                </a:solidFill>
              </a:rPr>
              <a:t> command executes after the current Dockerfile build completes. </a:t>
            </a:r>
            <a:r>
              <a:rPr lang="en-US" sz="1600" i="1" dirty="0">
                <a:solidFill>
                  <a:srgbClr val="000000"/>
                </a:solidFill>
                <a:latin typeface="Courier New" panose="02070309020205020404" pitchFamily="49" charset="0"/>
                <a:cs typeface="Courier New" panose="02070309020205020404" pitchFamily="49" charset="0"/>
              </a:rPr>
              <a:t>ONBUILD</a:t>
            </a:r>
            <a:r>
              <a:rPr lang="en-US" sz="2000" dirty="0">
                <a:solidFill>
                  <a:srgbClr val="000000"/>
                </a:solidFill>
              </a:rPr>
              <a:t> executes in any child image derived FROM the current image. Think of the </a:t>
            </a:r>
            <a:r>
              <a:rPr lang="en-US" sz="1600" i="1" dirty="0">
                <a:solidFill>
                  <a:srgbClr val="000000"/>
                </a:solidFill>
                <a:latin typeface="Courier New" panose="02070309020205020404" pitchFamily="49" charset="0"/>
                <a:cs typeface="Courier New" panose="02070309020205020404" pitchFamily="49" charset="0"/>
              </a:rPr>
              <a:t>ONBUILD</a:t>
            </a:r>
            <a:r>
              <a:rPr lang="en-US" sz="2000" dirty="0">
                <a:solidFill>
                  <a:srgbClr val="000000"/>
                </a:solidFill>
              </a:rPr>
              <a:t> command as an instruction that the parent Dockerfile gives to the child Dockerfile.</a:t>
            </a:r>
          </a:p>
          <a:p>
            <a:endParaRPr lang="en-IN" sz="2000" dirty="0">
              <a:solidFill>
                <a:srgbClr val="000000"/>
              </a:solidFill>
            </a:endParaRPr>
          </a:p>
          <a:p>
            <a:r>
              <a:rPr lang="en-IN" sz="2000" b="1" dirty="0">
                <a:solidFill>
                  <a:srgbClr val="000000"/>
                </a:solidFill>
              </a:rPr>
              <a:t>Example:</a:t>
            </a:r>
          </a:p>
          <a:p>
            <a:endParaRPr lang="en-US"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ONBUILD </a:t>
            </a:r>
            <a:r>
              <a:rPr lang="en-US" sz="1600" i="1" dirty="0">
                <a:solidFill>
                  <a:srgbClr val="FF0000"/>
                </a:solidFill>
                <a:latin typeface="Courier New" panose="02070309020205020404" pitchFamily="49" charset="0"/>
                <a:cs typeface="Courier New" panose="02070309020205020404" pitchFamily="49" charset="0"/>
              </a:rPr>
              <a:t>ADD . /app/</a:t>
            </a:r>
            <a:r>
              <a:rPr lang="en-US" sz="1600" i="1" dirty="0" err="1">
                <a:solidFill>
                  <a:srgbClr val="FF0000"/>
                </a:solidFill>
                <a:latin typeface="Courier New" panose="02070309020205020404" pitchFamily="49" charset="0"/>
                <a:cs typeface="Courier New" panose="02070309020205020404" pitchFamily="49" charset="0"/>
              </a:rPr>
              <a:t>src</a:t>
            </a:r>
            <a:endParaRPr lang="en-US" sz="1600" i="1" dirty="0">
              <a:solidFill>
                <a:srgbClr val="FF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ONBUILD </a:t>
            </a:r>
            <a:r>
              <a:rPr lang="en-US" sz="1600" i="1" dirty="0">
                <a:solidFill>
                  <a:srgbClr val="FF0000"/>
                </a:solidFill>
                <a:latin typeface="Courier New" panose="02070309020205020404" pitchFamily="49" charset="0"/>
                <a:cs typeface="Courier New" panose="02070309020205020404" pitchFamily="49" charset="0"/>
              </a:rPr>
              <a:t>RUN /usr/local/bin/python-build --dir /app/</a:t>
            </a:r>
            <a:r>
              <a:rPr lang="en-US" sz="1600" i="1" dirty="0" err="1">
                <a:solidFill>
                  <a:srgbClr val="FF0000"/>
                </a:solidFill>
                <a:latin typeface="Courier New" panose="02070309020205020404" pitchFamily="49" charset="0"/>
                <a:cs typeface="Courier New" panose="02070309020205020404" pitchFamily="49" charset="0"/>
              </a:rPr>
              <a:t>src</a:t>
            </a:r>
            <a:endParaRPr lang="en-IN" sz="1600" i="1" dirty="0">
              <a:solidFill>
                <a:srgbClr val="FF0000"/>
              </a:solidFill>
              <a:latin typeface="Courier New" panose="02070309020205020404" pitchFamily="49" charset="0"/>
              <a:cs typeface="Courier New" panose="02070309020205020404" pitchFamily="49" charset="0"/>
            </a:endParaRPr>
          </a:p>
        </p:txBody>
      </p:sp>
      <p:sp>
        <p:nvSpPr>
          <p:cNvPr id="6" name="object 2">
            <a:extLst>
              <a:ext uri="{FF2B5EF4-FFF2-40B4-BE49-F238E27FC236}">
                <a16:creationId xmlns:a16="http://schemas.microsoft.com/office/drawing/2014/main" id="{7700FF70-4707-44A6-B7A9-8D622F4560C8}"/>
              </a:ext>
            </a:extLst>
          </p:cNvPr>
          <p:cNvSpPr txBox="1"/>
          <p:nvPr/>
        </p:nvSpPr>
        <p:spPr>
          <a:xfrm>
            <a:off x="957307" y="831798"/>
            <a:ext cx="2555163" cy="5897179"/>
          </a:xfrm>
          <a:prstGeom prst="rect">
            <a:avLst/>
          </a:prstGeom>
        </p:spPr>
        <p:txBody>
          <a:bodyPr wrap="square" lIns="0" tIns="16224" rIns="0" bIns="0" rtlCol="0">
            <a:noAutofit/>
          </a:bodyPr>
          <a:lstStyle/>
          <a:p>
            <a:r>
              <a:rPr lang="en-IN" sz="2000" dirty="0">
                <a:effectLst>
                  <a:outerShdw blurRad="38100" dist="38100" dir="2700000" algn="tl">
                    <a:srgbClr val="000000">
                      <a:alpha val="43137"/>
                    </a:srgbClr>
                  </a:outerShdw>
                </a:effectLst>
                <a:cs typeface="Calibri" panose="020F0502020204030204" pitchFamily="34" charset="0"/>
              </a:rPr>
              <a:t>ENV</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USER</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ARG</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b="1" dirty="0">
                <a:solidFill>
                  <a:schemeClr val="bg1"/>
                </a:solidFill>
                <a:effectLst>
                  <a:outerShdw blurRad="38100" dist="38100" dir="2700000" algn="tl">
                    <a:srgbClr val="000000">
                      <a:alpha val="43137"/>
                    </a:srgbClr>
                  </a:outerShdw>
                </a:effectLst>
                <a:cs typeface="Calibri" panose="020F0502020204030204" pitchFamily="34" charset="0"/>
              </a:rPr>
              <a:t>ONBUILD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STOPSIGNAL</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HEALTHCHECK</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SHELL</a:t>
            </a: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b="1" dirty="0">
              <a:solidFill>
                <a:schemeClr val="bg1"/>
              </a:solidFill>
              <a:effectLst>
                <a:outerShdw blurRad="38100" dist="38100" dir="2700000" algn="tl">
                  <a:srgbClr val="000000">
                    <a:alpha val="43137"/>
                  </a:srgbClr>
                </a:outerShdw>
              </a:effectLst>
              <a:cs typeface="Calibri" panose="020F0502020204030204" pitchFamily="34" charset="0"/>
            </a:endParaRPr>
          </a:p>
          <a:p>
            <a:endParaRPr lang="en-IN" sz="2400" dirty="0">
              <a:latin typeface="Aparajita" panose="02020603050405020304" pitchFamily="18" charset="0"/>
              <a:cs typeface="Aparajita" panose="02020603050405020304" pitchFamily="18" charset="0"/>
            </a:endParaRPr>
          </a:p>
          <a:p>
            <a:endParaRPr lang="en-US" sz="2000" dirty="0">
              <a:solidFill>
                <a:srgbClr val="000000"/>
              </a:solidFill>
            </a:endParaRPr>
          </a:p>
        </p:txBody>
      </p:sp>
    </p:spTree>
    <p:extLst>
      <p:ext uri="{BB962C8B-B14F-4D97-AF65-F5344CB8AC3E}">
        <p14:creationId xmlns:p14="http://schemas.microsoft.com/office/powerpoint/2010/main" val="26253749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8A714E-4BA8-480D-A48A-89D2B7603421}"/>
              </a:ext>
            </a:extLst>
          </p:cNvPr>
          <p:cNvSpPr/>
          <p:nvPr/>
        </p:nvSpPr>
        <p:spPr>
          <a:xfrm>
            <a:off x="429261" y="755833"/>
            <a:ext cx="2138289" cy="60107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4369895"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Dockerfile Instructions</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p:cNvSpPr txBox="1"/>
          <p:nvPr/>
        </p:nvSpPr>
        <p:spPr>
          <a:xfrm>
            <a:off x="2883877" y="755833"/>
            <a:ext cx="7661499" cy="5615520"/>
          </a:xfrm>
          <a:prstGeom prst="rect">
            <a:avLst/>
          </a:prstGeom>
        </p:spPr>
        <p:txBody>
          <a:bodyPr wrap="square" lIns="0" tIns="16224" rIns="0" bIns="0" rtlCol="0">
            <a:noAutofit/>
          </a:bodyPr>
          <a:lstStyle/>
          <a:p>
            <a:pPr algn="ctr"/>
            <a:r>
              <a:rPr lang="en-IN" sz="2000" b="1" u="sng" dirty="0">
                <a:effectLst>
                  <a:outerShdw blurRad="38100" dist="38100" dir="2700000" algn="tl">
                    <a:srgbClr val="000000">
                      <a:alpha val="43137"/>
                    </a:srgbClr>
                  </a:outerShdw>
                </a:effectLst>
                <a:cs typeface="Calibri" panose="020F0502020204030204" pitchFamily="34" charset="0"/>
              </a:rPr>
              <a:t>STOPSIGNAL</a:t>
            </a:r>
          </a:p>
          <a:p>
            <a:endParaRPr lang="en-IN" sz="2400" dirty="0">
              <a:cs typeface="Calibri" panose="020F0502020204030204" pitchFamily="34" charset="0"/>
            </a:endParaRPr>
          </a:p>
          <a:p>
            <a:r>
              <a:rPr lang="en-US" sz="2000" b="1" dirty="0">
                <a:solidFill>
                  <a:srgbClr val="000000"/>
                </a:solidFill>
              </a:rPr>
              <a:t>Syntax</a:t>
            </a:r>
            <a:r>
              <a:rPr lang="en-US" sz="1600" i="1" dirty="0">
                <a:solidFill>
                  <a:srgbClr val="000000"/>
                </a:solidFill>
                <a:latin typeface="Courier New" panose="02070309020205020404" pitchFamily="49" charset="0"/>
                <a:cs typeface="Courier New" panose="02070309020205020404" pitchFamily="49" charset="0"/>
              </a:rPr>
              <a:t>: STOPSIGNAL &lt;signal&gt;</a:t>
            </a:r>
          </a:p>
          <a:p>
            <a:endParaRPr lang="en-US" sz="2000" dirty="0">
              <a:solidFill>
                <a:srgbClr val="000000"/>
              </a:solidFill>
            </a:endParaRPr>
          </a:p>
          <a:p>
            <a:r>
              <a:rPr lang="en-US" sz="2000" dirty="0">
                <a:solidFill>
                  <a:srgbClr val="000000"/>
                </a:solidFill>
              </a:rPr>
              <a:t>The </a:t>
            </a:r>
            <a:r>
              <a:rPr lang="en-US" sz="1600" i="1" dirty="0">
                <a:solidFill>
                  <a:srgbClr val="000000"/>
                </a:solidFill>
                <a:latin typeface="Courier New" panose="02070309020205020404" pitchFamily="49" charset="0"/>
                <a:cs typeface="Courier New" panose="02070309020205020404" pitchFamily="49" charset="0"/>
              </a:rPr>
              <a:t>STOPSIGNAL</a:t>
            </a:r>
            <a:r>
              <a:rPr lang="en-US" sz="2000" dirty="0">
                <a:solidFill>
                  <a:srgbClr val="000000"/>
                </a:solidFill>
              </a:rPr>
              <a:t> instruction sets the system call signal that will be sent to the container to exit.</a:t>
            </a:r>
          </a:p>
          <a:p>
            <a:endParaRPr lang="en-IN" sz="2000" dirty="0">
              <a:solidFill>
                <a:srgbClr val="000000"/>
              </a:solidFill>
            </a:endParaRPr>
          </a:p>
          <a:p>
            <a:r>
              <a:rPr lang="en-IN" sz="2000" b="1" dirty="0">
                <a:solidFill>
                  <a:srgbClr val="000000"/>
                </a:solidFill>
              </a:rPr>
              <a:t>Example:</a:t>
            </a:r>
          </a:p>
          <a:p>
            <a:endParaRPr lang="en-US"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STOPSIGNAL </a:t>
            </a:r>
            <a:r>
              <a:rPr lang="en-US" sz="1600" i="1" dirty="0">
                <a:solidFill>
                  <a:srgbClr val="FF0000"/>
                </a:solidFill>
                <a:latin typeface="Courier New" panose="02070309020205020404" pitchFamily="49" charset="0"/>
                <a:cs typeface="Courier New" panose="02070309020205020404" pitchFamily="49" charset="0"/>
              </a:rPr>
              <a:t>SIGKILL</a:t>
            </a:r>
          </a:p>
        </p:txBody>
      </p:sp>
      <p:sp>
        <p:nvSpPr>
          <p:cNvPr id="6" name="object 2">
            <a:extLst>
              <a:ext uri="{FF2B5EF4-FFF2-40B4-BE49-F238E27FC236}">
                <a16:creationId xmlns:a16="http://schemas.microsoft.com/office/drawing/2014/main" id="{7700FF70-4707-44A6-B7A9-8D622F4560C8}"/>
              </a:ext>
            </a:extLst>
          </p:cNvPr>
          <p:cNvSpPr txBox="1"/>
          <p:nvPr/>
        </p:nvSpPr>
        <p:spPr>
          <a:xfrm>
            <a:off x="957307" y="831798"/>
            <a:ext cx="2555163" cy="5897179"/>
          </a:xfrm>
          <a:prstGeom prst="rect">
            <a:avLst/>
          </a:prstGeom>
        </p:spPr>
        <p:txBody>
          <a:bodyPr wrap="square" lIns="0" tIns="16224" rIns="0" bIns="0" rtlCol="0">
            <a:noAutofit/>
          </a:bodyPr>
          <a:lstStyle/>
          <a:p>
            <a:r>
              <a:rPr lang="en-IN" sz="2000" dirty="0">
                <a:effectLst>
                  <a:outerShdw blurRad="38100" dist="38100" dir="2700000" algn="tl">
                    <a:srgbClr val="000000">
                      <a:alpha val="43137"/>
                    </a:srgbClr>
                  </a:outerShdw>
                </a:effectLst>
                <a:cs typeface="Calibri" panose="020F0502020204030204" pitchFamily="34" charset="0"/>
              </a:rPr>
              <a:t>ENV</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USER</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ARG</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ONBUILD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b="1" dirty="0">
                <a:solidFill>
                  <a:schemeClr val="bg1"/>
                </a:solidFill>
                <a:effectLst>
                  <a:outerShdw blurRad="38100" dist="38100" dir="2700000" algn="tl">
                    <a:srgbClr val="000000">
                      <a:alpha val="43137"/>
                    </a:srgbClr>
                  </a:outerShdw>
                </a:effectLst>
                <a:cs typeface="Calibri" panose="020F0502020204030204" pitchFamily="34" charset="0"/>
              </a:rPr>
              <a:t>STOPSIGNAL</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HEALTHCHECK</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SHELL</a:t>
            </a: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b="1" dirty="0">
              <a:solidFill>
                <a:schemeClr val="bg1"/>
              </a:solidFill>
              <a:effectLst>
                <a:outerShdw blurRad="38100" dist="38100" dir="2700000" algn="tl">
                  <a:srgbClr val="000000">
                    <a:alpha val="43137"/>
                  </a:srgbClr>
                </a:outerShdw>
              </a:effectLst>
              <a:cs typeface="Calibri" panose="020F0502020204030204" pitchFamily="34" charset="0"/>
            </a:endParaRPr>
          </a:p>
          <a:p>
            <a:endParaRPr lang="en-IN" sz="2400" dirty="0">
              <a:latin typeface="Aparajita" panose="02020603050405020304" pitchFamily="18" charset="0"/>
              <a:cs typeface="Aparajita" panose="02020603050405020304" pitchFamily="18" charset="0"/>
            </a:endParaRPr>
          </a:p>
          <a:p>
            <a:endParaRPr lang="en-US" sz="2000" dirty="0">
              <a:solidFill>
                <a:srgbClr val="000000"/>
              </a:solidFill>
            </a:endParaRPr>
          </a:p>
        </p:txBody>
      </p:sp>
    </p:spTree>
    <p:extLst>
      <p:ext uri="{BB962C8B-B14F-4D97-AF65-F5344CB8AC3E}">
        <p14:creationId xmlns:p14="http://schemas.microsoft.com/office/powerpoint/2010/main" val="30569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8A714E-4BA8-480D-A48A-89D2B7603421}"/>
              </a:ext>
            </a:extLst>
          </p:cNvPr>
          <p:cNvSpPr/>
          <p:nvPr/>
        </p:nvSpPr>
        <p:spPr>
          <a:xfrm>
            <a:off x="429261" y="755833"/>
            <a:ext cx="2138289" cy="60107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4369895"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Dockerfile Instructions</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p:cNvSpPr txBox="1"/>
          <p:nvPr/>
        </p:nvSpPr>
        <p:spPr>
          <a:xfrm>
            <a:off x="2883877" y="755833"/>
            <a:ext cx="7661499" cy="5615520"/>
          </a:xfrm>
          <a:prstGeom prst="rect">
            <a:avLst/>
          </a:prstGeom>
        </p:spPr>
        <p:txBody>
          <a:bodyPr wrap="square" lIns="0" tIns="16224" rIns="0" bIns="0" rtlCol="0">
            <a:noAutofit/>
          </a:bodyPr>
          <a:lstStyle/>
          <a:p>
            <a:pPr algn="ctr"/>
            <a:r>
              <a:rPr lang="en-IN" sz="2000" b="1" u="sng" dirty="0">
                <a:effectLst>
                  <a:outerShdw blurRad="38100" dist="38100" dir="2700000" algn="tl">
                    <a:srgbClr val="000000">
                      <a:alpha val="43137"/>
                    </a:srgbClr>
                  </a:outerShdw>
                </a:effectLst>
                <a:cs typeface="Calibri" panose="020F0502020204030204" pitchFamily="34" charset="0"/>
              </a:rPr>
              <a:t>HEALTHCHECK</a:t>
            </a:r>
          </a:p>
          <a:p>
            <a:endParaRPr lang="en-IN" sz="2400" dirty="0">
              <a:cs typeface="Calibri" panose="020F0502020204030204" pitchFamily="34" charset="0"/>
            </a:endParaRPr>
          </a:p>
          <a:p>
            <a:r>
              <a:rPr lang="en-US" sz="2000" b="1" dirty="0">
                <a:solidFill>
                  <a:srgbClr val="000000"/>
                </a:solidFill>
              </a:rPr>
              <a:t>Syntax</a:t>
            </a:r>
            <a:r>
              <a:rPr lang="en-US" sz="1600" i="1" dirty="0">
                <a:solidFill>
                  <a:srgbClr val="000000"/>
                </a:solidFill>
                <a:latin typeface="Courier New" panose="02070309020205020404" pitchFamily="49" charset="0"/>
                <a:cs typeface="Courier New" panose="02070309020205020404" pitchFamily="49" charset="0"/>
              </a:rPr>
              <a:t>: HEALTHCHECK &lt;Instruction&gt;</a:t>
            </a:r>
          </a:p>
          <a:p>
            <a:endParaRPr lang="en-US" sz="2000" dirty="0">
              <a:solidFill>
                <a:srgbClr val="000000"/>
              </a:solidFill>
            </a:endParaRPr>
          </a:p>
          <a:p>
            <a:r>
              <a:rPr lang="en-US" sz="2000" dirty="0">
                <a:solidFill>
                  <a:srgbClr val="000000"/>
                </a:solidFill>
              </a:rPr>
              <a:t>The </a:t>
            </a:r>
            <a:r>
              <a:rPr lang="en-US" sz="1600" i="1" dirty="0">
                <a:solidFill>
                  <a:srgbClr val="000000"/>
                </a:solidFill>
                <a:latin typeface="Courier New" panose="02070309020205020404" pitchFamily="49" charset="0"/>
                <a:cs typeface="Courier New" panose="02070309020205020404" pitchFamily="49" charset="0"/>
              </a:rPr>
              <a:t>HEALTHCHECK</a:t>
            </a:r>
            <a:r>
              <a:rPr lang="en-US" sz="2000" dirty="0">
                <a:solidFill>
                  <a:srgbClr val="000000"/>
                </a:solidFill>
              </a:rPr>
              <a:t> instruction tells Docker how to test a container to check that it is still working. This can detect cases such as a web server that is stuck in an infinite loop and unable to handle new connections, even though the server process is still running.</a:t>
            </a:r>
          </a:p>
          <a:p>
            <a:r>
              <a:rPr lang="en-US" sz="2000" dirty="0">
                <a:solidFill>
                  <a:srgbClr val="000000"/>
                </a:solidFill>
              </a:rPr>
              <a:t>The </a:t>
            </a:r>
            <a:r>
              <a:rPr lang="en-US" sz="1600" i="1" dirty="0">
                <a:solidFill>
                  <a:srgbClr val="000000"/>
                </a:solidFill>
                <a:latin typeface="Courier New" panose="02070309020205020404" pitchFamily="49" charset="0"/>
                <a:cs typeface="Courier New" panose="02070309020205020404" pitchFamily="49" charset="0"/>
              </a:rPr>
              <a:t>HEALTHCHECK</a:t>
            </a:r>
            <a:r>
              <a:rPr lang="en-US" sz="2000" dirty="0">
                <a:solidFill>
                  <a:srgbClr val="000000"/>
                </a:solidFill>
              </a:rPr>
              <a:t> instruction has two forms:</a:t>
            </a:r>
          </a:p>
          <a:p>
            <a:r>
              <a:rPr lang="en-US" sz="1600" i="1" dirty="0">
                <a:solidFill>
                  <a:srgbClr val="000000"/>
                </a:solidFill>
                <a:latin typeface="Courier New" panose="02070309020205020404" pitchFamily="49" charset="0"/>
                <a:cs typeface="Courier New" panose="02070309020205020404" pitchFamily="49" charset="0"/>
              </a:rPr>
              <a:t>HEALTHCHECK</a:t>
            </a:r>
            <a:r>
              <a:rPr lang="en-US" sz="2000" dirty="0">
                <a:solidFill>
                  <a:srgbClr val="000000"/>
                </a:solidFill>
              </a:rPr>
              <a:t> </a:t>
            </a:r>
            <a:r>
              <a:rPr lang="en-US" sz="1600" i="1" dirty="0">
                <a:solidFill>
                  <a:srgbClr val="000000"/>
                </a:solidFill>
                <a:latin typeface="Courier New" panose="02070309020205020404" pitchFamily="49" charset="0"/>
                <a:cs typeface="Courier New" panose="02070309020205020404" pitchFamily="49" charset="0"/>
              </a:rPr>
              <a:t>[OPTIONS] CMD</a:t>
            </a:r>
            <a:r>
              <a:rPr lang="en-US" sz="2000" dirty="0">
                <a:solidFill>
                  <a:srgbClr val="000000"/>
                </a:solidFill>
              </a:rPr>
              <a:t> command (check container health by running a command inside the container)</a:t>
            </a:r>
          </a:p>
          <a:p>
            <a:r>
              <a:rPr lang="en-US" sz="1600" i="1" dirty="0">
                <a:solidFill>
                  <a:srgbClr val="000000"/>
                </a:solidFill>
                <a:latin typeface="Courier New" panose="02070309020205020404" pitchFamily="49" charset="0"/>
                <a:cs typeface="Courier New" panose="02070309020205020404" pitchFamily="49" charset="0"/>
              </a:rPr>
              <a:t>HEALTHCHECK NONE </a:t>
            </a:r>
            <a:r>
              <a:rPr lang="en-US" sz="2000" dirty="0">
                <a:solidFill>
                  <a:srgbClr val="000000"/>
                </a:solidFill>
              </a:rPr>
              <a:t>(disable any healthcheck inherited from the base image)</a:t>
            </a:r>
            <a:br>
              <a:rPr lang="en-US" sz="2000" dirty="0">
                <a:solidFill>
                  <a:srgbClr val="000000"/>
                </a:solidFill>
              </a:rPr>
            </a:br>
            <a:endParaRPr lang="en-IN" sz="2000" dirty="0">
              <a:solidFill>
                <a:srgbClr val="000000"/>
              </a:solidFill>
            </a:endParaRPr>
          </a:p>
          <a:p>
            <a:r>
              <a:rPr lang="en-IN" sz="2000" b="1" dirty="0">
                <a:solidFill>
                  <a:srgbClr val="000000"/>
                </a:solidFill>
              </a:rPr>
              <a:t>Example:</a:t>
            </a:r>
          </a:p>
          <a:p>
            <a:endParaRPr lang="en-US"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HEALTHCHECK </a:t>
            </a:r>
            <a:r>
              <a:rPr lang="en-US" sz="1600" i="1" dirty="0">
                <a:solidFill>
                  <a:srgbClr val="FF0000"/>
                </a:solidFill>
                <a:latin typeface="Courier New" panose="02070309020205020404" pitchFamily="49" charset="0"/>
                <a:cs typeface="Courier New" panose="02070309020205020404" pitchFamily="49" charset="0"/>
              </a:rPr>
              <a:t>--interval=5m --timeout=3s \</a:t>
            </a:r>
          </a:p>
          <a:p>
            <a:r>
              <a:rPr lang="en-US" sz="1600" i="1" dirty="0">
                <a:solidFill>
                  <a:srgbClr val="FF0000"/>
                </a:solidFill>
                <a:latin typeface="Courier New" panose="02070309020205020404" pitchFamily="49" charset="0"/>
                <a:cs typeface="Courier New" panose="02070309020205020404" pitchFamily="49" charset="0"/>
              </a:rPr>
              <a:t>  CMD curl -f http://localhost/ || exit 1</a:t>
            </a:r>
          </a:p>
        </p:txBody>
      </p:sp>
      <p:sp>
        <p:nvSpPr>
          <p:cNvPr id="6" name="object 2">
            <a:extLst>
              <a:ext uri="{FF2B5EF4-FFF2-40B4-BE49-F238E27FC236}">
                <a16:creationId xmlns:a16="http://schemas.microsoft.com/office/drawing/2014/main" id="{7700FF70-4707-44A6-B7A9-8D622F4560C8}"/>
              </a:ext>
            </a:extLst>
          </p:cNvPr>
          <p:cNvSpPr txBox="1"/>
          <p:nvPr/>
        </p:nvSpPr>
        <p:spPr>
          <a:xfrm>
            <a:off x="957307" y="831798"/>
            <a:ext cx="2555163" cy="5897179"/>
          </a:xfrm>
          <a:prstGeom prst="rect">
            <a:avLst/>
          </a:prstGeom>
        </p:spPr>
        <p:txBody>
          <a:bodyPr wrap="square" lIns="0" tIns="16224" rIns="0" bIns="0" rtlCol="0">
            <a:noAutofit/>
          </a:bodyPr>
          <a:lstStyle/>
          <a:p>
            <a:r>
              <a:rPr lang="en-IN" sz="2000" dirty="0">
                <a:effectLst>
                  <a:outerShdw blurRad="38100" dist="38100" dir="2700000" algn="tl">
                    <a:srgbClr val="000000">
                      <a:alpha val="43137"/>
                    </a:srgbClr>
                  </a:outerShdw>
                </a:effectLst>
                <a:cs typeface="Calibri" panose="020F0502020204030204" pitchFamily="34" charset="0"/>
              </a:rPr>
              <a:t>ENV</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USER</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ARG</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ONBUILD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STOPSIGNAL</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b="1" dirty="0">
                <a:solidFill>
                  <a:schemeClr val="bg1"/>
                </a:solidFill>
                <a:effectLst>
                  <a:outerShdw blurRad="38100" dist="38100" dir="2700000" algn="tl">
                    <a:srgbClr val="000000">
                      <a:alpha val="43137"/>
                    </a:srgbClr>
                  </a:outerShdw>
                </a:effectLst>
                <a:cs typeface="Calibri" panose="020F0502020204030204" pitchFamily="34" charset="0"/>
              </a:rPr>
              <a:t>HEALTHCHECK</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SHELL</a:t>
            </a: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b="1" dirty="0">
              <a:solidFill>
                <a:schemeClr val="bg1"/>
              </a:solidFill>
              <a:effectLst>
                <a:outerShdw blurRad="38100" dist="38100" dir="2700000" algn="tl">
                  <a:srgbClr val="000000">
                    <a:alpha val="43137"/>
                  </a:srgbClr>
                </a:outerShdw>
              </a:effectLst>
              <a:cs typeface="Calibri" panose="020F0502020204030204" pitchFamily="34" charset="0"/>
            </a:endParaRPr>
          </a:p>
          <a:p>
            <a:endParaRPr lang="en-IN" sz="2400" dirty="0">
              <a:latin typeface="Aparajita" panose="02020603050405020304" pitchFamily="18" charset="0"/>
              <a:cs typeface="Aparajita" panose="02020603050405020304" pitchFamily="18" charset="0"/>
            </a:endParaRPr>
          </a:p>
          <a:p>
            <a:endParaRPr lang="en-US" sz="2000" dirty="0">
              <a:solidFill>
                <a:srgbClr val="000000"/>
              </a:solidFill>
            </a:endParaRPr>
          </a:p>
        </p:txBody>
      </p:sp>
    </p:spTree>
    <p:extLst>
      <p:ext uri="{BB962C8B-B14F-4D97-AF65-F5344CB8AC3E}">
        <p14:creationId xmlns:p14="http://schemas.microsoft.com/office/powerpoint/2010/main" val="38172117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8A714E-4BA8-480D-A48A-89D2B7603421}"/>
              </a:ext>
            </a:extLst>
          </p:cNvPr>
          <p:cNvSpPr/>
          <p:nvPr/>
        </p:nvSpPr>
        <p:spPr>
          <a:xfrm>
            <a:off x="429261" y="755833"/>
            <a:ext cx="2138289" cy="60107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4369895"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Dockerfile Instructions</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p:cNvSpPr txBox="1"/>
          <p:nvPr/>
        </p:nvSpPr>
        <p:spPr>
          <a:xfrm>
            <a:off x="2883877" y="755833"/>
            <a:ext cx="7661499" cy="5615520"/>
          </a:xfrm>
          <a:prstGeom prst="rect">
            <a:avLst/>
          </a:prstGeom>
        </p:spPr>
        <p:txBody>
          <a:bodyPr wrap="square" lIns="0" tIns="16224" rIns="0" bIns="0" rtlCol="0">
            <a:noAutofit/>
          </a:bodyPr>
          <a:lstStyle/>
          <a:p>
            <a:pPr algn="ctr"/>
            <a:r>
              <a:rPr lang="en-IN" sz="2000" b="1" u="sng" dirty="0">
                <a:effectLst>
                  <a:outerShdw blurRad="38100" dist="38100" dir="2700000" algn="tl">
                    <a:srgbClr val="000000">
                      <a:alpha val="43137"/>
                    </a:srgbClr>
                  </a:outerShdw>
                </a:effectLst>
                <a:cs typeface="Calibri" panose="020F0502020204030204" pitchFamily="34" charset="0"/>
              </a:rPr>
              <a:t>SHELL</a:t>
            </a:r>
          </a:p>
          <a:p>
            <a:endParaRPr lang="en-IN" sz="2400" dirty="0">
              <a:cs typeface="Calibri" panose="020F0502020204030204" pitchFamily="34" charset="0"/>
            </a:endParaRPr>
          </a:p>
          <a:p>
            <a:r>
              <a:rPr lang="en-US" sz="2000" b="1" dirty="0">
                <a:solidFill>
                  <a:srgbClr val="000000"/>
                </a:solidFill>
              </a:rPr>
              <a:t>Syntax</a:t>
            </a:r>
            <a:r>
              <a:rPr lang="en-US" sz="1600" i="1" dirty="0">
                <a:solidFill>
                  <a:srgbClr val="000000"/>
                </a:solidFill>
                <a:latin typeface="Courier New" panose="02070309020205020404" pitchFamily="49" charset="0"/>
                <a:cs typeface="Courier New" panose="02070309020205020404" pitchFamily="49" charset="0"/>
              </a:rPr>
              <a:t>: SHELL ["executable", "parameters"]</a:t>
            </a:r>
          </a:p>
          <a:p>
            <a:endParaRPr lang="en-US" sz="2000" dirty="0">
              <a:solidFill>
                <a:srgbClr val="000000"/>
              </a:solidFill>
            </a:endParaRPr>
          </a:p>
          <a:p>
            <a:r>
              <a:rPr lang="en-US" sz="2000" dirty="0">
                <a:solidFill>
                  <a:srgbClr val="000000"/>
                </a:solidFill>
              </a:rPr>
              <a:t>The </a:t>
            </a:r>
            <a:r>
              <a:rPr lang="en-US" sz="1600" i="1" dirty="0">
                <a:solidFill>
                  <a:srgbClr val="000000"/>
                </a:solidFill>
                <a:latin typeface="Courier New" panose="02070309020205020404" pitchFamily="49" charset="0"/>
                <a:cs typeface="Courier New" panose="02070309020205020404" pitchFamily="49" charset="0"/>
              </a:rPr>
              <a:t>SHELL</a:t>
            </a:r>
            <a:r>
              <a:rPr lang="en-US" sz="2000" dirty="0">
                <a:solidFill>
                  <a:srgbClr val="000000"/>
                </a:solidFill>
              </a:rPr>
              <a:t> instruction allows the default shell used for the shell form of commands to be overridden. The default shell on Linux is </a:t>
            </a:r>
            <a:r>
              <a:rPr lang="en-US" sz="1600" i="1" dirty="0">
                <a:solidFill>
                  <a:srgbClr val="000000"/>
                </a:solidFill>
                <a:latin typeface="Courier New" panose="02070309020205020404" pitchFamily="49" charset="0"/>
                <a:cs typeface="Courier New" panose="02070309020205020404" pitchFamily="49" charset="0"/>
              </a:rPr>
              <a:t>["/bin/</a:t>
            </a:r>
            <a:r>
              <a:rPr lang="en-US" sz="1600" i="1" dirty="0" err="1">
                <a:solidFill>
                  <a:srgbClr val="000000"/>
                </a:solidFill>
                <a:latin typeface="Courier New" panose="02070309020205020404" pitchFamily="49" charset="0"/>
                <a:cs typeface="Courier New" panose="02070309020205020404" pitchFamily="49" charset="0"/>
              </a:rPr>
              <a:t>sh</a:t>
            </a:r>
            <a:r>
              <a:rPr lang="en-US" sz="1600" i="1" dirty="0">
                <a:solidFill>
                  <a:srgbClr val="000000"/>
                </a:solidFill>
                <a:latin typeface="Courier New" panose="02070309020205020404" pitchFamily="49" charset="0"/>
                <a:cs typeface="Courier New" panose="02070309020205020404" pitchFamily="49" charset="0"/>
              </a:rPr>
              <a:t>", "-c"]</a:t>
            </a:r>
            <a:r>
              <a:rPr lang="en-US" sz="2000" dirty="0">
                <a:solidFill>
                  <a:srgbClr val="000000"/>
                </a:solidFill>
              </a:rPr>
              <a:t>, and on Windows is </a:t>
            </a:r>
            <a:r>
              <a:rPr lang="en-US" sz="1600" i="1" dirty="0">
                <a:solidFill>
                  <a:srgbClr val="000000"/>
                </a:solidFill>
                <a:latin typeface="Courier New" panose="02070309020205020404" pitchFamily="49" charset="0"/>
                <a:cs typeface="Courier New" panose="02070309020205020404" pitchFamily="49" charset="0"/>
              </a:rPr>
              <a:t>["cmd", "/S", "/C"]. </a:t>
            </a:r>
            <a:r>
              <a:rPr lang="en-US" sz="2000" dirty="0">
                <a:solidFill>
                  <a:srgbClr val="000000"/>
                </a:solidFill>
              </a:rPr>
              <a:t>The </a:t>
            </a:r>
            <a:r>
              <a:rPr lang="en-US" sz="1600" i="1" dirty="0">
                <a:solidFill>
                  <a:srgbClr val="000000"/>
                </a:solidFill>
                <a:latin typeface="Courier New" panose="02070309020205020404" pitchFamily="49" charset="0"/>
                <a:cs typeface="Courier New" panose="02070309020205020404" pitchFamily="49" charset="0"/>
              </a:rPr>
              <a:t>SHELL</a:t>
            </a:r>
            <a:r>
              <a:rPr lang="en-US" sz="2000" dirty="0">
                <a:solidFill>
                  <a:srgbClr val="000000"/>
                </a:solidFill>
              </a:rPr>
              <a:t> instruction must be written in JSON form in a Dockerfile.</a:t>
            </a:r>
          </a:p>
          <a:p>
            <a:endParaRPr lang="en-US" sz="2000" dirty="0">
              <a:solidFill>
                <a:srgbClr val="000000"/>
              </a:solidFill>
            </a:endParaRPr>
          </a:p>
          <a:p>
            <a:r>
              <a:rPr lang="en-US" sz="2000" dirty="0">
                <a:solidFill>
                  <a:srgbClr val="000000"/>
                </a:solidFill>
              </a:rPr>
              <a:t>The </a:t>
            </a:r>
            <a:r>
              <a:rPr lang="en-US" sz="1600" i="1" dirty="0">
                <a:solidFill>
                  <a:srgbClr val="000000"/>
                </a:solidFill>
                <a:latin typeface="Courier New" panose="02070309020205020404" pitchFamily="49" charset="0"/>
                <a:cs typeface="Courier New" panose="02070309020205020404" pitchFamily="49" charset="0"/>
              </a:rPr>
              <a:t>SHELL</a:t>
            </a:r>
            <a:r>
              <a:rPr lang="en-US" sz="2000" dirty="0">
                <a:solidFill>
                  <a:srgbClr val="000000"/>
                </a:solidFill>
              </a:rPr>
              <a:t> instruction is particularly useful on Windows where there are two commonly used and quite different native shells: cmd and powershell, as well as alternate shells available including sh.</a:t>
            </a:r>
            <a:br>
              <a:rPr lang="en-US" sz="2000" dirty="0">
                <a:solidFill>
                  <a:srgbClr val="000000"/>
                </a:solidFill>
              </a:rPr>
            </a:br>
            <a:endParaRPr lang="en-IN" sz="2000" dirty="0">
              <a:solidFill>
                <a:srgbClr val="000000"/>
              </a:solidFill>
            </a:endParaRPr>
          </a:p>
          <a:p>
            <a:r>
              <a:rPr lang="en-IN" sz="2000" b="1" dirty="0">
                <a:solidFill>
                  <a:srgbClr val="000000"/>
                </a:solidFill>
              </a:rPr>
              <a:t>Example:</a:t>
            </a:r>
          </a:p>
          <a:p>
            <a:endParaRPr lang="en-IN" sz="2000" b="1" dirty="0">
              <a:solidFill>
                <a:srgbClr val="000000"/>
              </a:solidFill>
            </a:endParaRPr>
          </a:p>
          <a:p>
            <a:r>
              <a:rPr lang="en-US" sz="1600" i="1" dirty="0">
                <a:solidFill>
                  <a:srgbClr val="000000"/>
                </a:solidFill>
                <a:latin typeface="Courier New" panose="02070309020205020404" pitchFamily="49" charset="0"/>
                <a:cs typeface="Courier New" panose="02070309020205020404" pitchFamily="49" charset="0"/>
              </a:rPr>
              <a:t>SHELL</a:t>
            </a:r>
            <a:r>
              <a:rPr lang="en-US" sz="1600" i="1" dirty="0">
                <a:solidFill>
                  <a:srgbClr val="FF0000"/>
                </a:solidFill>
                <a:latin typeface="Courier New" panose="02070309020205020404" pitchFamily="49" charset="0"/>
                <a:cs typeface="Courier New" panose="02070309020205020404" pitchFamily="49" charset="0"/>
              </a:rPr>
              <a:t> ["powershell", "-command"]</a:t>
            </a:r>
          </a:p>
        </p:txBody>
      </p:sp>
      <p:sp>
        <p:nvSpPr>
          <p:cNvPr id="6" name="object 2">
            <a:extLst>
              <a:ext uri="{FF2B5EF4-FFF2-40B4-BE49-F238E27FC236}">
                <a16:creationId xmlns:a16="http://schemas.microsoft.com/office/drawing/2014/main" id="{7700FF70-4707-44A6-B7A9-8D622F4560C8}"/>
              </a:ext>
            </a:extLst>
          </p:cNvPr>
          <p:cNvSpPr txBox="1"/>
          <p:nvPr/>
        </p:nvSpPr>
        <p:spPr>
          <a:xfrm>
            <a:off x="957307" y="831798"/>
            <a:ext cx="2555163" cy="5897179"/>
          </a:xfrm>
          <a:prstGeom prst="rect">
            <a:avLst/>
          </a:prstGeom>
        </p:spPr>
        <p:txBody>
          <a:bodyPr wrap="square" lIns="0" tIns="16224" rIns="0" bIns="0" rtlCol="0">
            <a:noAutofit/>
          </a:bodyPr>
          <a:lstStyle/>
          <a:p>
            <a:r>
              <a:rPr lang="en-IN" sz="2000" dirty="0">
                <a:effectLst>
                  <a:outerShdw blurRad="38100" dist="38100" dir="2700000" algn="tl">
                    <a:srgbClr val="000000">
                      <a:alpha val="43137"/>
                    </a:srgbClr>
                  </a:outerShdw>
                </a:effectLst>
                <a:cs typeface="Calibri" panose="020F0502020204030204" pitchFamily="34" charset="0"/>
              </a:rPr>
              <a:t>ENV</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USER</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ARG</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ONBUILD</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STOPSIGNAL</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dirty="0">
                <a:effectLst>
                  <a:outerShdw blurRad="38100" dist="38100" dir="2700000" algn="tl">
                    <a:srgbClr val="000000">
                      <a:alpha val="43137"/>
                    </a:srgbClr>
                  </a:outerShdw>
                </a:effectLst>
                <a:cs typeface="Calibri" panose="020F0502020204030204" pitchFamily="34" charset="0"/>
              </a:rPr>
              <a:t>HEALTHCHECK</a:t>
            </a:r>
          </a:p>
          <a:p>
            <a:endParaRPr lang="en-IN" sz="2000" dirty="0">
              <a:effectLst>
                <a:outerShdw blurRad="38100" dist="38100" dir="2700000" algn="tl">
                  <a:srgbClr val="000000">
                    <a:alpha val="43137"/>
                  </a:srgbClr>
                </a:outerShdw>
              </a:effectLst>
              <a:cs typeface="Calibri" panose="020F0502020204030204" pitchFamily="34" charset="0"/>
            </a:endParaRPr>
          </a:p>
          <a:p>
            <a:r>
              <a:rPr lang="en-IN" sz="2000" b="1" dirty="0">
                <a:solidFill>
                  <a:schemeClr val="bg1"/>
                </a:solidFill>
                <a:effectLst>
                  <a:outerShdw blurRad="38100" dist="38100" dir="2700000" algn="tl">
                    <a:srgbClr val="000000">
                      <a:alpha val="43137"/>
                    </a:srgbClr>
                  </a:outerShdw>
                </a:effectLst>
                <a:cs typeface="Calibri" panose="020F0502020204030204" pitchFamily="34" charset="0"/>
              </a:rPr>
              <a:t>SHELL</a:t>
            </a: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dirty="0">
              <a:effectLst>
                <a:outerShdw blurRad="38100" dist="38100" dir="2700000" algn="tl">
                  <a:srgbClr val="000000">
                    <a:alpha val="43137"/>
                  </a:srgbClr>
                </a:outerShdw>
              </a:effectLst>
              <a:cs typeface="Calibri" panose="020F0502020204030204" pitchFamily="34" charset="0"/>
            </a:endParaRPr>
          </a:p>
          <a:p>
            <a:endParaRPr lang="en-IN" sz="2000" b="1" dirty="0">
              <a:solidFill>
                <a:schemeClr val="bg1"/>
              </a:solidFill>
              <a:effectLst>
                <a:outerShdw blurRad="38100" dist="38100" dir="2700000" algn="tl">
                  <a:srgbClr val="000000">
                    <a:alpha val="43137"/>
                  </a:srgbClr>
                </a:outerShdw>
              </a:effectLst>
              <a:cs typeface="Calibri" panose="020F0502020204030204" pitchFamily="34" charset="0"/>
            </a:endParaRPr>
          </a:p>
          <a:p>
            <a:endParaRPr lang="en-IN" sz="2400" dirty="0">
              <a:latin typeface="Aparajita" panose="02020603050405020304" pitchFamily="18" charset="0"/>
              <a:cs typeface="Aparajita" panose="02020603050405020304" pitchFamily="18" charset="0"/>
            </a:endParaRPr>
          </a:p>
          <a:p>
            <a:endParaRPr lang="en-US" sz="2000" dirty="0">
              <a:solidFill>
                <a:srgbClr val="000000"/>
              </a:solidFill>
            </a:endParaRPr>
          </a:p>
        </p:txBody>
      </p:sp>
    </p:spTree>
    <p:extLst>
      <p:ext uri="{BB962C8B-B14F-4D97-AF65-F5344CB8AC3E}">
        <p14:creationId xmlns:p14="http://schemas.microsoft.com/office/powerpoint/2010/main" val="28765262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3258547"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Dockerfile Example</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8" name="TextBox 7">
            <a:extLst>
              <a:ext uri="{FF2B5EF4-FFF2-40B4-BE49-F238E27FC236}">
                <a16:creationId xmlns:a16="http://schemas.microsoft.com/office/drawing/2014/main" id="{012640A8-362E-4EE1-B4D6-07EB01294FE6}"/>
              </a:ext>
            </a:extLst>
          </p:cNvPr>
          <p:cNvSpPr txBox="1"/>
          <p:nvPr/>
        </p:nvSpPr>
        <p:spPr>
          <a:xfrm>
            <a:off x="429260" y="3544327"/>
            <a:ext cx="9784079" cy="2185214"/>
          </a:xfrm>
          <a:prstGeom prst="rect">
            <a:avLst/>
          </a:prstGeom>
          <a:noFill/>
        </p:spPr>
        <p:txBody>
          <a:bodyPr wrap="square" rtlCol="0">
            <a:spAutoFit/>
          </a:bodyPr>
          <a:lstStyle/>
          <a:p>
            <a:endParaRPr lang="en-IN" i="1" dirty="0">
              <a:solidFill>
                <a:srgbClr val="000000"/>
              </a:solidFill>
              <a:latin typeface="Courier New" panose="02070309020205020404" pitchFamily="49" charset="0"/>
              <a:cs typeface="Courier New" panose="02070309020205020404" pitchFamily="49" charset="0"/>
            </a:endParaRPr>
          </a:p>
          <a:p>
            <a:endParaRPr lang="en-IN" b="1" i="1" u="sng" dirty="0">
              <a:solidFill>
                <a:srgbClr val="000000"/>
              </a:solidFill>
              <a:latin typeface="Courier New" panose="02070309020205020404" pitchFamily="49" charset="0"/>
              <a:cs typeface="Courier New" panose="02070309020205020404" pitchFamily="49" charset="0"/>
            </a:endParaRPr>
          </a:p>
          <a:p>
            <a:r>
              <a:rPr lang="en-IN" sz="2000" b="1" u="sng" dirty="0">
                <a:solidFill>
                  <a:srgbClr val="000000"/>
                </a:solidFill>
              </a:rPr>
              <a:t>Command to build dockerfile</a:t>
            </a:r>
            <a:r>
              <a:rPr lang="en-IN" sz="2000" b="1" u="sng" dirty="0">
                <a:solidFill>
                  <a:srgbClr val="000000"/>
                </a:solidFill>
                <a:latin typeface="Courier New" panose="02070309020205020404" pitchFamily="49" charset="0"/>
                <a:cs typeface="Courier New" panose="02070309020205020404" pitchFamily="49" charset="0"/>
              </a:rPr>
              <a:t>:</a:t>
            </a:r>
          </a:p>
          <a:p>
            <a:endParaRPr lang="en-IN" sz="1600" b="1" u="sng" dirty="0">
              <a:solidFill>
                <a:srgbClr val="000000"/>
              </a:solidFill>
              <a:latin typeface="Courier New" panose="02070309020205020404" pitchFamily="49" charset="0"/>
              <a:cs typeface="Courier New" panose="02070309020205020404" pitchFamily="49" charset="0"/>
            </a:endParaRPr>
          </a:p>
          <a:p>
            <a:r>
              <a:rPr lang="en-IN" sz="1600" i="1" dirty="0">
                <a:solidFill>
                  <a:srgbClr val="000000"/>
                </a:solidFill>
                <a:latin typeface="Courier New" panose="02070309020205020404" pitchFamily="49" charset="0"/>
                <a:cs typeface="Courier New" panose="02070309020205020404" pitchFamily="49" charset="0"/>
              </a:rPr>
              <a:t>~ docker build –t &lt;tag_name&gt; dockerfile</a:t>
            </a:r>
          </a:p>
          <a:p>
            <a:r>
              <a:rPr lang="en-IN" sz="1600" i="1" dirty="0">
                <a:solidFill>
                  <a:srgbClr val="000000"/>
                </a:solidFill>
                <a:latin typeface="Courier New" panose="02070309020205020404" pitchFamily="49" charset="0"/>
                <a:cs typeface="Courier New" panose="02070309020205020404" pitchFamily="49" charset="0"/>
              </a:rPr>
              <a:t>~ docker build –t &lt;tag_name&gt; &lt;git_repo_name&gt;</a:t>
            </a:r>
          </a:p>
          <a:p>
            <a:r>
              <a:rPr lang="en-IN" sz="1600" i="1" dirty="0">
                <a:solidFill>
                  <a:srgbClr val="000000"/>
                </a:solidFill>
                <a:latin typeface="Courier New" panose="02070309020205020404" pitchFamily="49" charset="0"/>
                <a:cs typeface="Courier New" panose="02070309020205020404" pitchFamily="49" charset="0"/>
              </a:rPr>
              <a:t>~ docker build –t &lt;tag_name&gt; .</a:t>
            </a:r>
          </a:p>
          <a:p>
            <a:r>
              <a:rPr lang="en-IN" sz="1600" i="1" dirty="0">
                <a:solidFill>
                  <a:srgbClr val="000000"/>
                </a:solidFill>
                <a:latin typeface="Courier New" panose="02070309020205020404" pitchFamily="49" charset="0"/>
                <a:cs typeface="Courier New" panose="02070309020205020404" pitchFamily="49" charset="0"/>
              </a:rPr>
              <a:t> </a:t>
            </a:r>
          </a:p>
        </p:txBody>
      </p:sp>
      <p:pic>
        <p:nvPicPr>
          <p:cNvPr id="3" name="Picture 2">
            <a:extLst>
              <a:ext uri="{FF2B5EF4-FFF2-40B4-BE49-F238E27FC236}">
                <a16:creationId xmlns:a16="http://schemas.microsoft.com/office/drawing/2014/main" id="{F0EB1C3B-1B54-40F6-B08F-E2B205E0730E}"/>
              </a:ext>
            </a:extLst>
          </p:cNvPr>
          <p:cNvPicPr>
            <a:picLocks noChangeAspect="1"/>
          </p:cNvPicPr>
          <p:nvPr/>
        </p:nvPicPr>
        <p:blipFill>
          <a:blip r:embed="rId3"/>
          <a:stretch>
            <a:fillRect/>
          </a:stretch>
        </p:blipFill>
        <p:spPr>
          <a:xfrm>
            <a:off x="455322" y="894469"/>
            <a:ext cx="6204841" cy="2433271"/>
          </a:xfrm>
          <a:prstGeom prst="rect">
            <a:avLst/>
          </a:prstGeom>
        </p:spPr>
      </p:pic>
    </p:spTree>
    <p:extLst>
      <p:ext uri="{BB962C8B-B14F-4D97-AF65-F5344CB8AC3E}">
        <p14:creationId xmlns:p14="http://schemas.microsoft.com/office/powerpoint/2010/main" val="32890116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4848197"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Dockerfile Best Practices</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p:cNvSpPr txBox="1"/>
          <p:nvPr/>
        </p:nvSpPr>
        <p:spPr>
          <a:xfrm>
            <a:off x="455324" y="976297"/>
            <a:ext cx="10779369" cy="5477256"/>
          </a:xfrm>
          <a:prstGeom prst="rect">
            <a:avLst/>
          </a:prstGeom>
        </p:spPr>
        <p:txBody>
          <a:bodyPr wrap="square" lIns="0" tIns="16224" rIns="0" bIns="0" rtlCol="0">
            <a:noAutofit/>
          </a:bodyPr>
          <a:lstStyle/>
          <a:p>
            <a:pPr marL="457200" indent="-457200">
              <a:buFont typeface="+mj-lt"/>
              <a:buAutoNum type="arabicPeriod"/>
            </a:pPr>
            <a:r>
              <a:rPr lang="en-US" sz="2000" dirty="0">
                <a:solidFill>
                  <a:srgbClr val="000000"/>
                </a:solidFill>
              </a:rPr>
              <a:t>Create ephemeral containers.</a:t>
            </a:r>
          </a:p>
          <a:p>
            <a:pPr marL="457200" indent="-457200">
              <a:buFont typeface="+mj-lt"/>
              <a:buAutoNum type="arabicPeriod"/>
            </a:pPr>
            <a:r>
              <a:rPr lang="en-US" sz="2000" dirty="0">
                <a:solidFill>
                  <a:srgbClr val="000000"/>
                </a:solidFill>
              </a:rPr>
              <a:t>Understand build context.</a:t>
            </a:r>
          </a:p>
          <a:p>
            <a:pPr marL="457200" indent="-457200">
              <a:buFont typeface="+mj-lt"/>
              <a:buAutoNum type="arabicPeriod"/>
            </a:pPr>
            <a:r>
              <a:rPr lang="en-US" sz="2000" dirty="0">
                <a:solidFill>
                  <a:srgbClr val="000000"/>
                </a:solidFill>
              </a:rPr>
              <a:t>Pipe </a:t>
            </a:r>
            <a:r>
              <a:rPr lang="en-US" sz="2000" dirty="0" err="1">
                <a:solidFill>
                  <a:srgbClr val="000000"/>
                </a:solidFill>
              </a:rPr>
              <a:t>dockerfile</a:t>
            </a:r>
            <a:r>
              <a:rPr lang="en-US" sz="2000" dirty="0">
                <a:solidFill>
                  <a:srgbClr val="000000"/>
                </a:solidFill>
              </a:rPr>
              <a:t> through stdin.</a:t>
            </a:r>
          </a:p>
          <a:p>
            <a:pPr marL="457200" indent="-457200">
              <a:buFont typeface="+mj-lt"/>
              <a:buAutoNum type="arabicPeriod"/>
            </a:pPr>
            <a:r>
              <a:rPr lang="en-US" sz="2000" dirty="0">
                <a:solidFill>
                  <a:srgbClr val="000000"/>
                </a:solidFill>
              </a:rPr>
              <a:t>Exclude with .dockerignore.</a:t>
            </a:r>
          </a:p>
          <a:p>
            <a:pPr marL="457200" indent="-457200">
              <a:buFont typeface="+mj-lt"/>
              <a:buAutoNum type="arabicPeriod"/>
            </a:pPr>
            <a:r>
              <a:rPr lang="en-US" sz="2000" dirty="0">
                <a:solidFill>
                  <a:srgbClr val="000000"/>
                </a:solidFill>
              </a:rPr>
              <a:t>Use multi-stage build.</a:t>
            </a:r>
          </a:p>
          <a:p>
            <a:pPr marL="457200" indent="-457200">
              <a:buFont typeface="+mj-lt"/>
              <a:buAutoNum type="arabicPeriod"/>
            </a:pPr>
            <a:r>
              <a:rPr lang="en-US" sz="2000" dirty="0">
                <a:solidFill>
                  <a:srgbClr val="000000"/>
                </a:solidFill>
              </a:rPr>
              <a:t>Don’t install unnecessary packages.</a:t>
            </a:r>
          </a:p>
          <a:p>
            <a:pPr marL="457200" indent="-457200">
              <a:buFont typeface="+mj-lt"/>
              <a:buAutoNum type="arabicPeriod"/>
            </a:pPr>
            <a:r>
              <a:rPr lang="en-US" sz="2000" dirty="0">
                <a:solidFill>
                  <a:srgbClr val="000000"/>
                </a:solidFill>
              </a:rPr>
              <a:t>Decouple applications.</a:t>
            </a:r>
          </a:p>
          <a:p>
            <a:pPr marL="457200" indent="-457200">
              <a:buFont typeface="+mj-lt"/>
              <a:buAutoNum type="arabicPeriod"/>
            </a:pPr>
            <a:r>
              <a:rPr lang="en-US" sz="2000" dirty="0">
                <a:solidFill>
                  <a:srgbClr val="000000"/>
                </a:solidFill>
              </a:rPr>
              <a:t>Minimize the number of layers.</a:t>
            </a:r>
          </a:p>
          <a:p>
            <a:pPr marL="457200" indent="-457200">
              <a:buFont typeface="+mj-lt"/>
              <a:buAutoNum type="arabicPeriod"/>
            </a:pPr>
            <a:r>
              <a:rPr lang="en-US" sz="2000" dirty="0">
                <a:solidFill>
                  <a:srgbClr val="000000"/>
                </a:solidFill>
              </a:rPr>
              <a:t>Write Instruction which are going to change frequently at the bottom of the </a:t>
            </a:r>
            <a:r>
              <a:rPr lang="en-US" sz="2000" dirty="0" err="1">
                <a:solidFill>
                  <a:srgbClr val="000000"/>
                </a:solidFill>
              </a:rPr>
              <a:t>dockerfile</a:t>
            </a:r>
            <a:r>
              <a:rPr lang="en-US" sz="2000" dirty="0">
                <a:solidFill>
                  <a:srgbClr val="000000"/>
                </a:solidFill>
              </a:rPr>
              <a:t>.</a:t>
            </a:r>
          </a:p>
          <a:p>
            <a:pPr marL="457200" indent="-457200">
              <a:buFont typeface="+mj-lt"/>
              <a:buAutoNum type="arabicPeriod"/>
            </a:pPr>
            <a:endParaRPr lang="en-US" sz="2000" dirty="0">
              <a:solidFill>
                <a:srgbClr val="000000"/>
              </a:solidFill>
            </a:endParaRPr>
          </a:p>
          <a:p>
            <a:pPr marL="457200" indent="-457200">
              <a:buFont typeface="+mj-lt"/>
              <a:buAutoNum type="arabicPeriod"/>
            </a:pPr>
            <a:endParaRPr lang="en-US" sz="2000" dirty="0">
              <a:solidFill>
                <a:srgbClr val="000000"/>
              </a:solidFill>
            </a:endParaRPr>
          </a:p>
          <a:p>
            <a:pPr marL="457200" indent="-457200">
              <a:buFont typeface="+mj-lt"/>
              <a:buAutoNum type="arabicPeriod"/>
            </a:pPr>
            <a:endParaRPr lang="en-US" sz="2000" dirty="0">
              <a:solidFill>
                <a:srgbClr val="000000"/>
              </a:solidFill>
            </a:endParaRPr>
          </a:p>
          <a:p>
            <a:r>
              <a:rPr lang="en-US" sz="2000" dirty="0">
                <a:solidFill>
                  <a:srgbClr val="000000"/>
                </a:solidFill>
              </a:rPr>
              <a:t>We can use git hub as code repository to store docker file. And Docker hub to store docker image.</a:t>
            </a:r>
            <a:endParaRPr lang="en-US" sz="2000" i="1" dirty="0">
              <a:solidFill>
                <a:schemeClr val="bg1"/>
              </a:solidFill>
              <a:latin typeface="Courier New" panose="02070309020205020404" pitchFamily="49" charset="0"/>
              <a:cs typeface="Courier New" panose="02070309020205020404" pitchFamily="49" charset="0"/>
            </a:endParaRPr>
          </a:p>
          <a:p>
            <a:r>
              <a:rPr lang="en-US" sz="2000" i="1" dirty="0">
                <a:solidFill>
                  <a:schemeClr val="bg1"/>
                </a:solidFill>
                <a:latin typeface="Courier New" panose="02070309020205020404" pitchFamily="49" charset="0"/>
                <a:cs typeface="Courier New" panose="02070309020205020404" pitchFamily="49" charset="0"/>
              </a:rPr>
              <a:t>ADD . /app</a:t>
            </a:r>
          </a:p>
          <a:p>
            <a:r>
              <a:rPr lang="en-US" sz="2000" i="1" dirty="0">
                <a:solidFill>
                  <a:schemeClr val="bg1"/>
                </a:solidFill>
                <a:latin typeface="Courier New" panose="02070309020205020404" pitchFamily="49" charset="0"/>
                <a:cs typeface="Courier New" panose="02070309020205020404" pitchFamily="49" charset="0"/>
              </a:rPr>
              <a:t>RUN apt update &amp;&amp; apt install python</a:t>
            </a:r>
          </a:p>
          <a:p>
            <a:r>
              <a:rPr lang="en-US" sz="2000" i="1" dirty="0">
                <a:solidFill>
                  <a:schemeClr val="bg1"/>
                </a:solidFill>
                <a:latin typeface="Courier New" panose="02070309020205020404" pitchFamily="49" charset="0"/>
                <a:cs typeface="Courier New" panose="02070309020205020404" pitchFamily="49" charset="0"/>
              </a:rPr>
              <a:t>CMD python /app/main.py</a:t>
            </a:r>
          </a:p>
          <a:p>
            <a:r>
              <a:rPr lang="en-US" sz="2000" i="1" dirty="0">
                <a:solidFill>
                  <a:schemeClr val="bg1"/>
                </a:solidFill>
                <a:latin typeface="Courier New" panose="02070309020205020404" pitchFamily="49" charset="0"/>
                <a:cs typeface="Courier New" panose="02070309020205020404" pitchFamily="49" charset="0"/>
              </a:rPr>
              <a:t>LABEL color=red</a:t>
            </a:r>
          </a:p>
        </p:txBody>
      </p:sp>
    </p:spTree>
    <p:extLst>
      <p:ext uri="{BB962C8B-B14F-4D97-AF65-F5344CB8AC3E}">
        <p14:creationId xmlns:p14="http://schemas.microsoft.com/office/powerpoint/2010/main" val="38017935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3CE65E1-920D-B692-CF91-5C25B321F5AC}"/>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6056CBBC-9A3D-4647-ED89-61B131BF9789}"/>
              </a:ext>
            </a:extLst>
          </p:cNvPr>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a:extLst>
              <a:ext uri="{FF2B5EF4-FFF2-40B4-BE49-F238E27FC236}">
                <a16:creationId xmlns:a16="http://schemas.microsoft.com/office/drawing/2014/main" id="{43701D49-5406-F423-FC55-9EC6465A05FC}"/>
              </a:ext>
            </a:extLst>
          </p:cNvPr>
          <p:cNvSpPr txBox="1"/>
          <p:nvPr/>
        </p:nvSpPr>
        <p:spPr>
          <a:xfrm>
            <a:off x="455323" y="129023"/>
            <a:ext cx="4848197"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Dockerfile </a:t>
            </a:r>
            <a:r>
              <a:rPr lang="en-IN" sz="2400" b="1" spc="-1" dirty="0">
                <a:solidFill>
                  <a:srgbClr val="004282"/>
                </a:solidFill>
                <a:latin typeface="Arial"/>
                <a:cs typeface="Arial"/>
              </a:rPr>
              <a:t>Mult-Stage Build.</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a:extLst>
              <a:ext uri="{FF2B5EF4-FFF2-40B4-BE49-F238E27FC236}">
                <a16:creationId xmlns:a16="http://schemas.microsoft.com/office/drawing/2014/main" id="{E6458BEA-4095-1B53-0D18-92A16DE6B199}"/>
              </a:ext>
            </a:extLst>
          </p:cNvPr>
          <p:cNvSpPr txBox="1"/>
          <p:nvPr/>
        </p:nvSpPr>
        <p:spPr>
          <a:xfrm>
            <a:off x="455324" y="976297"/>
            <a:ext cx="10779369" cy="5477256"/>
          </a:xfrm>
          <a:prstGeom prst="rect">
            <a:avLst/>
          </a:prstGeom>
        </p:spPr>
        <p:txBody>
          <a:bodyPr wrap="square" lIns="0" tIns="16224" rIns="0" bIns="0" rtlCol="0">
            <a:noAutofit/>
          </a:bodyPr>
          <a:lstStyle/>
          <a:p>
            <a:pPr algn="l"/>
            <a:r>
              <a:rPr lang="en-US" sz="2000" dirty="0">
                <a:solidFill>
                  <a:srgbClr val="000000"/>
                </a:solidFill>
              </a:rPr>
              <a:t>In a traditional build, all build instructions are executed in sequence, and in a single build container: downloading dependencies, compiling code, and packaging the application. All those layers end up in your final image. This approach works, but it leads to bulky images carrying unnecessary weight and increasing your security risks. This is where multi-stage builds come in.</a:t>
            </a:r>
          </a:p>
          <a:p>
            <a:pPr algn="l"/>
            <a:endParaRPr lang="en-US" sz="2000" dirty="0">
              <a:solidFill>
                <a:srgbClr val="000000"/>
              </a:solidFill>
            </a:endParaRPr>
          </a:p>
          <a:p>
            <a:pPr algn="l"/>
            <a:r>
              <a:rPr lang="en-US" sz="2000" dirty="0">
                <a:solidFill>
                  <a:srgbClr val="000000"/>
                </a:solidFill>
              </a:rPr>
              <a:t>Multi-stage builds introduce multiple stages in your Dockerfile, each with a specific purpose. Think of it like the ability to run different parts of a build in multiple different environments, concurrently. By separating the build environment from the final runtime environment, you can significantly reduce the image size and attack surface. This is especially beneficial for applications with large build dependencies.</a:t>
            </a:r>
          </a:p>
          <a:p>
            <a:r>
              <a:rPr lang="en-US" sz="2000" dirty="0">
                <a:solidFill>
                  <a:srgbClr val="000000"/>
                </a:solidFill>
              </a:rPr>
              <a:t>ADD . /app</a:t>
            </a:r>
          </a:p>
          <a:p>
            <a:r>
              <a:rPr lang="en-US" sz="2000" i="1" dirty="0">
                <a:solidFill>
                  <a:schemeClr val="bg1"/>
                </a:solidFill>
                <a:latin typeface="Courier New" panose="02070309020205020404" pitchFamily="49" charset="0"/>
                <a:cs typeface="Courier New" panose="02070309020205020404" pitchFamily="49" charset="0"/>
              </a:rPr>
              <a:t>RUN apt update &amp;&amp; apt install python</a:t>
            </a:r>
          </a:p>
          <a:p>
            <a:r>
              <a:rPr lang="en-US" sz="2000" i="1" dirty="0">
                <a:solidFill>
                  <a:schemeClr val="bg1"/>
                </a:solidFill>
                <a:latin typeface="Courier New" panose="02070309020205020404" pitchFamily="49" charset="0"/>
                <a:cs typeface="Courier New" panose="02070309020205020404" pitchFamily="49" charset="0"/>
              </a:rPr>
              <a:t>CMD python /app/main.py</a:t>
            </a:r>
          </a:p>
          <a:p>
            <a:r>
              <a:rPr lang="en-US" sz="2000" i="1" dirty="0">
                <a:solidFill>
                  <a:schemeClr val="bg1"/>
                </a:solidFill>
                <a:latin typeface="Courier New" panose="02070309020205020404" pitchFamily="49" charset="0"/>
                <a:cs typeface="Courier New" panose="02070309020205020404" pitchFamily="49" charset="0"/>
              </a:rPr>
              <a:t>LABEL color=red</a:t>
            </a:r>
          </a:p>
        </p:txBody>
      </p:sp>
    </p:spTree>
    <p:extLst>
      <p:ext uri="{BB962C8B-B14F-4D97-AF65-F5344CB8AC3E}">
        <p14:creationId xmlns:p14="http://schemas.microsoft.com/office/powerpoint/2010/main" val="41043975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95">
            <a:extLst>
              <a:ext uri="{FF2B5EF4-FFF2-40B4-BE49-F238E27FC236}">
                <a16:creationId xmlns:a16="http://schemas.microsoft.com/office/drawing/2014/main" id="{B54295EC-3B78-4A8A-B115-BD30905FC011}"/>
              </a:ext>
            </a:extLst>
          </p:cNvPr>
          <p:cNvSpPr/>
          <p:nvPr/>
        </p:nvSpPr>
        <p:spPr>
          <a:xfrm>
            <a:off x="821496" y="3669716"/>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3" name="object 15">
            <a:extLst>
              <a:ext uri="{FF2B5EF4-FFF2-40B4-BE49-F238E27FC236}">
                <a16:creationId xmlns:a16="http://schemas.microsoft.com/office/drawing/2014/main" id="{F910F1DE-8BA5-4C09-8947-96234306291C}"/>
              </a:ext>
            </a:extLst>
          </p:cNvPr>
          <p:cNvSpPr txBox="1"/>
          <p:nvPr/>
        </p:nvSpPr>
        <p:spPr>
          <a:xfrm>
            <a:off x="448847" y="156122"/>
            <a:ext cx="6092629" cy="478490"/>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endParaRPr lang="en-IN" sz="2400" dirty="0">
              <a:solidFill>
                <a:prstClr val="black"/>
              </a:solidFill>
              <a:latin typeface="Arial" panose="020B0604020202020204" pitchFamily="34" charset="0"/>
            </a:endParaRPr>
          </a:p>
        </p:txBody>
      </p:sp>
      <p:sp>
        <p:nvSpPr>
          <p:cNvPr id="4" name="TextBox 3">
            <a:extLst>
              <a:ext uri="{FF2B5EF4-FFF2-40B4-BE49-F238E27FC236}">
                <a16:creationId xmlns:a16="http://schemas.microsoft.com/office/drawing/2014/main" id="{33DEAA68-3306-4522-B3A7-C4099824E57A}"/>
              </a:ext>
            </a:extLst>
          </p:cNvPr>
          <p:cNvSpPr txBox="1"/>
          <p:nvPr/>
        </p:nvSpPr>
        <p:spPr>
          <a:xfrm>
            <a:off x="666752" y="3198167"/>
            <a:ext cx="1914755" cy="461665"/>
          </a:xfrm>
          <a:prstGeom prst="rect">
            <a:avLst/>
          </a:prstGeom>
          <a:noFill/>
        </p:spPr>
        <p:txBody>
          <a:bodyPr wrap="none" rtlCol="0">
            <a:spAutoFit/>
          </a:bodyPr>
          <a:lstStyle/>
          <a:p>
            <a:r>
              <a:rPr lang="en-IN" sz="2400" b="1" dirty="0">
                <a:solidFill>
                  <a:schemeClr val="accent6">
                    <a:lumMod val="75000"/>
                  </a:schemeClr>
                </a:solidFill>
                <a:latin typeface="Arial" panose="020B0604020202020204" pitchFamily="34" charset="0"/>
              </a:rPr>
              <a:t>Thank You !</a:t>
            </a:r>
          </a:p>
        </p:txBody>
      </p:sp>
    </p:spTree>
    <p:extLst>
      <p:ext uri="{BB962C8B-B14F-4D97-AF65-F5344CB8AC3E}">
        <p14:creationId xmlns:p14="http://schemas.microsoft.com/office/powerpoint/2010/main" val="32606817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373545"/>
      </a:dk2>
      <a:lt2>
        <a:srgbClr val="BCD0E0"/>
      </a:lt2>
      <a:accent1>
        <a:srgbClr val="3494BA"/>
      </a:accent1>
      <a:accent2>
        <a:srgbClr val="58B6C0"/>
      </a:accent2>
      <a:accent3>
        <a:srgbClr val="75BDA7"/>
      </a:accent3>
      <a:accent4>
        <a:srgbClr val="7A8C8E"/>
      </a:accent4>
      <a:accent5>
        <a:srgbClr val="84ACB6"/>
      </a:accent5>
      <a:accent6>
        <a:srgbClr val="6793CD"/>
      </a:accent6>
      <a:hlink>
        <a:srgbClr val="6B9F25"/>
      </a:hlink>
      <a:folHlink>
        <a:srgbClr val="9F6715"/>
      </a:folHlink>
    </a:clrScheme>
    <a:fontScheme name="Savon">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913DB040-6816-4415-960D-8178C78575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F60485A86D6E945B0DE8EE8506DAC62" ma:contentTypeVersion="12" ma:contentTypeDescription="Create a new document." ma:contentTypeScope="" ma:versionID="a3ba1d3c448962d8a7304c03e6365536">
  <xsd:schema xmlns:xsd="http://www.w3.org/2001/XMLSchema" xmlns:xs="http://www.w3.org/2001/XMLSchema" xmlns:p="http://schemas.microsoft.com/office/2006/metadata/properties" xmlns:ns3="8f762557-e92d-48c5-a1e9-2e1ae49911c9" xmlns:ns4="9618bf2c-f524-416d-9ddc-e9ab10641669" targetNamespace="http://schemas.microsoft.com/office/2006/metadata/properties" ma:root="true" ma:fieldsID="73f26707b70974e9febd0829e12fbdfc" ns3:_="" ns4:_="">
    <xsd:import namespace="8f762557-e92d-48c5-a1e9-2e1ae49911c9"/>
    <xsd:import namespace="9618bf2c-f524-416d-9ddc-e9ab10641669"/>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762557-e92d-48c5-a1e9-2e1ae49911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618bf2c-f524-416d-9ddc-e9ab1064166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7EB8BB0-83E9-438D-BDDD-5648298095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762557-e92d-48c5-a1e9-2e1ae49911c9"/>
    <ds:schemaRef ds:uri="9618bf2c-f524-416d-9ddc-e9ab1064166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2F91192-B026-43EB-8BFD-6B3E1D8ED4CE}">
  <ds:schemaRefs>
    <ds:schemaRef ds:uri="http://purl.org/dc/terms/"/>
    <ds:schemaRef ds:uri="8f762557-e92d-48c5-a1e9-2e1ae49911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schemas.microsoft.com/office/2006/metadata/properties"/>
    <ds:schemaRef ds:uri="9618bf2c-f524-416d-9ddc-e9ab10641669"/>
    <ds:schemaRef ds:uri="http://www.w3.org/XML/1998/namespace"/>
    <ds:schemaRef ds:uri="http://purl.org/dc/dcmitype/"/>
  </ds:schemaRefs>
</ds:datastoreItem>
</file>

<file path=customXml/itemProps3.xml><?xml version="1.0" encoding="utf-8"?>
<ds:datastoreItem xmlns:ds="http://schemas.openxmlformats.org/officeDocument/2006/customXml" ds:itemID="{C75BD6EB-5C72-4651-A510-8915F70221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3602</TotalTime>
  <Words>1862</Words>
  <Application>Microsoft Office PowerPoint</Application>
  <PresentationFormat>Widescreen</PresentationFormat>
  <Paragraphs>562</Paragraphs>
  <Slides>25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Aparajita</vt:lpstr>
      <vt:lpstr>Arial</vt:lpstr>
      <vt:lpstr>Calibri</vt:lpstr>
      <vt:lpstr>Century Gothic</vt:lpstr>
      <vt:lpstr>Courier New</vt:lpstr>
      <vt:lpstr>Savon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Angad Wagh</dc:creator>
  <cp:lastModifiedBy>Angad Wagh</cp:lastModifiedBy>
  <cp:revision>448</cp:revision>
  <dcterms:created xsi:type="dcterms:W3CDTF">2022-07-11T16:43:42Z</dcterms:created>
  <dcterms:modified xsi:type="dcterms:W3CDTF">2025-02-24T07:04:45Z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8db2a94-1328-4cb2-b589-c6efe5808a7a_Enabled">
    <vt:lpwstr>true</vt:lpwstr>
  </property>
  <property fmtid="{D5CDD505-2E9C-101B-9397-08002B2CF9AE}" pid="3" name="MSIP_Label_08db2a94-1328-4cb2-b589-c6efe5808a7a_SetDate">
    <vt:lpwstr>2025-01-30T05:25:11Z</vt:lpwstr>
  </property>
  <property fmtid="{D5CDD505-2E9C-101B-9397-08002B2CF9AE}" pid="4" name="MSIP_Label_08db2a94-1328-4cb2-b589-c6efe5808a7a_Method">
    <vt:lpwstr>Privileged</vt:lpwstr>
  </property>
  <property fmtid="{D5CDD505-2E9C-101B-9397-08002B2CF9AE}" pid="5" name="MSIP_Label_08db2a94-1328-4cb2-b589-c6efe5808a7a_Name">
    <vt:lpwstr>Personal - Individual Use</vt:lpwstr>
  </property>
  <property fmtid="{D5CDD505-2E9C-101B-9397-08002B2CF9AE}" pid="6" name="MSIP_Label_08db2a94-1328-4cb2-b589-c6efe5808a7a_SiteId">
    <vt:lpwstr>258ac4e4-146a-411e-9dc8-79a9e12fd6da</vt:lpwstr>
  </property>
  <property fmtid="{D5CDD505-2E9C-101B-9397-08002B2CF9AE}" pid="7" name="MSIP_Label_08db2a94-1328-4cb2-b589-c6efe5808a7a_ActionId">
    <vt:lpwstr>48a900f5-9da9-463a-9982-e96a15e80f75</vt:lpwstr>
  </property>
  <property fmtid="{D5CDD505-2E9C-101B-9397-08002B2CF9AE}" pid="8" name="MSIP_Label_08db2a94-1328-4cb2-b589-c6efe5808a7a_ContentBits">
    <vt:lpwstr>2</vt:lpwstr>
  </property>
  <property fmtid="{D5CDD505-2E9C-101B-9397-08002B2CF9AE}" pid="9" name="ClassificationContentMarkingFooterLocations">
    <vt:lpwstr>Savon:10</vt:lpwstr>
  </property>
  <property fmtid="{D5CDD505-2E9C-101B-9397-08002B2CF9AE}" pid="10" name="ClassificationContentMarkingFooterText">
    <vt:lpwstr>Personal - Individual Use</vt:lpwstr>
  </property>
</Properties>
</file>
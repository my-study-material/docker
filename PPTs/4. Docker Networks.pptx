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20"/>
  </p:notesMasterIdLst>
  <p:sldIdLst>
    <p:sldId id="336" r:id="rId5"/>
    <p:sldId id="401" r:id="rId6"/>
    <p:sldId id="400" r:id="rId7"/>
    <p:sldId id="402" r:id="rId8"/>
    <p:sldId id="403" r:id="rId9"/>
    <p:sldId id="404" r:id="rId10"/>
    <p:sldId id="405" r:id="rId11"/>
    <p:sldId id="406" r:id="rId12"/>
    <p:sldId id="407" r:id="rId13"/>
    <p:sldId id="408" r:id="rId14"/>
    <p:sldId id="409" r:id="rId15"/>
    <p:sldId id="410" r:id="rId16"/>
    <p:sldId id="411" r:id="rId17"/>
    <p:sldId id="412" r:id="rId18"/>
    <p:sldId id="359"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 id="2" name="Angad Wagh" initials="AW" lastIdx="1" clrIdx="1">
    <p:extLst>
      <p:ext uri="{19B8F6BF-5375-455C-9EA6-DF929625EA0E}">
        <p15:presenceInfo xmlns:p15="http://schemas.microsoft.com/office/powerpoint/2012/main" userId="S::angadwagh@orientindia.net::60813458-2ee0-4c15-9be4-8475578655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29" autoAdjust="0"/>
    <p:restoredTop sz="93878" autoAdjust="0"/>
  </p:normalViewPr>
  <p:slideViewPr>
    <p:cSldViewPr snapToGrid="0">
      <p:cViewPr varScale="1">
        <p:scale>
          <a:sx n="68" d="100"/>
          <a:sy n="68" d="100"/>
        </p:scale>
        <p:origin x="876"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31-03-2023</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71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69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2626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786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547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88260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0464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1422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3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24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512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3786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13052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3/31/2023</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3/31/2023</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US" dirty="0"/>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3/31/2023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3/31/2023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3/31/2023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3/31/2023</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US" dirty="0"/>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3/31/2023</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docs.docker.com/network/overla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 Networks</a:t>
            </a:r>
            <a:endParaRPr kumimoji="0" sz="2400" b="0" i="0" u="none" strike="noStrike" kern="1200" cap="none" spc="0" normalizeH="0" baseline="0" noProof="0" dirty="0">
              <a:ln>
                <a:noFill/>
              </a:ln>
              <a:solidFill>
                <a:prstClr val="black"/>
              </a:solidFill>
              <a:effectLst/>
              <a:uLnTx/>
              <a:uFillTx/>
              <a:latin typeface="Arial"/>
              <a:cs typeface="Arial"/>
            </a:endParaRPr>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dirty="0">
                <a:solidFill>
                  <a:srgbClr val="000000"/>
                </a:solidFill>
              </a:rPr>
              <a:t>A Docker network is basically a connection between one or more containers. One of the more powerful things about the Docker containers is that they can be easily connected to one other and even other software, this makes it very easy to isolate and manage the containers. </a:t>
            </a:r>
          </a:p>
          <a:p>
            <a:endParaRPr lang="en-US" sz="1600"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349BDE31-4EDE-4C33-B55B-21710C050262}"/>
              </a:ext>
            </a:extLst>
          </p:cNvPr>
          <p:cNvPicPr>
            <a:picLocks noChangeAspect="1"/>
          </p:cNvPicPr>
          <p:nvPr/>
        </p:nvPicPr>
        <p:blipFill>
          <a:blip r:embed="rId4"/>
          <a:stretch>
            <a:fillRect/>
          </a:stretch>
        </p:blipFill>
        <p:spPr>
          <a:xfrm>
            <a:off x="1704808" y="2957145"/>
            <a:ext cx="8343262" cy="2801211"/>
          </a:xfrm>
          <a:prstGeom prst="rect">
            <a:avLst/>
          </a:prstGeom>
        </p:spPr>
      </p:pic>
    </p:spTree>
    <p:extLst>
      <p:ext uri="{BB962C8B-B14F-4D97-AF65-F5344CB8AC3E}">
        <p14:creationId xmlns:p14="http://schemas.microsoft.com/office/powerpoint/2010/main" val="1195002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Types of Docker Networks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endParaRPr lang="en-IN" sz="2400" dirty="0">
              <a:solidFill>
                <a:srgbClr val="000000"/>
              </a:solidFill>
              <a:latin typeface="Aparajita" panose="02020603050405020304" pitchFamily="18" charset="0"/>
              <a:cs typeface="Aparajita" panose="02020603050405020304" pitchFamily="18" charset="0"/>
            </a:endParaRPr>
          </a:p>
          <a:p>
            <a:endParaRPr lang="en-IN" sz="2400" dirty="0">
              <a:solidFill>
                <a:srgbClr val="000000"/>
              </a:solidFill>
              <a:latin typeface="Aparajita" panose="02020603050405020304" pitchFamily="18" charset="0"/>
              <a:cs typeface="Aparajita" panose="02020603050405020304" pitchFamily="18"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3" name="Picture 2">
            <a:extLst>
              <a:ext uri="{FF2B5EF4-FFF2-40B4-BE49-F238E27FC236}">
                <a16:creationId xmlns:a16="http://schemas.microsoft.com/office/drawing/2014/main" id="{AEBB12F6-4064-4480-BB6F-E36FE7DC12FB}"/>
              </a:ext>
            </a:extLst>
          </p:cNvPr>
          <p:cNvPicPr>
            <a:picLocks noChangeAspect="1"/>
          </p:cNvPicPr>
          <p:nvPr/>
        </p:nvPicPr>
        <p:blipFill>
          <a:blip r:embed="rId4"/>
          <a:stretch>
            <a:fillRect/>
          </a:stretch>
        </p:blipFill>
        <p:spPr>
          <a:xfrm>
            <a:off x="689317" y="2048523"/>
            <a:ext cx="10394926" cy="2760953"/>
          </a:xfrm>
          <a:prstGeom prst="rect">
            <a:avLst/>
          </a:prstGeom>
        </p:spPr>
      </p:pic>
    </p:spTree>
    <p:extLst>
      <p:ext uri="{BB962C8B-B14F-4D97-AF65-F5344CB8AC3E}">
        <p14:creationId xmlns:p14="http://schemas.microsoft.com/office/powerpoint/2010/main" val="82333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Bridge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In terms of Docker, a bridge network uses a software bridge which allows containers connected to the same bridge network to communicate, while providing isolation from containers which are not connected to that bridge network.</a:t>
            </a:r>
          </a:p>
          <a:p>
            <a:r>
              <a:rPr lang="en-IN" sz="2000" dirty="0"/>
              <a:t>Bridge networks apply to containers running on the same Docker daemon host. For communication among containers running on different Docker daemon hosts, you can either manage routing at the OS level, or you can use an </a:t>
            </a:r>
            <a:r>
              <a:rPr lang="en-IN" sz="2000" dirty="0">
                <a:hlinkClick r:id="rId4">
                  <a:extLst>
                    <a:ext uri="{A12FA001-AC4F-418D-AE19-62706E023703}">
                      <ahyp:hlinkClr xmlns:ahyp="http://schemas.microsoft.com/office/drawing/2018/hyperlinkcolor" val="tx"/>
                    </a:ext>
                  </a:extLst>
                </a:hlinkClick>
              </a:rPr>
              <a:t>overlay network</a:t>
            </a:r>
            <a:r>
              <a:rPr lang="en-IN" sz="2000" dirty="0"/>
              <a:t>.</a:t>
            </a:r>
          </a:p>
          <a:p>
            <a:r>
              <a:rPr lang="en-IN" sz="2000" dirty="0"/>
              <a:t>When you start Docker, a default bridge network (also called bridge) is created automatically, and newly-started containers connect to it unless otherwise specified. You can also create user-defined custom bridge networks. </a:t>
            </a:r>
            <a:r>
              <a:rPr lang="en-IN" sz="2000" b="1" dirty="0"/>
              <a:t>User-defined bridge networks are superior to the default bridge network</a:t>
            </a:r>
            <a:r>
              <a:rPr lang="en-IN" sz="2000" dirty="0"/>
              <a:t>.</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6" name="Picture 5">
            <a:extLst>
              <a:ext uri="{FF2B5EF4-FFF2-40B4-BE49-F238E27FC236}">
                <a16:creationId xmlns:a16="http://schemas.microsoft.com/office/drawing/2014/main" id="{8F68436C-9517-4FE5-B7D4-FF296EAF5AF6}"/>
              </a:ext>
            </a:extLst>
          </p:cNvPr>
          <p:cNvPicPr>
            <a:picLocks noChangeAspect="1"/>
          </p:cNvPicPr>
          <p:nvPr/>
        </p:nvPicPr>
        <p:blipFill>
          <a:blip r:embed="rId5"/>
          <a:stretch>
            <a:fillRect/>
          </a:stretch>
        </p:blipFill>
        <p:spPr>
          <a:xfrm>
            <a:off x="2555790" y="4135233"/>
            <a:ext cx="7019925" cy="2333625"/>
          </a:xfrm>
          <a:prstGeom prst="rect">
            <a:avLst/>
          </a:prstGeom>
        </p:spPr>
      </p:pic>
    </p:spTree>
    <p:extLst>
      <p:ext uri="{BB962C8B-B14F-4D97-AF65-F5344CB8AC3E}">
        <p14:creationId xmlns:p14="http://schemas.microsoft.com/office/powerpoint/2010/main" val="3637038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Bridge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Create Docker Network</a:t>
            </a:r>
            <a:r>
              <a:rPr lang="en-US" sz="2000" dirty="0">
                <a:solidFill>
                  <a:srgbClr val="000000"/>
                </a:solidFill>
              </a:rPr>
              <a:t>.</a:t>
            </a:r>
          </a:p>
          <a:p>
            <a:endParaRPr lang="en-US" sz="2000" dirty="0">
              <a:solidFill>
                <a:srgbClr val="000000"/>
              </a:solidFill>
            </a:endParaRPr>
          </a:p>
          <a:p>
            <a:r>
              <a:rPr lang="en-US" dirty="0">
                <a:solidFill>
                  <a:srgbClr val="000000"/>
                </a:solidFill>
              </a:rPr>
              <a:t>      </a:t>
            </a:r>
            <a:r>
              <a:rPr lang="en-US" dirty="0">
                <a:solidFill>
                  <a:srgbClr val="000000"/>
                </a:solidFill>
                <a:latin typeface="Courier New" panose="02070309020205020404" pitchFamily="49" charset="0"/>
                <a:cs typeface="Courier New" panose="02070309020205020404" pitchFamily="49" charset="0"/>
              </a:rPr>
              <a:t>~ </a:t>
            </a:r>
            <a:r>
              <a:rPr lang="en-US" i="1" dirty="0">
                <a:solidFill>
                  <a:srgbClr val="000000"/>
                </a:solidFill>
                <a:latin typeface="Courier New" panose="02070309020205020404" pitchFamily="49" charset="0"/>
                <a:cs typeface="Courier New" panose="02070309020205020404" pitchFamily="49" charset="0"/>
              </a:rPr>
              <a:t>sudo docker network create –-driver &lt;driver_name&gt; &lt;network_name&gt;</a:t>
            </a:r>
          </a:p>
          <a:p>
            <a:r>
              <a:rPr lang="en-US" dirty="0">
                <a:solidFill>
                  <a:srgbClr val="000000"/>
                </a:solidFill>
                <a:latin typeface="Courier New" panose="02070309020205020404" pitchFamily="49" charset="0"/>
                <a:cs typeface="Courier New" panose="02070309020205020404" pitchFamily="49" charset="0"/>
              </a:rPr>
              <a:t>  ~ </a:t>
            </a:r>
            <a:r>
              <a:rPr lang="en-US" i="1" dirty="0">
                <a:solidFill>
                  <a:srgbClr val="000000"/>
                </a:solidFill>
                <a:latin typeface="Courier New" panose="02070309020205020404" pitchFamily="49" charset="0"/>
                <a:cs typeface="Courier New" panose="02070309020205020404" pitchFamily="49" charset="0"/>
              </a:rPr>
              <a:t>sudo docker network create –-driver bridge barbie </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ls</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Inspect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inspect &lt;network_id&gt;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Run Docker with Network flag</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MyCon –-network barbie ubuntu</a:t>
            </a:r>
          </a:p>
          <a:p>
            <a:endParaRPr lang="en-US" sz="2000" dirty="0">
              <a:solidFill>
                <a:srgbClr val="000000"/>
              </a:solidFill>
            </a:endParaRPr>
          </a:p>
        </p:txBody>
      </p:sp>
    </p:spTree>
    <p:extLst>
      <p:ext uri="{BB962C8B-B14F-4D97-AF65-F5344CB8AC3E}">
        <p14:creationId xmlns:p14="http://schemas.microsoft.com/office/powerpoint/2010/main" val="1625732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Host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If you use the host network mode for a container, that container’s network stack is not isolated from the Docker host (the container shares the host’s networking namespace), and the container does not get its own IP-address allocated. For instance, if you run a container which binds to port 80 and you use host networking, the container’s application is available on port 80 on the host’s IP address.</a:t>
            </a:r>
          </a:p>
          <a:p>
            <a:endParaRPr lang="en-IN" sz="2000" dirty="0"/>
          </a:p>
          <a:p>
            <a:r>
              <a:rPr lang="en-IN" sz="2000" dirty="0"/>
              <a:t>The host networking driver only works on Linux hosts, and is not supported on Docker Desktop for Mac, Docker Desktop for Windows, or Docker EE for Windows Server.</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FB6B0AAC-76C0-41EF-BBFE-1BC02076288A}"/>
              </a:ext>
            </a:extLst>
          </p:cNvPr>
          <p:cNvPicPr>
            <a:picLocks noChangeAspect="1"/>
          </p:cNvPicPr>
          <p:nvPr/>
        </p:nvPicPr>
        <p:blipFill>
          <a:blip r:embed="rId4"/>
          <a:stretch>
            <a:fillRect/>
          </a:stretch>
        </p:blipFill>
        <p:spPr>
          <a:xfrm>
            <a:off x="2870015" y="3642048"/>
            <a:ext cx="5154211" cy="2616237"/>
          </a:xfrm>
          <a:prstGeom prst="rect">
            <a:avLst/>
          </a:prstGeom>
        </p:spPr>
      </p:pic>
    </p:spTree>
    <p:extLst>
      <p:ext uri="{BB962C8B-B14F-4D97-AF65-F5344CB8AC3E}">
        <p14:creationId xmlns:p14="http://schemas.microsoft.com/office/powerpoint/2010/main" val="2924268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Host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List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ls</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Inspect Docker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inspect &lt;network_id&gt;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Run Docker with Network flag</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MyCon –-network host ubuntu</a:t>
            </a:r>
          </a:p>
          <a:p>
            <a:endParaRPr lang="en-US" sz="2000" dirty="0">
              <a:solidFill>
                <a:srgbClr val="000000"/>
              </a:solidFill>
            </a:endParaRPr>
          </a:p>
        </p:txBody>
      </p:sp>
    </p:spTree>
    <p:extLst>
      <p:ext uri="{BB962C8B-B14F-4D97-AF65-F5344CB8AC3E}">
        <p14:creationId xmlns:p14="http://schemas.microsoft.com/office/powerpoint/2010/main" val="407866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Overlay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Docker daemon hosts that are connected by the means of an overlay network can communicate with each other. This means that containers present in different docker hosts can communicate with each other using the overlay network.</a:t>
            </a:r>
          </a:p>
          <a:p>
            <a:endParaRPr lang="en-IN" sz="2000" dirty="0"/>
          </a:p>
          <a:p>
            <a:r>
              <a:rPr lang="en-IN" sz="2000" dirty="0"/>
              <a:t>This is useful when we need a set of docker hosts to communicate with each other in a docker swarm.</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2" name="Picture 1">
            <a:extLst>
              <a:ext uri="{FF2B5EF4-FFF2-40B4-BE49-F238E27FC236}">
                <a16:creationId xmlns:a16="http://schemas.microsoft.com/office/drawing/2014/main" id="{2E488692-AC83-4A56-B2DC-29C712F0EBA4}"/>
              </a:ext>
            </a:extLst>
          </p:cNvPr>
          <p:cNvPicPr>
            <a:picLocks noChangeAspect="1"/>
          </p:cNvPicPr>
          <p:nvPr/>
        </p:nvPicPr>
        <p:blipFill>
          <a:blip r:embed="rId4"/>
          <a:stretch>
            <a:fillRect/>
          </a:stretch>
        </p:blipFill>
        <p:spPr>
          <a:xfrm>
            <a:off x="1524354" y="3246120"/>
            <a:ext cx="9143291" cy="2829286"/>
          </a:xfrm>
          <a:prstGeom prst="rect">
            <a:avLst/>
          </a:prstGeom>
        </p:spPr>
      </p:pic>
    </p:spTree>
    <p:extLst>
      <p:ext uri="{BB962C8B-B14F-4D97-AF65-F5344CB8AC3E}">
        <p14:creationId xmlns:p14="http://schemas.microsoft.com/office/powerpoint/2010/main" val="851590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Overlay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Create Overlay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network create –-driver overlay fun-net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Create Service</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service create –-name fun-service –-network fun-net </a:t>
            </a:r>
          </a:p>
          <a:p>
            <a:r>
              <a:rPr lang="en-US" sz="2000" i="1" dirty="0">
                <a:solidFill>
                  <a:srgbClr val="000000"/>
                </a:solidFill>
                <a:latin typeface="Courier New" panose="02070309020205020404" pitchFamily="49" charset="0"/>
                <a:cs typeface="Courier New" panose="02070309020205020404" pitchFamily="49" charset="0"/>
              </a:rPr>
              <a:t>    -–replicas 3 nginx</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containers running in this service</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service ps fun-service </a:t>
            </a:r>
          </a:p>
          <a:p>
            <a:endParaRPr lang="en-US" sz="2000" i="1" dirty="0">
              <a:solidFill>
                <a:srgbClr val="000000"/>
              </a:solidFill>
              <a:latin typeface="Courier New" panose="02070309020205020404" pitchFamily="49" charset="0"/>
              <a:cs typeface="Courier New" panose="02070309020205020404" pitchFamily="49" charset="0"/>
            </a:endParaRPr>
          </a:p>
          <a:p>
            <a:r>
              <a:rPr lang="en-US" sz="2000" i="1" dirty="0">
                <a:solidFill>
                  <a:srgbClr val="000000"/>
                </a:solidFill>
                <a:latin typeface="Courier New" panose="02070309020205020404" pitchFamily="49" charset="0"/>
                <a:cs typeface="Courier New" panose="02070309020205020404" pitchFamily="49" charset="0"/>
              </a:rPr>
              <a:t> </a:t>
            </a:r>
          </a:p>
          <a:p>
            <a:endParaRPr lang="en-US" sz="2000" dirty="0">
              <a:solidFill>
                <a:srgbClr val="000000"/>
              </a:solidFill>
            </a:endParaRPr>
          </a:p>
        </p:txBody>
      </p:sp>
    </p:spTree>
    <p:extLst>
      <p:ext uri="{BB962C8B-B14F-4D97-AF65-F5344CB8AC3E}">
        <p14:creationId xmlns:p14="http://schemas.microsoft.com/office/powerpoint/2010/main" val="2425289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None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A Docker container which has none network configured for itself cannot communicate with any service or system as networking for the container is virtually disabled.</a:t>
            </a:r>
          </a:p>
          <a:p>
            <a:r>
              <a:rPr lang="en-IN" sz="2000" dirty="0"/>
              <a:t>Its usually used to isolate certain containers. </a:t>
            </a:r>
          </a:p>
          <a:p>
            <a:endParaRPr lang="en-IN" sz="2000" dirty="0"/>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pic>
        <p:nvPicPr>
          <p:cNvPr id="3" name="Picture 2">
            <a:extLst>
              <a:ext uri="{FF2B5EF4-FFF2-40B4-BE49-F238E27FC236}">
                <a16:creationId xmlns:a16="http://schemas.microsoft.com/office/drawing/2014/main" id="{2A41A893-B7FA-43FB-9557-627BEFCD8906}"/>
              </a:ext>
            </a:extLst>
          </p:cNvPr>
          <p:cNvPicPr>
            <a:picLocks noChangeAspect="1"/>
          </p:cNvPicPr>
          <p:nvPr/>
        </p:nvPicPr>
        <p:blipFill>
          <a:blip r:embed="rId4"/>
          <a:stretch>
            <a:fillRect/>
          </a:stretch>
        </p:blipFill>
        <p:spPr>
          <a:xfrm>
            <a:off x="1916499" y="2603696"/>
            <a:ext cx="7826490" cy="2798298"/>
          </a:xfrm>
          <a:prstGeom prst="rect">
            <a:avLst/>
          </a:prstGeom>
        </p:spPr>
      </p:pic>
    </p:spTree>
    <p:extLst>
      <p:ext uri="{BB962C8B-B14F-4D97-AF65-F5344CB8AC3E}">
        <p14:creationId xmlns:p14="http://schemas.microsoft.com/office/powerpoint/2010/main" val="3664632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None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Run container in None Network</a:t>
            </a:r>
            <a:r>
              <a:rPr lang="en-US" sz="2000" dirty="0">
                <a:solidFill>
                  <a:srgbClr val="000000"/>
                </a:solidFill>
              </a:rPr>
              <a:t>.</a:t>
            </a:r>
          </a:p>
          <a:p>
            <a:r>
              <a:rPr lang="en-US" sz="2000" dirty="0">
                <a:solidFill>
                  <a:srgbClr val="000000"/>
                </a:solidFill>
              </a:rPr>
              <a:t>	</a:t>
            </a:r>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a:t>
            </a:r>
            <a:r>
              <a:rPr lang="en-US" sz="2000" dirty="0">
                <a:solidFill>
                  <a:srgbClr val="000000"/>
                </a:solidFill>
                <a:latin typeface="Courier New" panose="02070309020205020404" pitchFamily="49" charset="0"/>
                <a:cs typeface="Courier New" panose="02070309020205020404" pitchFamily="49" charset="0"/>
              </a:rPr>
              <a:t>~ </a:t>
            </a:r>
            <a:r>
              <a:rPr lang="en-US" sz="2000" i="1" dirty="0">
                <a:solidFill>
                  <a:srgbClr val="000000"/>
                </a:solidFill>
                <a:latin typeface="Courier New" panose="02070309020205020404" pitchFamily="49" charset="0"/>
                <a:cs typeface="Courier New" panose="02070309020205020404" pitchFamily="49" charset="0"/>
              </a:rPr>
              <a:t>sudo docker run –it –d –-name nonCon –-network none ubuntu</a:t>
            </a:r>
          </a:p>
          <a:p>
            <a:r>
              <a:rPr lang="en-US" sz="2000" i="1" dirty="0">
                <a:solidFill>
                  <a:srgbClr val="000000"/>
                </a:solidFill>
                <a:latin typeface="Courier New" panose="02070309020205020404" pitchFamily="49" charset="0"/>
                <a:cs typeface="Courier New" panose="02070309020205020404" pitchFamily="49" charset="0"/>
              </a:rPr>
              <a:t>  ~ sudo docker container inspect nonCon</a:t>
            </a:r>
          </a:p>
          <a:p>
            <a:endParaRPr lang="en-US" sz="2000" i="1" dirty="0">
              <a:solidFill>
                <a:srgbClr val="000000"/>
              </a:solidFill>
              <a:latin typeface="Courier New" panose="02070309020205020404" pitchFamily="49" charset="0"/>
              <a:cs typeface="Courier New" panose="02070309020205020404" pitchFamily="49" charset="0"/>
            </a:endParaRPr>
          </a:p>
          <a:p>
            <a:r>
              <a:rPr lang="en-US" sz="2000" i="1" dirty="0">
                <a:solidFill>
                  <a:srgbClr val="000000"/>
                </a:solidFill>
                <a:latin typeface="Courier New" panose="02070309020205020404" pitchFamily="49" charset="0"/>
                <a:cs typeface="Courier New" panose="02070309020205020404" pitchFamily="49" charset="0"/>
              </a:rPr>
              <a:t> </a:t>
            </a:r>
          </a:p>
          <a:p>
            <a:endParaRPr lang="en-US" sz="2000" dirty="0">
              <a:solidFill>
                <a:srgbClr val="000000"/>
              </a:solidFill>
            </a:endParaRPr>
          </a:p>
        </p:txBody>
      </p:sp>
    </p:spTree>
    <p:extLst>
      <p:ext uri="{BB962C8B-B14F-4D97-AF65-F5344CB8AC3E}">
        <p14:creationId xmlns:p14="http://schemas.microsoft.com/office/powerpoint/2010/main" val="3275555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5. Macvlan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Some applications, especially legacy applications or applications which monitor network traffic, expect to be directly connected to the physical network. In this type of situation, you can use the macvlan network driver to assign a MAC address to each container’s virtual network interface, making it appear to be a physical network interface directly connected to the physical network. In this case, you need to designate a physical interface on your Docker host to use for the macvlan, as well as the subnet and gateway of the macvlan. You can even isolate your macvlan networks using different physical network interfaces</a:t>
            </a:r>
          </a:p>
          <a:p>
            <a:endParaRPr lang="en-IN" sz="2000" dirty="0"/>
          </a:p>
          <a:p>
            <a:r>
              <a:rPr lang="en-US" sz="2000" u="sng" dirty="0">
                <a:solidFill>
                  <a:srgbClr val="000000"/>
                </a:solidFill>
                <a:effectLst>
                  <a:outerShdw blurRad="38100" dist="38100" dir="2700000" algn="tl">
                    <a:srgbClr val="000000">
                      <a:alpha val="43137"/>
                    </a:srgbClr>
                  </a:outerShdw>
                </a:effectLst>
              </a:rPr>
              <a:t>Create macvlan Network</a:t>
            </a:r>
            <a:r>
              <a:rPr lang="en-US" sz="2000" dirty="0">
                <a:solidFill>
                  <a:srgbClr val="000000"/>
                </a:solidFill>
                <a:effectLst>
                  <a:outerShdw blurRad="38100" dist="38100" dir="2700000" algn="tl">
                    <a:srgbClr val="000000">
                      <a:alpha val="43137"/>
                    </a:srgbClr>
                  </a:outerShdw>
                </a:effectLst>
              </a:rPr>
              <a:t>.</a:t>
            </a:r>
          </a:p>
          <a:p>
            <a:endParaRPr lang="en-US" sz="2000" dirty="0">
              <a:solidFill>
                <a:srgbClr val="000000"/>
              </a:solidFill>
            </a:endParaRPr>
          </a:p>
          <a:p>
            <a:r>
              <a:rPr lang="en-IN" sz="2000" dirty="0"/>
              <a:t>When you create a macvlan network, it can either be in bridge mode or 802.1q trunk bridge mode.</a:t>
            </a:r>
          </a:p>
          <a:p>
            <a:endParaRPr lang="en-IN" sz="2000" dirty="0"/>
          </a:p>
          <a:p>
            <a:pPr marL="342900" indent="-342900">
              <a:buFont typeface="Arial" panose="020B0604020202020204" pitchFamily="34" charset="0"/>
              <a:buChar char="•"/>
            </a:pPr>
            <a:r>
              <a:rPr lang="en-IN" sz="2000" dirty="0"/>
              <a:t>In bridge mode, macvlan traffic goes through a physical device on the host.</a:t>
            </a:r>
          </a:p>
          <a:p>
            <a:pPr marL="342900" indent="-342900">
              <a:buFont typeface="Arial" panose="020B0604020202020204" pitchFamily="34" charset="0"/>
              <a:buChar char="•"/>
            </a:pPr>
            <a:r>
              <a:rPr lang="en-IN" sz="2000" dirty="0"/>
              <a:t>In 802.1q trunk bridge mode, traffic goes through an 802.1q sub-interface which Docker creates on the fly. This allows you to control routing and filtering at a more granular level.</a:t>
            </a:r>
          </a:p>
          <a:p>
            <a:endParaRPr lang="en-IN" sz="2000" dirty="0"/>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009226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Macvlan Bridge Mode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To create a macvlan network which bridges with a given physical network interface, use --driver macvlan with the docker network create command. You also need to specify the parent, which is the interface the traffic will physically go through on the Docker host.</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--subnet=172.16.86.0/24 \</a:t>
            </a:r>
          </a:p>
          <a:p>
            <a:r>
              <a:rPr lang="en-IN" sz="2000" i="1" dirty="0">
                <a:solidFill>
                  <a:srgbClr val="000000"/>
                </a:solidFill>
                <a:latin typeface="Courier New" panose="02070309020205020404" pitchFamily="49" charset="0"/>
                <a:cs typeface="Courier New" panose="02070309020205020404" pitchFamily="49" charset="0"/>
              </a:rPr>
              <a:t>  --gateway=172.16.86.1 \</a:t>
            </a:r>
          </a:p>
          <a:p>
            <a:r>
              <a:rPr lang="en-IN" sz="2000" i="1" dirty="0">
                <a:solidFill>
                  <a:srgbClr val="000000"/>
                </a:solidFill>
                <a:latin typeface="Courier New" panose="02070309020205020404" pitchFamily="49" charset="0"/>
                <a:cs typeface="Courier New" panose="02070309020205020404" pitchFamily="49" charset="0"/>
              </a:rPr>
              <a:t>  -o parent=eth0 pub_net</a:t>
            </a:r>
          </a:p>
          <a:p>
            <a:endParaRPr lang="en-IN" sz="2000" i="1" dirty="0">
              <a:solidFill>
                <a:srgbClr val="000000"/>
              </a:solidFill>
              <a:latin typeface="Courier New" panose="02070309020205020404" pitchFamily="49" charset="0"/>
              <a:cs typeface="Courier New" panose="02070309020205020404" pitchFamily="49" charset="0"/>
            </a:endParaRPr>
          </a:p>
          <a:p>
            <a:r>
              <a:rPr lang="en-IN" sz="2000" dirty="0"/>
              <a:t>If you need to exclude IP addresses from being used in the macvlan network, such as when a given IP address is already in use, use --aux-addresses:</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--subnet=192.168.32.0/24 \</a:t>
            </a:r>
          </a:p>
          <a:p>
            <a:r>
              <a:rPr lang="en-IN" sz="2000" i="1" dirty="0">
                <a:solidFill>
                  <a:srgbClr val="000000"/>
                </a:solidFill>
                <a:latin typeface="Courier New" panose="02070309020205020404" pitchFamily="49" charset="0"/>
                <a:cs typeface="Courier New" panose="02070309020205020404" pitchFamily="49" charset="0"/>
              </a:rPr>
              <a:t>  --ip-range=192.168.32.128/25 \</a:t>
            </a:r>
          </a:p>
          <a:p>
            <a:r>
              <a:rPr lang="en-IN" sz="2000" i="1" dirty="0">
                <a:solidFill>
                  <a:srgbClr val="000000"/>
                </a:solidFill>
                <a:latin typeface="Courier New" panose="02070309020205020404" pitchFamily="49" charset="0"/>
                <a:cs typeface="Courier New" panose="02070309020205020404" pitchFamily="49" charset="0"/>
              </a:rPr>
              <a:t>  --gateway=192.168.32.254 \</a:t>
            </a:r>
          </a:p>
          <a:p>
            <a:r>
              <a:rPr lang="en-IN" sz="2000" i="1" dirty="0">
                <a:solidFill>
                  <a:srgbClr val="000000"/>
                </a:solidFill>
                <a:latin typeface="Courier New" panose="02070309020205020404" pitchFamily="49" charset="0"/>
                <a:cs typeface="Courier New" panose="02070309020205020404" pitchFamily="49" charset="0"/>
              </a:rPr>
              <a:t>  --aux-address="my-router=192.168.32.129" \</a:t>
            </a:r>
          </a:p>
          <a:p>
            <a:r>
              <a:rPr lang="en-IN" sz="2000" i="1" dirty="0">
                <a:solidFill>
                  <a:srgbClr val="000000"/>
                </a:solidFill>
                <a:latin typeface="Courier New" panose="02070309020205020404" pitchFamily="49" charset="0"/>
                <a:cs typeface="Courier New" panose="02070309020205020404" pitchFamily="49" charset="0"/>
              </a:rPr>
              <a:t>  -o parent=eth0 macnet32</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349550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Macvlan 802.1q trunk Bridge Mode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IN" sz="2000" dirty="0"/>
              <a:t>If you specify a parent interface name with a dot included, such as eth0.50, Docker interprets that as a sub-interface of eth0 and creates the sub-interface automatically.</a:t>
            </a:r>
          </a:p>
          <a:p>
            <a:endParaRPr lang="en-IN" sz="2000" dirty="0"/>
          </a:p>
          <a:p>
            <a:r>
              <a:rPr lang="en-IN" sz="2000" i="1" dirty="0">
                <a:solidFill>
                  <a:srgbClr val="000000"/>
                </a:solidFill>
                <a:latin typeface="Courier New" panose="02070309020205020404" pitchFamily="49" charset="0"/>
                <a:cs typeface="Courier New" panose="02070309020205020404" pitchFamily="49" charset="0"/>
              </a:rPr>
              <a:t>~ docker network create -d macvlan \</a:t>
            </a:r>
          </a:p>
          <a:p>
            <a:r>
              <a:rPr lang="en-IN" sz="2000" i="1" dirty="0">
                <a:solidFill>
                  <a:srgbClr val="000000"/>
                </a:solidFill>
                <a:latin typeface="Courier New" panose="02070309020205020404" pitchFamily="49" charset="0"/>
                <a:cs typeface="Courier New" panose="02070309020205020404" pitchFamily="49" charset="0"/>
              </a:rPr>
              <a:t>    --subnet=192.168.50.0/24 \</a:t>
            </a:r>
          </a:p>
          <a:p>
            <a:r>
              <a:rPr lang="en-IN" sz="2000" i="1" dirty="0">
                <a:solidFill>
                  <a:srgbClr val="000000"/>
                </a:solidFill>
                <a:latin typeface="Courier New" panose="02070309020205020404" pitchFamily="49" charset="0"/>
                <a:cs typeface="Courier New" panose="02070309020205020404" pitchFamily="49" charset="0"/>
              </a:rPr>
              <a:t>    --gateway=192.168.50.1 \</a:t>
            </a:r>
          </a:p>
          <a:p>
            <a:r>
              <a:rPr lang="en-IN" sz="2000" i="1" dirty="0">
                <a:solidFill>
                  <a:srgbClr val="000000"/>
                </a:solidFill>
                <a:latin typeface="Courier New" panose="02070309020205020404" pitchFamily="49" charset="0"/>
                <a:cs typeface="Courier New" panose="02070309020205020404" pitchFamily="49" charset="0"/>
              </a:rPr>
              <a:t>    -o parent=eth0.50 macvlan50</a:t>
            </a:r>
            <a:endParaRPr lang="en-US" sz="20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Tree>
    <p:extLst>
      <p:ext uri="{BB962C8B-B14F-4D97-AF65-F5344CB8AC3E}">
        <p14:creationId xmlns:p14="http://schemas.microsoft.com/office/powerpoint/2010/main" val="2308743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821496" y="3669716"/>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666752" y="3198167"/>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2.xml><?xml version="1.0" encoding="utf-8"?>
<ds:datastoreItem xmlns:ds="http://schemas.openxmlformats.org/officeDocument/2006/customXml" ds:itemID="{C75BD6EB-5C72-4651-A510-8915F7022125}">
  <ds:schemaRefs>
    <ds:schemaRef ds:uri="http://schemas.microsoft.com/sharepoint/v3/contenttype/forms"/>
  </ds:schemaRefs>
</ds:datastoreItem>
</file>

<file path=customXml/itemProps3.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3692</TotalTime>
  <Words>1066</Words>
  <Application>Microsoft Office PowerPoint</Application>
  <PresentationFormat>Widescreen</PresentationFormat>
  <Paragraphs>151</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Aparajita</vt:lpstr>
      <vt:lpstr>Arial</vt:lpstr>
      <vt:lpstr>Calibri</vt:lpstr>
      <vt:lpstr>Century Gothic</vt:lpstr>
      <vt:lpstr>Courier New</vt: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426</cp:revision>
  <dcterms:created xsi:type="dcterms:W3CDTF">2022-07-11T16:43:42Z</dcterms:created>
  <dcterms:modified xsi:type="dcterms:W3CDTF">2023-03-31T08:55:35Z</dcterms:modified>
</cp:coreProperties>
</file>
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23"/>
  </p:notesMasterIdLst>
  <p:sldIdLst>
    <p:sldId id="336" r:id="rId5"/>
    <p:sldId id="404" r:id="rId6"/>
    <p:sldId id="405" r:id="rId7"/>
    <p:sldId id="403" r:id="rId8"/>
    <p:sldId id="406" r:id="rId9"/>
    <p:sldId id="407" r:id="rId10"/>
    <p:sldId id="416" r:id="rId11"/>
    <p:sldId id="417" r:id="rId12"/>
    <p:sldId id="418" r:id="rId13"/>
    <p:sldId id="419" r:id="rId14"/>
    <p:sldId id="408" r:id="rId15"/>
    <p:sldId id="409" r:id="rId16"/>
    <p:sldId id="410" r:id="rId17"/>
    <p:sldId id="411" r:id="rId18"/>
    <p:sldId id="413" r:id="rId19"/>
    <p:sldId id="414" r:id="rId20"/>
    <p:sldId id="415" r:id="rId21"/>
    <p:sldId id="359"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 id="2" name="Angad Wagh" initials="AW" lastIdx="1" clrIdx="1">
    <p:extLst>
      <p:ext uri="{19B8F6BF-5375-455C-9EA6-DF929625EA0E}">
        <p15:presenceInfo xmlns:p15="http://schemas.microsoft.com/office/powerpoint/2012/main" userId="S::angadwagh@orientindia.net::60813458-2ee0-4c15-9be4-8475578655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29" autoAdjust="0"/>
    <p:restoredTop sz="93878" autoAdjust="0"/>
  </p:normalViewPr>
  <p:slideViewPr>
    <p:cSldViewPr snapToGrid="0">
      <p:cViewPr varScale="1">
        <p:scale>
          <a:sx n="64" d="100"/>
          <a:sy n="64" d="100"/>
        </p:scale>
        <p:origin x="103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12-07-2023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7098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066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23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1759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9879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716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923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827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730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2334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5244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22427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7/12/2023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7/12/2023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7/12/2023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7/12/2023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7/12/2023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7/12/2023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7/12/2023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7/12/2023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7/12/2023</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7/12/2023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7/12/2023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7/12/2023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 Orchestration</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Orchestration</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b="1" u="sng" dirty="0">
                <a:effectLst>
                  <a:outerShdw blurRad="38100" dist="38100" dir="2700000" algn="tl">
                    <a:srgbClr val="000000">
                      <a:alpha val="43137"/>
                    </a:srgbClr>
                  </a:outerShdw>
                </a:effectLst>
              </a:rPr>
              <a:t>Orchestration</a:t>
            </a:r>
            <a:r>
              <a:rPr lang="en-IN" sz="2000" dirty="0"/>
              <a:t>: Tools to manage, scale, and maintain containerized applications are called </a:t>
            </a:r>
            <a:r>
              <a:rPr lang="en-IN" sz="2000" i="1" dirty="0"/>
              <a:t>orchestrators</a:t>
            </a:r>
            <a:r>
              <a:rPr lang="en-IN" sz="2000" dirty="0"/>
              <a:t>, and the most common examples of these are </a:t>
            </a:r>
            <a:r>
              <a:rPr lang="en-IN" sz="2000" i="1" dirty="0"/>
              <a:t>Kubernetes, Docker Swarm, AWS ECS, AWS EKS etc</a:t>
            </a:r>
            <a:r>
              <a:rPr lang="en-IN" sz="2000" dirty="0"/>
              <a:t>.</a:t>
            </a:r>
            <a:endParaRPr lang="en-IN" sz="2000" dirty="0">
              <a:solidFill>
                <a:srgbClr val="000000"/>
              </a:solidFill>
            </a:endParaRPr>
          </a:p>
          <a:p>
            <a:endParaRPr lang="en-IN" sz="2000" dirty="0">
              <a:solidFill>
                <a:srgbClr val="000000"/>
              </a:solidFill>
            </a:endParaRPr>
          </a:p>
          <a:p>
            <a:r>
              <a:rPr lang="en-IN" sz="2000" dirty="0">
                <a:solidFill>
                  <a:srgbClr val="000000"/>
                </a:solidFill>
              </a:rPr>
              <a:t>Orchestration allows us to manage and maintain multiple containers. This is especially helpful in software development where we maybe making use of micro-services architecture as it breaks down the software into small manageable chunks. Having different configurations and environment becomes easier with orchestration.</a:t>
            </a:r>
            <a:endParaRPr lang="en-US" sz="2000" dirty="0">
              <a:solidFill>
                <a:srgbClr val="000000"/>
              </a:solidFill>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7" name="Picture 6">
            <a:extLst>
              <a:ext uri="{FF2B5EF4-FFF2-40B4-BE49-F238E27FC236}">
                <a16:creationId xmlns:a16="http://schemas.microsoft.com/office/drawing/2014/main" id="{029D2B17-34B8-48D0-9840-8CED77433003}"/>
              </a:ext>
            </a:extLst>
          </p:cNvPr>
          <p:cNvPicPr>
            <a:picLocks noChangeAspect="1"/>
          </p:cNvPicPr>
          <p:nvPr/>
        </p:nvPicPr>
        <p:blipFill>
          <a:blip r:embed="rId4"/>
          <a:stretch>
            <a:fillRect/>
          </a:stretch>
        </p:blipFill>
        <p:spPr>
          <a:xfrm>
            <a:off x="3341603" y="3429000"/>
            <a:ext cx="5448300" cy="2638425"/>
          </a:xfrm>
          <a:prstGeom prst="rect">
            <a:avLst/>
          </a:prstGeom>
        </p:spPr>
      </p:pic>
    </p:spTree>
    <p:extLst>
      <p:ext uri="{BB962C8B-B14F-4D97-AF65-F5344CB8AC3E}">
        <p14:creationId xmlns:p14="http://schemas.microsoft.com/office/powerpoint/2010/main" val="265699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Benefits of Docker Orchestration</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285750" indent="-285750">
              <a:buFont typeface="Arial" panose="020B0604020202020204" pitchFamily="34" charset="0"/>
              <a:buChar char="•"/>
            </a:pPr>
            <a:r>
              <a:rPr lang="en-US" sz="2000" dirty="0">
                <a:solidFill>
                  <a:srgbClr val="000000"/>
                </a:solidFill>
                <a:cs typeface="Calibri" panose="020F0502020204030204" pitchFamily="34" charset="0"/>
              </a:rPr>
              <a:t>Easy Deployment.</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Easy management.</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Easy resource management.</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Allow for heath monitoring of the containers.</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Load balancing among different containers.</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Easy updating.</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Easy scaling up and rolling back.</a:t>
            </a:r>
          </a:p>
          <a:p>
            <a:endParaRPr lang="en-US" sz="2000" dirty="0">
              <a:solidFill>
                <a:srgbClr val="000000"/>
              </a:solidFill>
              <a:cs typeface="Calibri" panose="020F0502020204030204" pitchFamily="34" charset="0"/>
            </a:endParaRPr>
          </a:p>
          <a:p>
            <a:pPr marL="285750" indent="-285750">
              <a:buFont typeface="Arial" panose="020B0604020202020204" pitchFamily="34" charset="0"/>
              <a:buChar char="•"/>
            </a:pPr>
            <a:r>
              <a:rPr lang="en-US" sz="2000" dirty="0">
                <a:solidFill>
                  <a:srgbClr val="000000"/>
                </a:solidFill>
                <a:cs typeface="Calibri" panose="020F0502020204030204" pitchFamily="34" charset="0"/>
              </a:rPr>
              <a:t>Creates layer of security.</a:t>
            </a:r>
          </a:p>
          <a:p>
            <a:endParaRPr lang="en-US" sz="2000" dirty="0">
              <a:solidFill>
                <a:srgbClr val="000000"/>
              </a:solidFill>
              <a:cs typeface="Calibri" panose="020F0502020204030204" pitchFamily="34" charset="0"/>
            </a:endParaRPr>
          </a:p>
          <a:p>
            <a:endParaRPr lang="en-US" sz="2000" dirty="0">
              <a:solidFill>
                <a:srgbClr val="000000"/>
              </a:solidFill>
            </a:endParaRPr>
          </a:p>
        </p:txBody>
      </p:sp>
    </p:spTree>
    <p:extLst>
      <p:ext uri="{BB962C8B-B14F-4D97-AF65-F5344CB8AC3E}">
        <p14:creationId xmlns:p14="http://schemas.microsoft.com/office/powerpoint/2010/main" val="314832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Swarm</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rPr>
              <a:t>Docker Swarm is an orchestration management tool that runs on Docker applications. It helps end-users in creating and deploying a cluster of Docker nodes.</a:t>
            </a:r>
          </a:p>
          <a:p>
            <a:endParaRPr lang="en-IN" sz="2000" dirty="0">
              <a:solidFill>
                <a:srgbClr val="000000"/>
              </a:solidFill>
              <a:latin typeface="Courier New" panose="02070309020205020404" pitchFamily="49" charset="0"/>
              <a:cs typeface="Courier New" panose="02070309020205020404" pitchFamily="49" charset="0"/>
            </a:endParaRPr>
          </a:p>
          <a:p>
            <a:r>
              <a:rPr lang="en-IN" sz="2000" dirty="0">
                <a:solidFill>
                  <a:srgbClr val="000000"/>
                </a:solidFill>
              </a:rPr>
              <a:t>Each node of a Docker Swarm is a Docker daemon, and all Docker daemons interact using the Docker API. Each container within the Swarm can be deployed and accessed by nodes of the same cluster.</a:t>
            </a:r>
            <a:endParaRPr lang="en-US" sz="2000" dirty="0">
              <a:solidFill>
                <a:srgbClr val="000000"/>
              </a:solidFill>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2" name="Picture 1">
            <a:extLst>
              <a:ext uri="{FF2B5EF4-FFF2-40B4-BE49-F238E27FC236}">
                <a16:creationId xmlns:a16="http://schemas.microsoft.com/office/drawing/2014/main" id="{EAA4B19A-0182-48A0-9D1A-197DAEE9A0AF}"/>
              </a:ext>
            </a:extLst>
          </p:cNvPr>
          <p:cNvPicPr>
            <a:picLocks noChangeAspect="1"/>
          </p:cNvPicPr>
          <p:nvPr/>
        </p:nvPicPr>
        <p:blipFill>
          <a:blip r:embed="rId4"/>
          <a:stretch>
            <a:fillRect/>
          </a:stretch>
        </p:blipFill>
        <p:spPr>
          <a:xfrm>
            <a:off x="1657367" y="3330526"/>
            <a:ext cx="8389543" cy="2829286"/>
          </a:xfrm>
          <a:prstGeom prst="rect">
            <a:avLst/>
          </a:prstGeom>
        </p:spPr>
      </p:pic>
    </p:spTree>
    <p:extLst>
      <p:ext uri="{BB962C8B-B14F-4D97-AF65-F5344CB8AC3E}">
        <p14:creationId xmlns:p14="http://schemas.microsoft.com/office/powerpoint/2010/main" val="31198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Swarm Architecture</a:t>
            </a:r>
            <a:endParaRPr lang="en-IN" sz="2400" dirty="0">
              <a:solidFill>
                <a:prstClr val="black"/>
              </a:solidFill>
              <a:latin typeface="Arial"/>
              <a:cs typeface="Arial"/>
            </a:endParaRPr>
          </a:p>
        </p:txBody>
      </p:sp>
      <p:pic>
        <p:nvPicPr>
          <p:cNvPr id="3" name="Picture 2">
            <a:extLst>
              <a:ext uri="{FF2B5EF4-FFF2-40B4-BE49-F238E27FC236}">
                <a16:creationId xmlns:a16="http://schemas.microsoft.com/office/drawing/2014/main" id="{48293FB5-5CCE-4268-8E7E-9B41CEDB76C9}"/>
              </a:ext>
            </a:extLst>
          </p:cNvPr>
          <p:cNvPicPr>
            <a:picLocks noChangeAspect="1"/>
          </p:cNvPicPr>
          <p:nvPr/>
        </p:nvPicPr>
        <p:blipFill>
          <a:blip r:embed="rId4"/>
          <a:stretch>
            <a:fillRect/>
          </a:stretch>
        </p:blipFill>
        <p:spPr>
          <a:xfrm>
            <a:off x="825883" y="1358773"/>
            <a:ext cx="10540234" cy="4899513"/>
          </a:xfrm>
          <a:prstGeom prst="rect">
            <a:avLst/>
          </a:prstGeom>
        </p:spPr>
      </p:pic>
    </p:spTree>
    <p:extLst>
      <p:ext uri="{BB962C8B-B14F-4D97-AF65-F5344CB8AC3E}">
        <p14:creationId xmlns:p14="http://schemas.microsoft.com/office/powerpoint/2010/main" val="3952826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Swarm Components</a:t>
            </a:r>
            <a:endParaRPr lang="en-IN" sz="2400" dirty="0">
              <a:solidFill>
                <a:prstClr val="black"/>
              </a:solidFill>
              <a:latin typeface="Arial"/>
              <a:cs typeface="Arial"/>
            </a:endParaRPr>
          </a:p>
        </p:txBody>
      </p:sp>
      <p:pic>
        <p:nvPicPr>
          <p:cNvPr id="2" name="Picture 1">
            <a:extLst>
              <a:ext uri="{FF2B5EF4-FFF2-40B4-BE49-F238E27FC236}">
                <a16:creationId xmlns:a16="http://schemas.microsoft.com/office/drawing/2014/main" id="{EE11D441-FE56-415A-92F4-281F75423E93}"/>
              </a:ext>
            </a:extLst>
          </p:cNvPr>
          <p:cNvPicPr>
            <a:picLocks noChangeAspect="1"/>
          </p:cNvPicPr>
          <p:nvPr/>
        </p:nvPicPr>
        <p:blipFill>
          <a:blip r:embed="rId4"/>
          <a:stretch>
            <a:fillRect/>
          </a:stretch>
        </p:blipFill>
        <p:spPr>
          <a:xfrm>
            <a:off x="1289366" y="1463992"/>
            <a:ext cx="9613267" cy="4595666"/>
          </a:xfrm>
          <a:prstGeom prst="rect">
            <a:avLst/>
          </a:prstGeom>
        </p:spPr>
      </p:pic>
    </p:spTree>
    <p:extLst>
      <p:ext uri="{BB962C8B-B14F-4D97-AF65-F5344CB8AC3E}">
        <p14:creationId xmlns:p14="http://schemas.microsoft.com/office/powerpoint/2010/main" val="3784727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2F66C6DA-D9EA-3DA5-868D-753835DA1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3604" y="643467"/>
            <a:ext cx="8704792" cy="5571066"/>
          </a:xfrm>
          <a:prstGeom prst="rect">
            <a:avLst/>
          </a:prstGeom>
        </p:spPr>
      </p:pic>
    </p:spTree>
    <p:extLst>
      <p:ext uri="{BB962C8B-B14F-4D97-AF65-F5344CB8AC3E}">
        <p14:creationId xmlns:p14="http://schemas.microsoft.com/office/powerpoint/2010/main" val="1257591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8F8B7E-6A02-A4EF-0218-287AE04EC5FF}"/>
              </a:ext>
            </a:extLst>
          </p:cNvPr>
          <p:cNvPicPr>
            <a:picLocks noChangeAspect="1"/>
          </p:cNvPicPr>
          <p:nvPr/>
        </p:nvPicPr>
        <p:blipFill>
          <a:blip r:embed="rId2"/>
          <a:stretch>
            <a:fillRect/>
          </a:stretch>
        </p:blipFill>
        <p:spPr>
          <a:xfrm>
            <a:off x="0" y="3628"/>
            <a:ext cx="12192000" cy="6850743"/>
          </a:xfrm>
          <a:prstGeom prst="rect">
            <a:avLst/>
          </a:prstGeom>
        </p:spPr>
      </p:pic>
    </p:spTree>
    <p:extLst>
      <p:ext uri="{BB962C8B-B14F-4D97-AF65-F5344CB8AC3E}">
        <p14:creationId xmlns:p14="http://schemas.microsoft.com/office/powerpoint/2010/main" val="1022332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F24AFD-A18E-CF92-8136-60991A5F40A0}"/>
              </a:ext>
            </a:extLst>
          </p:cNvPr>
          <p:cNvPicPr>
            <a:picLocks noChangeAspect="1"/>
          </p:cNvPicPr>
          <p:nvPr/>
        </p:nvPicPr>
        <p:blipFill>
          <a:blip r:embed="rId2"/>
          <a:stretch>
            <a:fillRect/>
          </a:stretch>
        </p:blipFill>
        <p:spPr>
          <a:xfrm>
            <a:off x="0" y="3628"/>
            <a:ext cx="12192000" cy="6850743"/>
          </a:xfrm>
          <a:prstGeom prst="rect">
            <a:avLst/>
          </a:prstGeom>
        </p:spPr>
      </p:pic>
    </p:spTree>
    <p:extLst>
      <p:ext uri="{BB962C8B-B14F-4D97-AF65-F5344CB8AC3E}">
        <p14:creationId xmlns:p14="http://schemas.microsoft.com/office/powerpoint/2010/main" val="50441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443365-C7A5-8FDA-CCB2-220D01BEC061}"/>
              </a:ext>
            </a:extLst>
          </p:cNvPr>
          <p:cNvPicPr>
            <a:picLocks noChangeAspect="1"/>
          </p:cNvPicPr>
          <p:nvPr/>
        </p:nvPicPr>
        <p:blipFill>
          <a:blip r:embed="rId2"/>
          <a:stretch>
            <a:fillRect/>
          </a:stretch>
        </p:blipFill>
        <p:spPr>
          <a:xfrm>
            <a:off x="0" y="3628"/>
            <a:ext cx="12192000" cy="6850743"/>
          </a:xfrm>
          <a:prstGeom prst="rect">
            <a:avLst/>
          </a:prstGeom>
        </p:spPr>
      </p:pic>
    </p:spTree>
    <p:extLst>
      <p:ext uri="{BB962C8B-B14F-4D97-AF65-F5344CB8AC3E}">
        <p14:creationId xmlns:p14="http://schemas.microsoft.com/office/powerpoint/2010/main" val="3581448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Swarm Commands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u="sng" dirty="0">
                <a:solidFill>
                  <a:srgbClr val="000000"/>
                </a:solidFill>
              </a:rPr>
              <a:t>Commands to work with Docker Swarm:</a:t>
            </a:r>
          </a:p>
          <a:p>
            <a:endParaRPr lang="en-US" sz="1600" u="sng" dirty="0">
              <a:solidFill>
                <a:srgbClr val="000000"/>
              </a:solidFill>
            </a:endParaRPr>
          </a:p>
          <a:p>
            <a:r>
              <a:rPr lang="pt-BR" sz="1600" dirty="0">
                <a:solidFill>
                  <a:srgbClr val="000000"/>
                </a:solidFill>
                <a:latin typeface="Courier New" panose="02070309020205020404" pitchFamily="49" charset="0"/>
                <a:cs typeface="Courier New" panose="02070309020205020404" pitchFamily="49" charset="0"/>
              </a:rPr>
              <a:t>~ sudo </a:t>
            </a:r>
            <a:r>
              <a:rPr lang="en-IN" sz="1600" dirty="0">
                <a:solidFill>
                  <a:srgbClr val="000000"/>
                </a:solidFill>
                <a:latin typeface="Courier New" panose="02070309020205020404" pitchFamily="49" charset="0"/>
                <a:cs typeface="Courier New" panose="02070309020205020404" pitchFamily="49" charset="0"/>
              </a:rPr>
              <a:t>docker swarm init –advertise-</a:t>
            </a:r>
            <a:r>
              <a:rPr lang="en-IN" sz="1600" dirty="0" err="1">
                <a:solidFill>
                  <a:srgbClr val="000000"/>
                </a:solidFill>
                <a:latin typeface="Courier New" panose="02070309020205020404" pitchFamily="49" charset="0"/>
                <a:cs typeface="Courier New" panose="02070309020205020404" pitchFamily="49" charset="0"/>
              </a:rPr>
              <a:t>addr</a:t>
            </a:r>
            <a:r>
              <a:rPr lang="en-IN" sz="1600" dirty="0">
                <a:solidFill>
                  <a:srgbClr val="000000"/>
                </a:solidFill>
                <a:latin typeface="Courier New" panose="02070309020205020404" pitchFamily="49" charset="0"/>
                <a:cs typeface="Courier New" panose="02070309020205020404" pitchFamily="49" charset="0"/>
              </a:rPr>
              <a:t> &lt;manager_node_ip&gt;</a:t>
            </a:r>
            <a:endParaRPr lang="en-US" sz="12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docker swarm join –-token &lt;token&gt; </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node ls</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info</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swarm leave</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swarm join-token worker</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swarm join-token manager</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node rm &lt;node_id&gt;</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swarm leave –-force </a:t>
            </a:r>
            <a:r>
              <a:rPr lang="en-US" sz="1600" b="1" i="1" dirty="0">
                <a:solidFill>
                  <a:srgbClr val="000000"/>
                </a:solidFill>
                <a:latin typeface="Courier New" panose="02070309020205020404" pitchFamily="49" charset="0"/>
                <a:cs typeface="Courier New" panose="02070309020205020404" pitchFamily="49" charset="0"/>
              </a:rPr>
              <a:t>(stop swarm or leave manager)</a:t>
            </a:r>
          </a:p>
          <a:p>
            <a:endParaRPr lang="en-US" sz="1600" b="1" i="1" dirty="0">
              <a:solidFill>
                <a:srgbClr val="000000"/>
              </a:solidFill>
              <a:latin typeface="Courier New" panose="02070309020205020404" pitchFamily="49" charset="0"/>
              <a:cs typeface="Courier New" panose="02070309020205020404" pitchFamily="49" charset="0"/>
            </a:endParaRPr>
          </a:p>
          <a:p>
            <a:r>
              <a:rPr lang="en-US" sz="1600" b="1" i="1"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service create --name fun –-replicas 3 –p 80:8080 httpd</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service ls </a:t>
            </a:r>
          </a:p>
          <a:p>
            <a:endParaRPr lang="en-US" sz="1600" i="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1694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Swarm Commands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u="sng" dirty="0">
                <a:solidFill>
                  <a:srgbClr val="000000"/>
                </a:solidFill>
              </a:rPr>
              <a:t>Commands to work with Docker Swarm:</a:t>
            </a:r>
          </a:p>
          <a:p>
            <a:endParaRPr lang="en-US" sz="1600" u="sng" dirty="0">
              <a:solidFill>
                <a:srgbClr val="000000"/>
              </a:solidFill>
            </a:endParaRPr>
          </a:p>
          <a:p>
            <a:r>
              <a:rPr lang="pt-BR" sz="1600" dirty="0">
                <a:solidFill>
                  <a:srgbClr val="000000"/>
                </a:solidFill>
                <a:latin typeface="Courier New" panose="02070309020205020404" pitchFamily="49" charset="0"/>
                <a:cs typeface="Courier New" panose="02070309020205020404" pitchFamily="49" charset="0"/>
              </a:rPr>
              <a:t>~ sudo </a:t>
            </a:r>
            <a:r>
              <a:rPr lang="en-IN" sz="1600" dirty="0">
                <a:solidFill>
                  <a:srgbClr val="000000"/>
                </a:solidFill>
                <a:latin typeface="Courier New" panose="02070309020205020404" pitchFamily="49" charset="0"/>
                <a:cs typeface="Courier New" panose="02070309020205020404" pitchFamily="49" charset="0"/>
              </a:rPr>
              <a:t>docker service ps fun</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rm –f &lt;service_container_name&gt;</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service inspect fun</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service rm fun</a:t>
            </a:r>
          </a:p>
          <a:p>
            <a:endParaRPr lang="en-US" sz="12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82887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Stack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A stack is a group of interrelated services that share dependencies and can be orchestrated and scaled together.</a:t>
            </a:r>
            <a:endParaRPr lang="en-IN" sz="2000" dirty="0">
              <a:solidFill>
                <a:srgbClr val="000000"/>
              </a:solidFill>
              <a:cs typeface="Calibri" panose="020F0502020204030204" pitchFamily="34" charset="0"/>
            </a:endParaRPr>
          </a:p>
          <a:p>
            <a:r>
              <a:rPr lang="en-IN" sz="2000" dirty="0">
                <a:solidFill>
                  <a:srgbClr val="000000"/>
                </a:solidFill>
                <a:cs typeface="Calibri" panose="020F0502020204030204" pitchFamily="34" charset="0"/>
              </a:rPr>
              <a:t>We can make use of docker compose here to run multiple services.</a:t>
            </a:r>
          </a:p>
          <a:p>
            <a:endParaRPr lang="en-IN" sz="2400" dirty="0">
              <a:solidFill>
                <a:srgbClr val="000000"/>
              </a:solidFill>
              <a:latin typeface="Aparajita" panose="02020603050405020304" pitchFamily="18" charset="0"/>
              <a:cs typeface="Aparajita" panose="02020603050405020304" pitchFamily="18" charset="0"/>
            </a:endParaRPr>
          </a:p>
          <a:p>
            <a:r>
              <a:rPr lang="en-US" sz="2000" u="sng" dirty="0">
                <a:solidFill>
                  <a:srgbClr val="000000"/>
                </a:solidFill>
              </a:rPr>
              <a:t>Commands to work with Docker Stack:</a:t>
            </a:r>
          </a:p>
          <a:p>
            <a:endParaRPr lang="en-US" sz="1600" u="sng" dirty="0">
              <a:solidFill>
                <a:srgbClr val="000000"/>
              </a:solidFill>
            </a:endParaRPr>
          </a:p>
          <a:p>
            <a:r>
              <a:rPr lang="pt-BR" sz="1600" dirty="0">
                <a:solidFill>
                  <a:srgbClr val="000000"/>
                </a:solidFill>
                <a:latin typeface="Courier New" panose="02070309020205020404" pitchFamily="49" charset="0"/>
                <a:cs typeface="Courier New" panose="02070309020205020404" pitchFamily="49" charset="0"/>
              </a:rPr>
              <a:t>~ sudo </a:t>
            </a:r>
            <a:r>
              <a:rPr lang="en-IN" sz="1600" dirty="0">
                <a:solidFill>
                  <a:srgbClr val="000000"/>
                </a:solidFill>
                <a:latin typeface="Courier New" panose="02070309020205020404" pitchFamily="49" charset="0"/>
                <a:cs typeface="Courier New" panose="02070309020205020404" pitchFamily="49" charset="0"/>
              </a:rPr>
              <a:t>docker stack deploy –c docker-compose.yml &lt;stack_name&gt;</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service scale &lt;service_name&gt;=3</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stack services &lt;stack_name&gt;   </a:t>
            </a:r>
            <a:r>
              <a:rPr lang="en-IN" sz="1600" b="1" i="1" dirty="0">
                <a:solidFill>
                  <a:srgbClr val="000000"/>
                </a:solidFill>
                <a:latin typeface="Courier New" panose="02070309020205020404" pitchFamily="49" charset="0"/>
                <a:cs typeface="Courier New" panose="02070309020205020404" pitchFamily="49" charset="0"/>
              </a:rPr>
              <a:t>(To see stack specific services)</a:t>
            </a:r>
          </a:p>
          <a:p>
            <a:endParaRPr lang="en-IN" sz="1600" b="1"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node update –-availability drain &lt;node_id&gt;</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node update –-availability active &lt;node_id&gt;</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service update –-image mysql:latest &lt;service_id&gt;</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sudo docker stack rm &lt;stack_name&gt;</a:t>
            </a:r>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86227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AWS ECR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Amazon Elastic Container Registry (ECR) is a fully managed Docker container registry that makes it easy to store, share, and deploy container images. Once docker client has been authorised it can push and pull to and from the ECR. </a:t>
            </a:r>
          </a:p>
          <a:p>
            <a:r>
              <a:rPr lang="en-IN" sz="2000" dirty="0">
                <a:solidFill>
                  <a:srgbClr val="000000"/>
                </a:solidFill>
                <a:cs typeface="Calibri" panose="020F0502020204030204" pitchFamily="34" charset="0"/>
              </a:rPr>
              <a:t>It is useful in a scenario when you don’t want to manage dedicated storage for images and want to use other AWS services that make use of it.</a:t>
            </a:r>
          </a:p>
        </p:txBody>
      </p:sp>
      <p:pic>
        <p:nvPicPr>
          <p:cNvPr id="3" name="Picture 2">
            <a:extLst>
              <a:ext uri="{FF2B5EF4-FFF2-40B4-BE49-F238E27FC236}">
                <a16:creationId xmlns:a16="http://schemas.microsoft.com/office/drawing/2014/main" id="{710C9E46-03CE-477D-A234-9F8C8E0AE577}"/>
              </a:ext>
            </a:extLst>
          </p:cNvPr>
          <p:cNvPicPr>
            <a:picLocks noChangeAspect="1"/>
          </p:cNvPicPr>
          <p:nvPr/>
        </p:nvPicPr>
        <p:blipFill>
          <a:blip r:embed="rId4"/>
          <a:stretch>
            <a:fillRect/>
          </a:stretch>
        </p:blipFill>
        <p:spPr>
          <a:xfrm>
            <a:off x="3789088" y="2847489"/>
            <a:ext cx="4553330" cy="3410797"/>
          </a:xfrm>
          <a:prstGeom prst="rect">
            <a:avLst/>
          </a:prstGeom>
        </p:spPr>
      </p:pic>
    </p:spTree>
    <p:extLst>
      <p:ext uri="{BB962C8B-B14F-4D97-AF65-F5344CB8AC3E}">
        <p14:creationId xmlns:p14="http://schemas.microsoft.com/office/powerpoint/2010/main" val="2805265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AWS ECR Commands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u="sng" dirty="0">
                <a:solidFill>
                  <a:srgbClr val="000000"/>
                </a:solidFill>
              </a:rPr>
              <a:t>Commands to work with AWS ECR:</a:t>
            </a:r>
          </a:p>
          <a:p>
            <a:endParaRPr lang="en-US" sz="1600" u="sng" dirty="0">
              <a:solidFill>
                <a:srgbClr val="000000"/>
              </a:solidFill>
            </a:endParaRPr>
          </a:p>
          <a:p>
            <a:pPr marL="342900" indent="-342900">
              <a:buAutoNum type="arabicPeriod"/>
            </a:pPr>
            <a:r>
              <a:rPr lang="en-US" sz="1600" b="1" dirty="0">
                <a:solidFill>
                  <a:srgbClr val="000000"/>
                </a:solidFill>
              </a:rPr>
              <a:t>Login </a:t>
            </a:r>
          </a:p>
          <a:p>
            <a:endParaRPr lang="en-US" sz="1600" dirty="0">
              <a:solidFill>
                <a:srgbClr val="000000"/>
              </a:solidFill>
            </a:endParaRPr>
          </a:p>
          <a:p>
            <a:r>
              <a:rPr lang="pt-BR" sz="1600" dirty="0">
                <a:solidFill>
                  <a:srgbClr val="000000"/>
                </a:solidFill>
                <a:latin typeface="Courier New" panose="02070309020205020404" pitchFamily="49" charset="0"/>
                <a:cs typeface="Courier New" panose="02070309020205020404" pitchFamily="49" charset="0"/>
              </a:rPr>
              <a:t>~ sudo </a:t>
            </a:r>
            <a:r>
              <a:rPr lang="en-IN" sz="1600" dirty="0">
                <a:solidFill>
                  <a:srgbClr val="000000"/>
                </a:solidFill>
                <a:latin typeface="Courier New" panose="02070309020205020404" pitchFamily="49" charset="0"/>
                <a:cs typeface="Courier New" panose="02070309020205020404" pitchFamily="49" charset="0"/>
              </a:rPr>
              <a:t>aws ecr get-login-password --region ap-south-1 | docker login --username AWS –</a:t>
            </a:r>
          </a:p>
          <a:p>
            <a:r>
              <a:rPr lang="en-IN" sz="1600" dirty="0">
                <a:solidFill>
                  <a:srgbClr val="000000"/>
                </a:solidFill>
                <a:latin typeface="Courier New" panose="02070309020205020404" pitchFamily="49" charset="0"/>
                <a:cs typeface="Courier New" panose="02070309020205020404" pitchFamily="49" charset="0"/>
              </a:rPr>
              <a:t>  password-stdin 658256467033.dkr.ecr.ap-south-1.amazonaws.com</a:t>
            </a:r>
          </a:p>
          <a:p>
            <a:endParaRPr lang="en-IN" sz="1600" dirty="0">
              <a:solidFill>
                <a:srgbClr val="000000"/>
              </a:solidFill>
            </a:endParaRPr>
          </a:p>
          <a:p>
            <a:r>
              <a:rPr lang="en-IN" sz="1600" b="1" dirty="0">
                <a:solidFill>
                  <a:srgbClr val="000000"/>
                </a:solidFill>
              </a:rPr>
              <a:t>2. Build your docker image.</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docker build -t study .</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b="1" dirty="0">
                <a:solidFill>
                  <a:srgbClr val="000000"/>
                </a:solidFill>
              </a:rPr>
              <a:t>3. Tag your docker image </a:t>
            </a:r>
          </a:p>
          <a:p>
            <a:endParaRPr lang="en-IN" sz="1600" i="1"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docker tag study:latest 658256467033.dkr.ecr.ap-south-1.amazonaws.com/study:latest</a:t>
            </a:r>
            <a:endParaRPr lang="en-US" sz="12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b="1" dirty="0">
                <a:solidFill>
                  <a:srgbClr val="000000"/>
                </a:solidFill>
              </a:rPr>
              <a:t>4. Push image in AWS ECR.</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sudo docker push 658256467033.dkr.ecr.ap-south-1.amazonaws.com/study:latest</a:t>
            </a:r>
          </a:p>
          <a:p>
            <a:endParaRPr lang="en-US" sz="1600" i="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565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AWS ECS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87101"/>
            <a:ext cx="10489342" cy="5741876"/>
          </a:xfrm>
          <a:prstGeom prst="rect">
            <a:avLst/>
          </a:prstGeom>
        </p:spPr>
        <p:txBody>
          <a:bodyPr wrap="square" lIns="0" tIns="16224" rIns="0" bIns="0" rtlCol="0">
            <a:noAutofit/>
          </a:bodyPr>
          <a:lstStyle/>
          <a:p>
            <a:r>
              <a:rPr lang="en-IN" sz="2000" dirty="0">
                <a:solidFill>
                  <a:srgbClr val="000000"/>
                </a:solidFill>
                <a:cs typeface="Calibri" panose="020F0502020204030204" pitchFamily="34" charset="0"/>
              </a:rPr>
              <a:t>Amazon Elastic Container Service (ECS) is an AWS service that allows us to orchestrate our software deployment. It acts like any other orchestration tool like Kubernetes or Docker Swarm. It allows us to deploy, update, rollback, scale up our software development.</a:t>
            </a:r>
          </a:p>
        </p:txBody>
      </p:sp>
      <p:pic>
        <p:nvPicPr>
          <p:cNvPr id="2" name="Picture 1">
            <a:extLst>
              <a:ext uri="{FF2B5EF4-FFF2-40B4-BE49-F238E27FC236}">
                <a16:creationId xmlns:a16="http://schemas.microsoft.com/office/drawing/2014/main" id="{7E06902F-29E5-4A79-923B-D185FB438480}"/>
              </a:ext>
            </a:extLst>
          </p:cNvPr>
          <p:cNvPicPr>
            <a:picLocks noChangeAspect="1"/>
          </p:cNvPicPr>
          <p:nvPr/>
        </p:nvPicPr>
        <p:blipFill>
          <a:blip r:embed="rId4"/>
          <a:stretch>
            <a:fillRect/>
          </a:stretch>
        </p:blipFill>
        <p:spPr>
          <a:xfrm>
            <a:off x="3890815" y="2789079"/>
            <a:ext cx="3444387" cy="3081820"/>
          </a:xfrm>
          <a:prstGeom prst="rect">
            <a:avLst/>
          </a:prstGeom>
        </p:spPr>
      </p:pic>
    </p:spTree>
    <p:extLst>
      <p:ext uri="{BB962C8B-B14F-4D97-AF65-F5344CB8AC3E}">
        <p14:creationId xmlns:p14="http://schemas.microsoft.com/office/powerpoint/2010/main" val="4288119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AWS ECS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87101"/>
            <a:ext cx="10489342" cy="5741876"/>
          </a:xfrm>
          <a:prstGeom prst="rect">
            <a:avLst/>
          </a:prstGeom>
        </p:spPr>
        <p:txBody>
          <a:bodyPr wrap="square" lIns="0" tIns="16224" rIns="0" bIns="0" rtlCol="0">
            <a:noAutofit/>
          </a:bodyPr>
          <a:lstStyle/>
          <a:p>
            <a:endParaRPr lang="en-IN" sz="2000" dirty="0">
              <a:solidFill>
                <a:srgbClr val="000000"/>
              </a:solidFill>
              <a:cs typeface="Calibri" panose="020F0502020204030204" pitchFamily="34" charset="0"/>
            </a:endParaRPr>
          </a:p>
        </p:txBody>
      </p:sp>
      <p:pic>
        <p:nvPicPr>
          <p:cNvPr id="3" name="Picture 2">
            <a:extLst>
              <a:ext uri="{FF2B5EF4-FFF2-40B4-BE49-F238E27FC236}">
                <a16:creationId xmlns:a16="http://schemas.microsoft.com/office/drawing/2014/main" id="{7BEB7F76-224E-4EEA-ADAE-48D3D38C8749}"/>
              </a:ext>
            </a:extLst>
          </p:cNvPr>
          <p:cNvPicPr>
            <a:picLocks noChangeAspect="1"/>
          </p:cNvPicPr>
          <p:nvPr/>
        </p:nvPicPr>
        <p:blipFill>
          <a:blip r:embed="rId4"/>
          <a:stretch>
            <a:fillRect/>
          </a:stretch>
        </p:blipFill>
        <p:spPr>
          <a:xfrm>
            <a:off x="1247334" y="874534"/>
            <a:ext cx="9056833" cy="1962517"/>
          </a:xfrm>
          <a:prstGeom prst="rect">
            <a:avLst/>
          </a:prstGeom>
        </p:spPr>
      </p:pic>
      <p:pic>
        <p:nvPicPr>
          <p:cNvPr id="6" name="Picture 5">
            <a:extLst>
              <a:ext uri="{FF2B5EF4-FFF2-40B4-BE49-F238E27FC236}">
                <a16:creationId xmlns:a16="http://schemas.microsoft.com/office/drawing/2014/main" id="{1CDCC317-1988-4A56-8DE2-5B285D084D2B}"/>
              </a:ext>
            </a:extLst>
          </p:cNvPr>
          <p:cNvPicPr>
            <a:picLocks noChangeAspect="1"/>
          </p:cNvPicPr>
          <p:nvPr/>
        </p:nvPicPr>
        <p:blipFill>
          <a:blip r:embed="rId5"/>
          <a:stretch>
            <a:fillRect/>
          </a:stretch>
        </p:blipFill>
        <p:spPr>
          <a:xfrm>
            <a:off x="1247334" y="3210707"/>
            <a:ext cx="9056833" cy="3630837"/>
          </a:xfrm>
          <a:prstGeom prst="rect">
            <a:avLst/>
          </a:prstGeom>
        </p:spPr>
      </p:pic>
    </p:spTree>
    <p:extLst>
      <p:ext uri="{BB962C8B-B14F-4D97-AF65-F5344CB8AC3E}">
        <p14:creationId xmlns:p14="http://schemas.microsoft.com/office/powerpoint/2010/main" val="2913751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2.xml><?xml version="1.0" encoding="utf-8"?>
<ds:datastoreItem xmlns:ds="http://schemas.openxmlformats.org/officeDocument/2006/customXml" ds:itemID="{C75BD6EB-5C72-4651-A510-8915F7022125}">
  <ds:schemaRefs>
    <ds:schemaRef ds:uri="http://schemas.microsoft.com/sharepoint/v3/contenttype/forms"/>
  </ds:schemaRefs>
</ds:datastoreItem>
</file>

<file path=customXml/itemProps3.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4026</TotalTime>
  <Words>744</Words>
  <Application>Microsoft Office PowerPoint</Application>
  <PresentationFormat>Widescreen</PresentationFormat>
  <Paragraphs>132</Paragraphs>
  <Slides>18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489</cp:revision>
  <dcterms:created xsi:type="dcterms:W3CDTF">2022-07-11T16:43:42Z</dcterms:created>
  <dcterms:modified xsi:type="dcterms:W3CDTF">2023-07-12T12:00:49Z</dcterms:modified>
</cp:coreProperties>
</file>
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8314" r:id="rId4"/>
  </p:sldMasterIdLst>
  <p:notesMasterIdLst>
    <p:notesMasterId r:id="rId34"/>
  </p:notesMasterIdLst>
  <p:sldIdLst>
    <p:sldId id="336" r:id="rId5"/>
    <p:sldId id="257" r:id="rId6"/>
    <p:sldId id="381" r:id="rId7"/>
    <p:sldId id="356" r:id="rId8"/>
    <p:sldId id="351" r:id="rId9"/>
    <p:sldId id="382" r:id="rId10"/>
    <p:sldId id="383" r:id="rId11"/>
    <p:sldId id="384" r:id="rId12"/>
    <p:sldId id="385" r:id="rId13"/>
    <p:sldId id="386" r:id="rId14"/>
    <p:sldId id="387" r:id="rId15"/>
    <p:sldId id="388" r:id="rId16"/>
    <p:sldId id="390" r:id="rId17"/>
    <p:sldId id="389" r:id="rId18"/>
    <p:sldId id="391" r:id="rId19"/>
    <p:sldId id="392" r:id="rId20"/>
    <p:sldId id="393" r:id="rId21"/>
    <p:sldId id="394" r:id="rId22"/>
    <p:sldId id="395" r:id="rId23"/>
    <p:sldId id="396" r:id="rId24"/>
    <p:sldId id="397" r:id="rId25"/>
    <p:sldId id="398" r:id="rId26"/>
    <p:sldId id="399" r:id="rId27"/>
    <p:sldId id="400" r:id="rId28"/>
    <p:sldId id="401" r:id="rId29"/>
    <p:sldId id="402" r:id="rId30"/>
    <p:sldId id="403" r:id="rId31"/>
    <p:sldId id="404" r:id="rId32"/>
    <p:sldId id="359" r:id="rId3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esh Patil" initials="RP" lastIdx="1" clrIdx="0">
    <p:extLst>
      <p:ext uri="{19B8F6BF-5375-455C-9EA6-DF929625EA0E}">
        <p15:presenceInfo xmlns:p15="http://schemas.microsoft.com/office/powerpoint/2012/main" userId="S::rajeshpatil@orientindia.net::2484323d-d543-469f-8967-efa59c9c78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29" autoAdjust="0"/>
    <p:restoredTop sz="93878" autoAdjust="0"/>
  </p:normalViewPr>
  <p:slideViewPr>
    <p:cSldViewPr snapToGrid="0">
      <p:cViewPr varScale="1">
        <p:scale>
          <a:sx n="64" d="100"/>
          <a:sy n="64" d="100"/>
        </p:scale>
        <p:origin x="103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cs typeface="+mn-cs"/>
              </a:defRPr>
            </a:lvl1pPr>
          </a:lstStyle>
          <a:p>
            <a:pPr>
              <a:defRPr/>
            </a:pPr>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cs typeface="+mn-cs"/>
              </a:defRPr>
            </a:lvl1pPr>
          </a:lstStyle>
          <a:p>
            <a:pPr>
              <a:defRPr/>
            </a:pPr>
            <a:fld id="{39BCF0EB-41F1-4287-9EDD-11AF6255FC0E}" type="datetimeFigureOut">
              <a:rPr lang="en-IN"/>
              <a:pPr>
                <a:defRPr/>
              </a:pPr>
              <a:t>29-06-2023</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cs typeface="+mn-cs"/>
              </a:defRPr>
            </a:lvl1pPr>
          </a:lstStyle>
          <a:p>
            <a:pPr>
              <a:defRPr/>
            </a:pPr>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EFE970E-66EF-47DD-A751-C65AD8B91F92}" type="slidenum">
              <a:rPr lang="en-IN" altLang="en-US"/>
              <a:pPr/>
              <a:t>‹#›</a:t>
            </a:fld>
            <a:endParaRPr lang="en-IN" altLang="en-US" dirty="0"/>
          </a:p>
        </p:txBody>
      </p:sp>
    </p:spTree>
    <p:extLst>
      <p:ext uri="{BB962C8B-B14F-4D97-AF65-F5344CB8AC3E}">
        <p14:creationId xmlns:p14="http://schemas.microsoft.com/office/powerpoint/2010/main" val="11149609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FE970E-66EF-47DD-A751-C65AD8B91F92}" type="slidenum">
              <a:rPr lang="en-IN" altLang="en-US" smtClean="0"/>
              <a:pPr/>
              <a:t>1</a:t>
            </a:fld>
            <a:endParaRPr lang="en-IN" altLang="en-US" dirty="0"/>
          </a:p>
        </p:txBody>
      </p:sp>
    </p:spTree>
    <p:extLst>
      <p:ext uri="{BB962C8B-B14F-4D97-AF65-F5344CB8AC3E}">
        <p14:creationId xmlns:p14="http://schemas.microsoft.com/office/powerpoint/2010/main" val="2277353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569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0147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2343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0979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1283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3606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0261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704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6468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2609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2299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8862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0793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557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9043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2484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5701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0773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63510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5069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13255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8037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83237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72556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a:off x="0" y="0"/>
            <a:ext cx="12192000" cy="6858000"/>
          </a:xfrm>
          <a:prstGeom prst="rect">
            <a:avLst/>
          </a:prstGeom>
          <a:blipFill dpi="0" rotWithShape="1">
            <a:blip r:embed="rId2">
              <a:alphaModFix amt="12000"/>
              <a:duotone>
                <a:schemeClr val="accent1">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10" name="Rectangle 9"/>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bg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6AD6EE87-EBD5-4F12-A48A-63ACA297AC8F}" type="datetimeFigureOut">
              <a:rPr lang="en-US" smtClean="0"/>
              <a:t>6/29/2023</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bg2"/>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143684927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6/29/2023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98699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blipFill dpi="0" rotWithShape="1">
            <a:blip r:embed="rId2">
              <a:alphaModFix amt="12000"/>
              <a:duotone>
                <a:schemeClr val="accent2">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23" name="Rectangle 22"/>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bg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5A61015F-7CC6-4D0A-9D87-873EA4C304CC}" type="datetimeFigureOut">
              <a:rPr lang="en-US" smtClean="0"/>
              <a:t>6/29/2023</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bg2"/>
                </a:solidFil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55629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6/29/2023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95074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6/29/2023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52043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6/29/2023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10992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6/29/2023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006503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p:txBody>
          <a:bodyPr/>
          <a:lstStyle/>
          <a:p>
            <a:fld id="{05C68B11-C5A8-448C-8CE9-B1A273C79CFC}" type="datetimeFigureOut">
              <a:rPr lang="en-US" smtClean="0"/>
              <a:t>6/29/2023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93893672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rgbClr val="969696"/>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effectLst>
                  <a:outerShdw blurRad="12700" dist="3810" dir="2700000" algn="tl" rotWithShape="0">
                    <a:prstClr val="black">
                      <a:alpha val="40000"/>
                    </a:prstClr>
                  </a:outerShdw>
                </a:effectLst>
              </a:defRPr>
            </a:lvl1pPr>
          </a:lstStyle>
          <a:p>
            <a:fld id="{C7616CA0-919D-4A49-9C8A-62FDFB3A5183}" type="datetimeFigureOut">
              <a:rPr lang="en-US" smtClean="0"/>
              <a:t>6/29/2023</a:t>
            </a:fld>
            <a:endParaRPr lang="en-US" dirty="0"/>
          </a:p>
        </p:txBody>
      </p:sp>
      <p:sp>
        <p:nvSpPr>
          <p:cNvPr id="12" name="Footer Placeholder 11"/>
          <p:cNvSpPr>
            <a:spLocks noGrp="1"/>
          </p:cNvSpPr>
          <p:nvPr>
            <p:ph type="ftr" sz="quarter" idx="11"/>
          </p:nvPr>
        </p:nvSpPr>
        <p:spPr/>
        <p:txBody>
          <a:bodyPr/>
          <a:lstStyle>
            <a:lvl1pPr algn="r">
              <a:defRPr lang="en-US" sz="1000" kern="1200" dirty="0">
                <a:solidFill>
                  <a:schemeClr val="tx1">
                    <a:lumMod val="75000"/>
                    <a:lumOff val="25000"/>
                  </a:schemeClr>
                </a:solidFill>
                <a:effectLst>
                  <a:outerShdw blurRad="12700" dist="3810" dir="2700000" algn="tl" rotWithShape="0">
                    <a:prstClr val="black">
                      <a:alpha val="40000"/>
                    </a:prstClr>
                  </a:outerShdw>
                </a:effectLst>
                <a:latin typeface="+mn-lt"/>
                <a:ea typeface="+mn-ea"/>
                <a:cs typeface="+mn-cs"/>
              </a:defRPr>
            </a:lvl1pPr>
          </a:lstStyle>
          <a:p>
            <a:endParaRPr lang="en-US" dirty="0"/>
          </a:p>
        </p:txBody>
      </p:sp>
      <p:sp>
        <p:nvSpPr>
          <p:cNvPr id="13" name="Slide Number Placeholder 12"/>
          <p:cNvSpPr>
            <a:spLocks noGrp="1"/>
          </p:cNvSpPr>
          <p:nvPr>
            <p:ph type="sldNum" sz="quarter" idx="12"/>
          </p:nvPr>
        </p:nvSpPr>
        <p:spPr/>
        <p:txBody>
          <a:bodyPr/>
          <a:lstStyle>
            <a:lvl1pPr>
              <a:defRPr>
                <a:solidFill>
                  <a:srgbClr val="FFFFFF"/>
                </a:solidFill>
              </a:defRPr>
            </a:lvl1pPr>
          </a:lstStyle>
          <a:p>
            <a:fld id="{867E5644-1E61-4311-A31E-84CB9C7AA8A9}" type="slidenum">
              <a:rPr lang="en-US" smtClean="0"/>
              <a:t>‹#›</a:t>
            </a:fld>
            <a:endParaRPr lang="en-US" dirty="0"/>
          </a:p>
        </p:txBody>
      </p:sp>
    </p:spTree>
    <p:extLst>
      <p:ext uri="{BB962C8B-B14F-4D97-AF65-F5344CB8AC3E}">
        <p14:creationId xmlns:p14="http://schemas.microsoft.com/office/powerpoint/2010/main" val="551199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6/29/2023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2315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6/29/2023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29461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90298CD5-6C1E-4009-B41F-6DF62E31D3BE}" type="datetimeFigureOut">
              <a:rPr lang="en-US" smtClean="0"/>
              <a:pPr/>
              <a:t>6/29/2023</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14667"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smtClean="0"/>
              <a:pPr/>
              <a:t>‹#›</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652636884"/>
      </p:ext>
    </p:extLst>
  </p:cSld>
  <p:clrMap bg1="lt1" tx1="dk1" bg2="lt2" tx2="dk2" accent1="accent1" accent2="accent2" accent3="accent3" accent4="accent4" accent5="accent5" accent6="accent6" hlink="hlink" folHlink="folHlink"/>
  <p:sldLayoutIdLst>
    <p:sldLayoutId id="2147488315" r:id="rId1"/>
    <p:sldLayoutId id="2147488316" r:id="rId2"/>
    <p:sldLayoutId id="2147488317" r:id="rId3"/>
    <p:sldLayoutId id="2147488318" r:id="rId4"/>
    <p:sldLayoutId id="2147488319" r:id="rId5"/>
    <p:sldLayoutId id="2147488320" r:id="rId6"/>
    <p:sldLayoutId id="2147488321" r:id="rId7"/>
    <p:sldLayoutId id="2147488322" r:id="rId8"/>
    <p:sldLayoutId id="2147488323" r:id="rId9"/>
    <p:sldLayoutId id="2147488324" r:id="rId10"/>
    <p:sldLayoutId id="2147488325"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ogo">
            <a:extLst>
              <a:ext uri="{FF2B5EF4-FFF2-40B4-BE49-F238E27FC236}">
                <a16:creationId xmlns:a16="http://schemas.microsoft.com/office/drawing/2014/main" id="{F59600AD-534F-429F-99D6-A9CC0C8960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object 5">
            <a:extLst>
              <a:ext uri="{FF2B5EF4-FFF2-40B4-BE49-F238E27FC236}">
                <a16:creationId xmlns:a16="http://schemas.microsoft.com/office/drawing/2014/main" id="{0D63FFA9-1074-41CD-9F61-37307A12AA72}"/>
              </a:ext>
            </a:extLst>
          </p:cNvPr>
          <p:cNvSpPr/>
          <p:nvPr/>
        </p:nvSpPr>
        <p:spPr>
          <a:xfrm>
            <a:off x="921631" y="3383280"/>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8" name="object 4">
            <a:extLst>
              <a:ext uri="{FF2B5EF4-FFF2-40B4-BE49-F238E27FC236}">
                <a16:creationId xmlns:a16="http://schemas.microsoft.com/office/drawing/2014/main" id="{AC2E87EC-C7BB-4A8A-B0D3-736837E0731E}"/>
              </a:ext>
            </a:extLst>
          </p:cNvPr>
          <p:cNvSpPr txBox="1"/>
          <p:nvPr/>
        </p:nvSpPr>
        <p:spPr>
          <a:xfrm>
            <a:off x="921631" y="2929460"/>
            <a:ext cx="3383083" cy="453820"/>
          </a:xfrm>
          <a:prstGeom prst="rect">
            <a:avLst/>
          </a:prstGeom>
        </p:spPr>
        <p:txBody>
          <a:bodyPr wrap="square" lIns="0" tIns="16224" rIns="0" bIns="0" rtlCol="0">
            <a:noAutofit/>
          </a:bodyPr>
          <a:lstStyle/>
          <a:p>
            <a:pPr marL="12700" marR="0" lvl="0" indent="0" algn="l" defTabSz="457200" rtl="0" eaLnBrk="1" fontAlgn="auto" latinLnBrk="0" hangingPunct="1">
              <a:lnSpc>
                <a:spcPts val="2555"/>
              </a:lnSpc>
              <a:spcBef>
                <a:spcPts val="0"/>
              </a:spcBef>
              <a:spcAft>
                <a:spcPts val="0"/>
              </a:spcAft>
              <a:buClrTx/>
              <a:buSzTx/>
              <a:buFontTx/>
              <a:buNone/>
              <a:tabLst/>
              <a:defRPr/>
            </a:pPr>
            <a:r>
              <a:rPr lang="en-IN" sz="2400" b="1" spc="-1" dirty="0">
                <a:solidFill>
                  <a:srgbClr val="004282"/>
                </a:solidFill>
                <a:latin typeface="Arial"/>
                <a:cs typeface="Arial"/>
              </a:rPr>
              <a:t>Docker</a:t>
            </a:r>
            <a:endParaRPr kumimoji="0" sz="2400" b="0" i="0" u="none" strike="noStrike" kern="1200" cap="none" spc="0" normalizeH="0" baseline="0" noProof="0" dirty="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1994510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3258547"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455324" y="976297"/>
            <a:ext cx="10779369" cy="5214064"/>
          </a:xfrm>
          <a:prstGeom prst="rect">
            <a:avLst/>
          </a:prstGeom>
        </p:spPr>
        <p:txBody>
          <a:bodyPr wrap="square" lIns="0" tIns="16224" rIns="0" bIns="0" rtlCol="0">
            <a:noAutofit/>
          </a:bodyPr>
          <a:lstStyle/>
          <a:p>
            <a:pPr marL="342900" indent="-342900">
              <a:buFont typeface="+mj-lt"/>
              <a:buAutoNum type="arabicPeriod"/>
            </a:pPr>
            <a:r>
              <a:rPr lang="en-IN" sz="2400" dirty="0">
                <a:latin typeface="Aparajita" panose="02020603050405020304" pitchFamily="18" charset="0"/>
                <a:cs typeface="Aparajita" panose="02020603050405020304" pitchFamily="18" charset="0"/>
              </a:rPr>
              <a:t>Introduction.</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Issues Before Containerization.</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What is a Container?</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Container vs VM.</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Why do we need containers?</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What is Docker and why docker?</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Docker Architecture.</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Docker Installation and Setup.</a:t>
            </a:r>
          </a:p>
          <a:p>
            <a:pPr marL="342900" indent="-342900">
              <a:buFont typeface="+mj-lt"/>
              <a:buAutoNum type="arabicPeriod"/>
            </a:pPr>
            <a:r>
              <a:rPr lang="en-US" sz="2000" dirty="0">
                <a:solidFill>
                  <a:srgbClr val="000000"/>
                </a:solidFill>
              </a:rPr>
              <a:t>Docker Environment.</a:t>
            </a:r>
          </a:p>
          <a:p>
            <a:pPr marL="342900" indent="-342900">
              <a:buFont typeface="+mj-lt"/>
              <a:buAutoNum type="arabicPeriod"/>
            </a:pPr>
            <a:r>
              <a:rPr lang="en-US" sz="2000" dirty="0">
                <a:solidFill>
                  <a:srgbClr val="000000"/>
                </a:solidFill>
              </a:rPr>
              <a:t> Docker Images.</a:t>
            </a:r>
          </a:p>
          <a:p>
            <a:pPr marL="342900" indent="-342900">
              <a:buFont typeface="+mj-lt"/>
              <a:buAutoNum type="arabicPeriod"/>
            </a:pPr>
            <a:r>
              <a:rPr lang="en-IN" sz="2000" dirty="0">
                <a:solidFill>
                  <a:srgbClr val="000000"/>
                </a:solidFill>
              </a:rPr>
              <a:t> Docker Registry and How To Use DockerHub.</a:t>
            </a:r>
            <a:endParaRPr lang="en-US" sz="2000" dirty="0">
              <a:solidFill>
                <a:srgbClr val="000000"/>
              </a:solidFill>
            </a:endParaRPr>
          </a:p>
          <a:p>
            <a:pPr marL="342900" indent="-342900">
              <a:buFont typeface="+mj-lt"/>
              <a:buAutoNum type="arabicPeriod"/>
            </a:pPr>
            <a:r>
              <a:rPr lang="en-US" sz="2000" dirty="0">
                <a:solidFill>
                  <a:srgbClr val="000000"/>
                </a:solidFill>
              </a:rPr>
              <a:t> Docker Objects.</a:t>
            </a:r>
          </a:p>
          <a:p>
            <a:pPr marL="342900" indent="-342900">
              <a:buFont typeface="+mj-lt"/>
              <a:buAutoNum type="arabicPeriod"/>
            </a:pPr>
            <a:r>
              <a:rPr lang="en-US" sz="2000" dirty="0">
                <a:solidFill>
                  <a:srgbClr val="000000"/>
                </a:solidFill>
              </a:rPr>
              <a:t> Docker File.</a:t>
            </a:r>
            <a:endParaRPr lang="en-IN" sz="2000" dirty="0">
              <a:solidFill>
                <a:srgbClr val="000000"/>
              </a:solidFill>
            </a:endParaRPr>
          </a:p>
          <a:p>
            <a:pPr marL="342900" indent="-342900">
              <a:buFont typeface="+mj-lt"/>
              <a:buAutoNum type="arabicPeriod"/>
            </a:pPr>
            <a:r>
              <a:rPr lang="en-IN" sz="2000" dirty="0">
                <a:solidFill>
                  <a:srgbClr val="000000"/>
                </a:solidFill>
              </a:rPr>
              <a:t> Docker Compose. </a:t>
            </a:r>
          </a:p>
          <a:p>
            <a:pPr marL="342900" indent="-342900">
              <a:buFont typeface="+mj-lt"/>
              <a:buAutoNum type="arabicPeriod"/>
            </a:pPr>
            <a:r>
              <a:rPr lang="en-IN" sz="2000" dirty="0">
                <a:solidFill>
                  <a:srgbClr val="000000"/>
                </a:solidFill>
              </a:rPr>
              <a:t> Docker Swarm.</a:t>
            </a:r>
          </a:p>
          <a:p>
            <a:pPr marL="342900" indent="-342900">
              <a:buFont typeface="+mj-lt"/>
              <a:buAutoNum type="arabicPeriod"/>
            </a:pPr>
            <a:endParaRPr lang="en-US" sz="200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3258547"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455324" y="976297"/>
            <a:ext cx="10779369" cy="5214064"/>
          </a:xfrm>
          <a:prstGeom prst="rect">
            <a:avLst/>
          </a:prstGeom>
        </p:spPr>
        <p:txBody>
          <a:bodyPr wrap="square" lIns="0" tIns="16224" rIns="0" bIns="0" rtlCol="0">
            <a:noAutofit/>
          </a:bodyPr>
          <a:lstStyle/>
          <a:p>
            <a:r>
              <a:rPr lang="en-IN" sz="2400" dirty="0">
                <a:latin typeface="Aparajita" panose="02020603050405020304" pitchFamily="18" charset="0"/>
                <a:cs typeface="Aparajita" panose="02020603050405020304" pitchFamily="18" charset="0"/>
              </a:rPr>
              <a:t>17.  Docker Best practices</a:t>
            </a:r>
          </a:p>
          <a:p>
            <a:r>
              <a:rPr lang="en-IN" sz="2400" dirty="0">
                <a:latin typeface="Aparajita" panose="02020603050405020304" pitchFamily="18" charset="0"/>
                <a:cs typeface="Aparajita" panose="02020603050405020304" pitchFamily="18" charset="0"/>
              </a:rPr>
              <a:t>19.  Docker Instruction Best Practices</a:t>
            </a:r>
          </a:p>
          <a:p>
            <a:r>
              <a:rPr lang="en-IN" sz="2400" dirty="0">
                <a:latin typeface="Aparajita" panose="02020603050405020304" pitchFamily="18" charset="0"/>
                <a:cs typeface="Aparajita" panose="02020603050405020304" pitchFamily="18" charset="0"/>
              </a:rPr>
              <a:t>20.  Implementing Docker File Best Practices</a:t>
            </a:r>
          </a:p>
          <a:p>
            <a:r>
              <a:rPr lang="en-IN" sz="2400" dirty="0">
                <a:latin typeface="Aparajita" panose="02020603050405020304" pitchFamily="18" charset="0"/>
                <a:cs typeface="Aparajita" panose="02020603050405020304" pitchFamily="18" charset="0"/>
              </a:rPr>
              <a:t>21.  Docker Storage</a:t>
            </a:r>
          </a:p>
          <a:p>
            <a:r>
              <a:rPr lang="en-IN" sz="2400" dirty="0">
                <a:latin typeface="Aparajita" panose="02020603050405020304" pitchFamily="18" charset="0"/>
                <a:cs typeface="Aparajita" panose="02020603050405020304" pitchFamily="18" charset="0"/>
              </a:rPr>
              <a:t>22.  Docker Networks</a:t>
            </a:r>
          </a:p>
          <a:p>
            <a:r>
              <a:rPr lang="en-IN" sz="2400" dirty="0">
                <a:latin typeface="Aparajita" panose="02020603050405020304" pitchFamily="18" charset="0"/>
                <a:cs typeface="Aparajita" panose="02020603050405020304" pitchFamily="18" charset="0"/>
              </a:rPr>
              <a:t>25.  AWS ECR</a:t>
            </a:r>
          </a:p>
          <a:p>
            <a:r>
              <a:rPr lang="en-IN" sz="2400" dirty="0">
                <a:latin typeface="Aparajita" panose="02020603050405020304" pitchFamily="18" charset="0"/>
                <a:cs typeface="Aparajita" panose="02020603050405020304" pitchFamily="18" charset="0"/>
              </a:rPr>
              <a:t>26.  AWS ECS</a:t>
            </a:r>
          </a:p>
          <a:p>
            <a:r>
              <a:rPr lang="en-IN" sz="2400" dirty="0">
                <a:latin typeface="Aparajita" panose="02020603050405020304" pitchFamily="18" charset="0"/>
                <a:cs typeface="Aparajita" panose="02020603050405020304" pitchFamily="18" charset="0"/>
              </a:rPr>
              <a:t>27.  Monitoring in Docker</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194645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ea typeface="+mn-ea"/>
                <a:cs typeface="Arial"/>
              </a:rPr>
              <a:t>Introduction of Docker</a:t>
            </a:r>
            <a:endParaRPr kumimoji="0" sz="2400" b="0" i="0" u="none" strike="noStrike" kern="1200" cap="none" spc="0" normalizeH="0" baseline="0" noProof="0" dirty="0">
              <a:ln>
                <a:noFill/>
              </a:ln>
              <a:solidFill>
                <a:prstClr val="black"/>
              </a:solidFill>
              <a:effectLst/>
              <a:uLnTx/>
              <a:uFillTx/>
              <a:latin typeface="Arial"/>
              <a:ea typeface="+mn-ea"/>
              <a:cs typeface="Arial"/>
            </a:endParaRPr>
          </a:p>
        </p:txBody>
      </p:sp>
      <p:pic>
        <p:nvPicPr>
          <p:cNvPr id="7" name="Picture 6" descr="Diagram&#10;&#10;Description automatically generated">
            <a:extLst>
              <a:ext uri="{FF2B5EF4-FFF2-40B4-BE49-F238E27FC236}">
                <a16:creationId xmlns:a16="http://schemas.microsoft.com/office/drawing/2014/main" id="{C2ADF034-AE5C-954B-5A85-C9EA843D5A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8572" y="752101"/>
            <a:ext cx="9354856" cy="5353797"/>
          </a:xfrm>
          <a:prstGeom prst="rect">
            <a:avLst/>
          </a:prstGeom>
        </p:spPr>
      </p:pic>
    </p:spTree>
    <p:extLst>
      <p:ext uri="{BB962C8B-B14F-4D97-AF65-F5344CB8AC3E}">
        <p14:creationId xmlns:p14="http://schemas.microsoft.com/office/powerpoint/2010/main" val="3665885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Introduction of Docker</a:t>
            </a:r>
            <a:endParaRPr lang="en-IN" sz="2400" dirty="0">
              <a:solidFill>
                <a:prstClr val="black"/>
              </a:solidFill>
              <a:latin typeface="Arial"/>
              <a:cs typeface="Arial"/>
            </a:endParaRPr>
          </a:p>
        </p:txBody>
      </p:sp>
      <p:pic>
        <p:nvPicPr>
          <p:cNvPr id="2" name="Picture 1">
            <a:extLst>
              <a:ext uri="{FF2B5EF4-FFF2-40B4-BE49-F238E27FC236}">
                <a16:creationId xmlns:a16="http://schemas.microsoft.com/office/drawing/2014/main" id="{DB41CCC7-F0D7-4B44-BAAB-EEBA2C28189F}"/>
              </a:ext>
            </a:extLst>
          </p:cNvPr>
          <p:cNvPicPr>
            <a:picLocks noChangeAspect="1"/>
          </p:cNvPicPr>
          <p:nvPr/>
        </p:nvPicPr>
        <p:blipFill>
          <a:blip r:embed="rId4"/>
          <a:stretch>
            <a:fillRect/>
          </a:stretch>
        </p:blipFill>
        <p:spPr>
          <a:xfrm>
            <a:off x="1309133" y="1069800"/>
            <a:ext cx="9573734" cy="5188486"/>
          </a:xfrm>
          <a:prstGeom prst="rect">
            <a:avLst/>
          </a:prstGeom>
        </p:spPr>
      </p:pic>
    </p:spTree>
    <p:extLst>
      <p:ext uri="{BB962C8B-B14F-4D97-AF65-F5344CB8AC3E}">
        <p14:creationId xmlns:p14="http://schemas.microsoft.com/office/powerpoint/2010/main" val="1585173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Introduction of Docker</a:t>
            </a:r>
            <a:endParaRPr lang="en-IN" sz="2400" dirty="0">
              <a:solidFill>
                <a:prstClr val="black"/>
              </a:solidFill>
              <a:latin typeface="Arial"/>
              <a:cs typeface="Arial"/>
            </a:endParaRPr>
          </a:p>
        </p:txBody>
      </p:sp>
      <p:pic>
        <p:nvPicPr>
          <p:cNvPr id="3" name="Picture 2">
            <a:extLst>
              <a:ext uri="{FF2B5EF4-FFF2-40B4-BE49-F238E27FC236}">
                <a16:creationId xmlns:a16="http://schemas.microsoft.com/office/drawing/2014/main" id="{28381443-AF92-4ABA-A8FF-A2CD38C7F35C}"/>
              </a:ext>
            </a:extLst>
          </p:cNvPr>
          <p:cNvPicPr>
            <a:picLocks noChangeAspect="1"/>
          </p:cNvPicPr>
          <p:nvPr/>
        </p:nvPicPr>
        <p:blipFill>
          <a:blip r:embed="rId4"/>
          <a:stretch>
            <a:fillRect/>
          </a:stretch>
        </p:blipFill>
        <p:spPr>
          <a:xfrm>
            <a:off x="1258660" y="1116125"/>
            <a:ext cx="9674679" cy="5397217"/>
          </a:xfrm>
          <a:prstGeom prst="rect">
            <a:avLst/>
          </a:prstGeom>
        </p:spPr>
      </p:pic>
    </p:spTree>
    <p:extLst>
      <p:ext uri="{BB962C8B-B14F-4D97-AF65-F5344CB8AC3E}">
        <p14:creationId xmlns:p14="http://schemas.microsoft.com/office/powerpoint/2010/main" val="3430074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Introduction of Docker</a:t>
            </a:r>
            <a:endParaRPr lang="en-IN" sz="2400" dirty="0">
              <a:solidFill>
                <a:prstClr val="black"/>
              </a:solidFill>
              <a:latin typeface="Arial"/>
              <a:cs typeface="Arial"/>
            </a:endParaRPr>
          </a:p>
        </p:txBody>
      </p:sp>
      <p:pic>
        <p:nvPicPr>
          <p:cNvPr id="2" name="Picture 1">
            <a:extLst>
              <a:ext uri="{FF2B5EF4-FFF2-40B4-BE49-F238E27FC236}">
                <a16:creationId xmlns:a16="http://schemas.microsoft.com/office/drawing/2014/main" id="{78109F9F-5F51-4A9B-9B6D-F2CE2EB7603B}"/>
              </a:ext>
            </a:extLst>
          </p:cNvPr>
          <p:cNvPicPr>
            <a:picLocks noChangeAspect="1"/>
          </p:cNvPicPr>
          <p:nvPr/>
        </p:nvPicPr>
        <p:blipFill>
          <a:blip r:embed="rId4"/>
          <a:stretch>
            <a:fillRect/>
          </a:stretch>
        </p:blipFill>
        <p:spPr>
          <a:xfrm>
            <a:off x="1027952" y="1116125"/>
            <a:ext cx="9784080" cy="5458248"/>
          </a:xfrm>
          <a:prstGeom prst="rect">
            <a:avLst/>
          </a:prstGeom>
        </p:spPr>
      </p:pic>
    </p:spTree>
    <p:extLst>
      <p:ext uri="{BB962C8B-B14F-4D97-AF65-F5344CB8AC3E}">
        <p14:creationId xmlns:p14="http://schemas.microsoft.com/office/powerpoint/2010/main" val="433095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Introduction of Docker</a:t>
            </a:r>
            <a:endParaRPr lang="en-IN" sz="2400" dirty="0">
              <a:solidFill>
                <a:prstClr val="black"/>
              </a:solidFill>
              <a:latin typeface="Arial"/>
              <a:cs typeface="Arial"/>
            </a:endParaRPr>
          </a:p>
        </p:txBody>
      </p:sp>
      <p:pic>
        <p:nvPicPr>
          <p:cNvPr id="3" name="Picture 2">
            <a:extLst>
              <a:ext uri="{FF2B5EF4-FFF2-40B4-BE49-F238E27FC236}">
                <a16:creationId xmlns:a16="http://schemas.microsoft.com/office/drawing/2014/main" id="{3D591CBD-5474-4220-99A5-7ECAFB5674FF}"/>
              </a:ext>
            </a:extLst>
          </p:cNvPr>
          <p:cNvPicPr>
            <a:picLocks noChangeAspect="1"/>
          </p:cNvPicPr>
          <p:nvPr/>
        </p:nvPicPr>
        <p:blipFill>
          <a:blip r:embed="rId4"/>
          <a:stretch>
            <a:fillRect/>
          </a:stretch>
        </p:blipFill>
        <p:spPr>
          <a:xfrm>
            <a:off x="1150971" y="1110102"/>
            <a:ext cx="9228862" cy="5120049"/>
          </a:xfrm>
          <a:prstGeom prst="rect">
            <a:avLst/>
          </a:prstGeom>
        </p:spPr>
      </p:pic>
    </p:spTree>
    <p:extLst>
      <p:ext uri="{BB962C8B-B14F-4D97-AF65-F5344CB8AC3E}">
        <p14:creationId xmlns:p14="http://schemas.microsoft.com/office/powerpoint/2010/main" val="4078044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Introduction of Docker</a:t>
            </a:r>
            <a:endParaRPr lang="en-IN" sz="2400" dirty="0">
              <a:solidFill>
                <a:prstClr val="black"/>
              </a:solidFill>
              <a:latin typeface="Arial"/>
              <a:cs typeface="Arial"/>
            </a:endParaRPr>
          </a:p>
        </p:txBody>
      </p:sp>
      <p:pic>
        <p:nvPicPr>
          <p:cNvPr id="4" name="Picture 3" descr="Diagram&#10;&#10;Description automatically generated">
            <a:extLst>
              <a:ext uri="{FF2B5EF4-FFF2-40B4-BE49-F238E27FC236}">
                <a16:creationId xmlns:a16="http://schemas.microsoft.com/office/drawing/2014/main" id="{1CAC888C-212A-F669-8FEC-6243F57EBB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730" y="866417"/>
            <a:ext cx="9240540" cy="5125165"/>
          </a:xfrm>
          <a:prstGeom prst="rect">
            <a:avLst/>
          </a:prstGeom>
        </p:spPr>
      </p:pic>
    </p:spTree>
    <p:extLst>
      <p:ext uri="{BB962C8B-B14F-4D97-AF65-F5344CB8AC3E}">
        <p14:creationId xmlns:p14="http://schemas.microsoft.com/office/powerpoint/2010/main" val="2234675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What is Container ?</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0779369" cy="5214064"/>
          </a:xfrm>
          <a:prstGeom prst="rect">
            <a:avLst/>
          </a:prstGeom>
        </p:spPr>
        <p:txBody>
          <a:bodyPr wrap="square" lIns="0" tIns="16224" rIns="0" bIns="0" rtlCol="0">
            <a:noAutofit/>
          </a:bodyPr>
          <a:lstStyle/>
          <a:p>
            <a:r>
              <a:rPr lang="en-IN" sz="2400" b="1" dirty="0">
                <a:solidFill>
                  <a:srgbClr val="000000"/>
                </a:solidFill>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Containers</a:t>
            </a:r>
            <a:r>
              <a:rPr lang="en-IN" sz="2400" dirty="0">
                <a:solidFill>
                  <a:srgbClr val="000000"/>
                </a:solidFill>
                <a:latin typeface="Aparajita" panose="02020603050405020304" pitchFamily="18" charset="0"/>
                <a:cs typeface="Aparajita" panose="02020603050405020304" pitchFamily="18" charset="0"/>
              </a:rPr>
              <a:t> are software that wrap up all the parts of a code and all its dependencies into a single deployable unit that can be used on different systems and servers.</a:t>
            </a:r>
            <a:endParaRPr lang="en-IN" sz="2000" dirty="0">
              <a:solidFill>
                <a:srgbClr val="000000"/>
              </a:solidFill>
            </a:endParaRPr>
          </a:p>
          <a:p>
            <a:pPr marL="342900" indent="-342900">
              <a:buFont typeface="+mj-lt"/>
              <a:buAutoNum type="arabicPeriod"/>
            </a:pPr>
            <a:endParaRPr lang="en-US" sz="2000" dirty="0">
              <a:solidFill>
                <a:srgbClr val="000000"/>
              </a:solidFill>
            </a:endParaRPr>
          </a:p>
        </p:txBody>
      </p:sp>
      <p:pic>
        <p:nvPicPr>
          <p:cNvPr id="3" name="Picture 2">
            <a:extLst>
              <a:ext uri="{FF2B5EF4-FFF2-40B4-BE49-F238E27FC236}">
                <a16:creationId xmlns:a16="http://schemas.microsoft.com/office/drawing/2014/main" id="{E92866E5-8D4C-4B2F-8B64-7B9FBA072B2B}"/>
              </a:ext>
            </a:extLst>
          </p:cNvPr>
          <p:cNvPicPr>
            <a:picLocks noChangeAspect="1"/>
          </p:cNvPicPr>
          <p:nvPr/>
        </p:nvPicPr>
        <p:blipFill>
          <a:blip r:embed="rId4"/>
          <a:stretch>
            <a:fillRect/>
          </a:stretch>
        </p:blipFill>
        <p:spPr>
          <a:xfrm>
            <a:off x="922729" y="2556949"/>
            <a:ext cx="9844557" cy="3041992"/>
          </a:xfrm>
          <a:prstGeom prst="rect">
            <a:avLst/>
          </a:prstGeom>
        </p:spPr>
      </p:pic>
    </p:spTree>
    <p:extLst>
      <p:ext uri="{BB962C8B-B14F-4D97-AF65-F5344CB8AC3E}">
        <p14:creationId xmlns:p14="http://schemas.microsoft.com/office/powerpoint/2010/main" val="2538151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Containers vs VM</a:t>
            </a:r>
            <a:endParaRPr lang="en-IN" sz="2400" dirty="0">
              <a:solidFill>
                <a:prstClr val="black"/>
              </a:solidFill>
              <a:latin typeface="Arial"/>
              <a:cs typeface="Arial"/>
            </a:endParaRPr>
          </a:p>
        </p:txBody>
      </p:sp>
      <p:graphicFrame>
        <p:nvGraphicFramePr>
          <p:cNvPr id="2" name="Table 3">
            <a:extLst>
              <a:ext uri="{FF2B5EF4-FFF2-40B4-BE49-F238E27FC236}">
                <a16:creationId xmlns:a16="http://schemas.microsoft.com/office/drawing/2014/main" id="{01C62C3F-23DD-4422-88EF-79904AC81FA7}"/>
              </a:ext>
            </a:extLst>
          </p:cNvPr>
          <p:cNvGraphicFramePr>
            <a:graphicFrameLocks noGrp="1"/>
          </p:cNvGraphicFramePr>
          <p:nvPr>
            <p:extLst>
              <p:ext uri="{D42A27DB-BD31-4B8C-83A1-F6EECF244321}">
                <p14:modId xmlns:p14="http://schemas.microsoft.com/office/powerpoint/2010/main" val="459975733"/>
              </p:ext>
            </p:extLst>
          </p:nvPr>
        </p:nvGraphicFramePr>
        <p:xfrm>
          <a:off x="455323" y="949025"/>
          <a:ext cx="11206794" cy="5620932"/>
        </p:xfrm>
        <a:graphic>
          <a:graphicData uri="http://schemas.openxmlformats.org/drawingml/2006/table">
            <a:tbl>
              <a:tblPr firstRow="1" bandRow="1">
                <a:tableStyleId>{5C22544A-7EE6-4342-B048-85BDC9FD1C3A}</a:tableStyleId>
              </a:tblPr>
              <a:tblGrid>
                <a:gridCol w="2512959">
                  <a:extLst>
                    <a:ext uri="{9D8B030D-6E8A-4147-A177-3AD203B41FA5}">
                      <a16:colId xmlns:a16="http://schemas.microsoft.com/office/drawing/2014/main" val="4238837929"/>
                    </a:ext>
                  </a:extLst>
                </a:gridCol>
                <a:gridCol w="4178105">
                  <a:extLst>
                    <a:ext uri="{9D8B030D-6E8A-4147-A177-3AD203B41FA5}">
                      <a16:colId xmlns:a16="http://schemas.microsoft.com/office/drawing/2014/main" val="2634422194"/>
                    </a:ext>
                  </a:extLst>
                </a:gridCol>
                <a:gridCol w="4515730">
                  <a:extLst>
                    <a:ext uri="{9D8B030D-6E8A-4147-A177-3AD203B41FA5}">
                      <a16:colId xmlns:a16="http://schemas.microsoft.com/office/drawing/2014/main" val="4003806500"/>
                    </a:ext>
                  </a:extLst>
                </a:gridCol>
              </a:tblGrid>
              <a:tr h="447953">
                <a:tc>
                  <a:txBody>
                    <a:bodyPr/>
                    <a:lstStyle/>
                    <a:p>
                      <a:r>
                        <a:rPr lang="en-IN" sz="2400" b="0" dirty="0">
                          <a:latin typeface="Aparajita" panose="02020603050405020304" pitchFamily="18" charset="0"/>
                          <a:cs typeface="Aparajita" panose="02020603050405020304" pitchFamily="18" charset="0"/>
                        </a:rPr>
                        <a:t>Criteria</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solidFill>
                  </a:tcPr>
                </a:tc>
                <a:tc>
                  <a:txBody>
                    <a:bodyPr/>
                    <a:lstStyle/>
                    <a:p>
                      <a:r>
                        <a:rPr lang="en-IN" sz="2400" b="0" dirty="0">
                          <a:latin typeface="Aparajita" panose="02020603050405020304" pitchFamily="18" charset="0"/>
                          <a:cs typeface="Aparajita" panose="02020603050405020304" pitchFamily="18" charset="0"/>
                        </a:rPr>
                        <a:t>Containers</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solidFill>
                  </a:tcPr>
                </a:tc>
                <a:tc>
                  <a:txBody>
                    <a:bodyPr/>
                    <a:lstStyle/>
                    <a:p>
                      <a:r>
                        <a:rPr lang="en-IN" sz="2400" b="0" dirty="0">
                          <a:latin typeface="Aparajita" panose="02020603050405020304" pitchFamily="18" charset="0"/>
                          <a:cs typeface="Aparajita" panose="02020603050405020304" pitchFamily="18" charset="0"/>
                        </a:rPr>
                        <a:t>Virtual Machines</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097256376"/>
                  </a:ext>
                </a:extLst>
              </a:tr>
              <a:tr h="858473">
                <a:tc>
                  <a:txBody>
                    <a:bodyPr/>
                    <a:lstStyle/>
                    <a:p>
                      <a:r>
                        <a:rPr lang="en-IN" sz="2400" b="0" dirty="0">
                          <a:latin typeface="Aparajita" panose="02020603050405020304" pitchFamily="18" charset="0"/>
                          <a:cs typeface="Aparajita" panose="02020603050405020304" pitchFamily="18" charset="0"/>
                        </a:rPr>
                        <a:t>Operating System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en-IN" sz="2400" b="0" dirty="0">
                          <a:latin typeface="Aparajita" panose="02020603050405020304" pitchFamily="18" charset="0"/>
                          <a:cs typeface="Aparajita" panose="02020603050405020304" pitchFamily="18" charset="0"/>
                        </a:rPr>
                        <a:t>Contains only bear minimum parts of OS required to run software. Updates are easy and simple to do.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en-IN" sz="2400" b="0" dirty="0">
                          <a:latin typeface="Aparajita" panose="02020603050405020304" pitchFamily="18" charset="0"/>
                          <a:cs typeface="Aparajita" panose="02020603050405020304" pitchFamily="18" charset="0"/>
                        </a:rPr>
                        <a:t>Contains the complete OS that is normally used on systems for general purpose. Updates are time consuming.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6358786"/>
                  </a:ext>
                </a:extLst>
              </a:tr>
              <a:tr h="3116539">
                <a:tc>
                  <a:txBody>
                    <a:bodyPr/>
                    <a:lstStyle/>
                    <a:p>
                      <a:r>
                        <a:rPr lang="en-IN" sz="2400" b="0" dirty="0">
                          <a:latin typeface="Aparajita" panose="02020603050405020304" pitchFamily="18" charset="0"/>
                          <a:cs typeface="Aparajita" panose="02020603050405020304" pitchFamily="18" charset="0"/>
                        </a:rPr>
                        <a:t>Architecture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IN" sz="2400" b="0" dirty="0">
                        <a:latin typeface="Aparajita" panose="02020603050405020304" pitchFamily="18" charset="0"/>
                        <a:cs typeface="Aparajita"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IN" sz="2400" b="0" dirty="0">
                        <a:latin typeface="Aparajita" panose="02020603050405020304" pitchFamily="18" charset="0"/>
                        <a:cs typeface="Aparajita"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3452823"/>
                  </a:ext>
                </a:extLst>
              </a:tr>
              <a:tr h="858473">
                <a:tc>
                  <a:txBody>
                    <a:bodyPr/>
                    <a:lstStyle/>
                    <a:p>
                      <a:r>
                        <a:rPr lang="en-IN" sz="2400" b="0" dirty="0">
                          <a:latin typeface="Aparajita" panose="02020603050405020304" pitchFamily="18" charset="0"/>
                          <a:cs typeface="Aparajita" panose="02020603050405020304" pitchFamily="18" charset="0"/>
                        </a:rPr>
                        <a:t>Isolation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en-IN" sz="2400" b="0" dirty="0">
                          <a:latin typeface="Aparajita" panose="02020603050405020304" pitchFamily="18" charset="0"/>
                          <a:cs typeface="Aparajita" panose="02020603050405020304" pitchFamily="18" charset="0"/>
                        </a:rPr>
                        <a:t>Containers shares host OS and kernel.</a:t>
                      </a:r>
                    </a:p>
                    <a:p>
                      <a:r>
                        <a:rPr lang="en-IN" sz="2400" b="0" dirty="0">
                          <a:latin typeface="Aparajita" panose="02020603050405020304" pitchFamily="18" charset="0"/>
                          <a:cs typeface="Aparajita" panose="02020603050405020304" pitchFamily="18" charset="0"/>
                        </a:rPr>
                        <a:t>Containers act like software in host env.</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en-IN" sz="2400" b="0" dirty="0">
                          <a:latin typeface="Aparajita" panose="02020603050405020304" pitchFamily="18" charset="0"/>
                          <a:cs typeface="Aparajita" panose="02020603050405020304" pitchFamily="18" charset="0"/>
                        </a:rPr>
                        <a:t>VM having its own OS and kernel.</a:t>
                      </a:r>
                    </a:p>
                    <a:p>
                      <a:r>
                        <a:rPr lang="en-IN" sz="2400" b="0" dirty="0">
                          <a:latin typeface="Aparajita" panose="02020603050405020304" pitchFamily="18" charset="0"/>
                          <a:cs typeface="Aparajita" panose="02020603050405020304" pitchFamily="18" charset="0"/>
                        </a:rPr>
                        <a:t>Isolated from host.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0284207"/>
                  </a:ext>
                </a:extLst>
              </a:tr>
            </a:tbl>
          </a:graphicData>
        </a:graphic>
      </p:graphicFrame>
      <p:pic>
        <p:nvPicPr>
          <p:cNvPr id="6" name="Picture 5">
            <a:extLst>
              <a:ext uri="{FF2B5EF4-FFF2-40B4-BE49-F238E27FC236}">
                <a16:creationId xmlns:a16="http://schemas.microsoft.com/office/drawing/2014/main" id="{DA48AC74-EDAE-442B-9C14-21E0A3D72095}"/>
              </a:ext>
            </a:extLst>
          </p:cNvPr>
          <p:cNvPicPr>
            <a:picLocks noChangeAspect="1"/>
          </p:cNvPicPr>
          <p:nvPr/>
        </p:nvPicPr>
        <p:blipFill>
          <a:blip r:embed="rId4"/>
          <a:stretch>
            <a:fillRect/>
          </a:stretch>
        </p:blipFill>
        <p:spPr>
          <a:xfrm>
            <a:off x="7620587" y="2765106"/>
            <a:ext cx="3400425" cy="2790825"/>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B993638B-7F9D-4EF2-945C-81C97D4910E0}"/>
              </a:ext>
            </a:extLst>
          </p:cNvPr>
          <p:cNvPicPr>
            <a:picLocks noChangeAspect="1"/>
          </p:cNvPicPr>
          <p:nvPr/>
        </p:nvPicPr>
        <p:blipFill>
          <a:blip r:embed="rId5"/>
          <a:stretch>
            <a:fillRect/>
          </a:stretch>
        </p:blipFill>
        <p:spPr>
          <a:xfrm>
            <a:off x="3289363" y="2765107"/>
            <a:ext cx="3400425" cy="279082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59704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Containers vs VM</a:t>
            </a:r>
            <a:endParaRPr lang="en-IN" sz="2400" dirty="0">
              <a:solidFill>
                <a:prstClr val="black"/>
              </a:solidFill>
              <a:latin typeface="Arial"/>
              <a:cs typeface="Arial"/>
            </a:endParaRPr>
          </a:p>
        </p:txBody>
      </p:sp>
      <p:graphicFrame>
        <p:nvGraphicFramePr>
          <p:cNvPr id="2" name="Table 3">
            <a:extLst>
              <a:ext uri="{FF2B5EF4-FFF2-40B4-BE49-F238E27FC236}">
                <a16:creationId xmlns:a16="http://schemas.microsoft.com/office/drawing/2014/main" id="{01C62C3F-23DD-4422-88EF-79904AC81FA7}"/>
              </a:ext>
            </a:extLst>
          </p:cNvPr>
          <p:cNvGraphicFramePr>
            <a:graphicFrameLocks noGrp="1"/>
          </p:cNvGraphicFramePr>
          <p:nvPr>
            <p:extLst>
              <p:ext uri="{D42A27DB-BD31-4B8C-83A1-F6EECF244321}">
                <p14:modId xmlns:p14="http://schemas.microsoft.com/office/powerpoint/2010/main" val="1912172145"/>
              </p:ext>
            </p:extLst>
          </p:nvPr>
        </p:nvGraphicFramePr>
        <p:xfrm>
          <a:off x="455323" y="956979"/>
          <a:ext cx="11206794" cy="5301307"/>
        </p:xfrm>
        <a:graphic>
          <a:graphicData uri="http://schemas.openxmlformats.org/drawingml/2006/table">
            <a:tbl>
              <a:tblPr firstRow="1" bandRow="1">
                <a:tableStyleId>{5C22544A-7EE6-4342-B048-85BDC9FD1C3A}</a:tableStyleId>
              </a:tblPr>
              <a:tblGrid>
                <a:gridCol w="2512959">
                  <a:extLst>
                    <a:ext uri="{9D8B030D-6E8A-4147-A177-3AD203B41FA5}">
                      <a16:colId xmlns:a16="http://schemas.microsoft.com/office/drawing/2014/main" val="4238837929"/>
                    </a:ext>
                  </a:extLst>
                </a:gridCol>
                <a:gridCol w="4178105">
                  <a:extLst>
                    <a:ext uri="{9D8B030D-6E8A-4147-A177-3AD203B41FA5}">
                      <a16:colId xmlns:a16="http://schemas.microsoft.com/office/drawing/2014/main" val="2634422194"/>
                    </a:ext>
                  </a:extLst>
                </a:gridCol>
                <a:gridCol w="4515730">
                  <a:extLst>
                    <a:ext uri="{9D8B030D-6E8A-4147-A177-3AD203B41FA5}">
                      <a16:colId xmlns:a16="http://schemas.microsoft.com/office/drawing/2014/main" val="4003806500"/>
                    </a:ext>
                  </a:extLst>
                </a:gridCol>
              </a:tblGrid>
              <a:tr h="447953">
                <a:tc>
                  <a:txBody>
                    <a:bodyPr/>
                    <a:lstStyle/>
                    <a:p>
                      <a:r>
                        <a:rPr lang="en-IN" sz="2400" b="0" dirty="0">
                          <a:latin typeface="Aparajita" panose="02020603050405020304" pitchFamily="18" charset="0"/>
                          <a:cs typeface="Aparajita" panose="02020603050405020304" pitchFamily="18" charset="0"/>
                        </a:rPr>
                        <a:t>Criteria</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r>
                        <a:rPr lang="en-IN" sz="2400" b="0" dirty="0">
                          <a:latin typeface="Aparajita" panose="02020603050405020304" pitchFamily="18" charset="0"/>
                          <a:cs typeface="Aparajita" panose="02020603050405020304" pitchFamily="18" charset="0"/>
                        </a:rPr>
                        <a:t>Containers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r>
                        <a:rPr lang="en-IN" sz="2400" b="0" dirty="0">
                          <a:latin typeface="Aparajita" panose="02020603050405020304" pitchFamily="18" charset="0"/>
                          <a:cs typeface="Aparajita" panose="02020603050405020304" pitchFamily="18" charset="0"/>
                        </a:rPr>
                        <a:t>Virtual Machines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097256376"/>
                  </a:ext>
                </a:extLst>
              </a:tr>
              <a:tr h="858473">
                <a:tc>
                  <a:txBody>
                    <a:bodyPr/>
                    <a:lstStyle/>
                    <a:p>
                      <a:r>
                        <a:rPr lang="en-IN" sz="2400" b="0" dirty="0">
                          <a:latin typeface="Aparajita" panose="02020603050405020304" pitchFamily="18" charset="0"/>
                          <a:cs typeface="Aparajita" panose="02020603050405020304" pitchFamily="18" charset="0"/>
                        </a:rPr>
                        <a:t>Efficiency</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Containers are most efficient than VM because its uses only bear minimum parts of operating system.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VM’s are less efficient than containers because they have to manage full blown guest operating system.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6358786"/>
                  </a:ext>
                </a:extLst>
              </a:tr>
              <a:tr h="1277947">
                <a:tc>
                  <a:txBody>
                    <a:bodyPr/>
                    <a:lstStyle/>
                    <a:p>
                      <a:r>
                        <a:rPr lang="en-IN" sz="2400" b="0" dirty="0">
                          <a:latin typeface="Aparajita" panose="02020603050405020304" pitchFamily="18" charset="0"/>
                          <a:cs typeface="Aparajita" panose="02020603050405020304" pitchFamily="18" charset="0"/>
                        </a:rPr>
                        <a:t>Portability</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Containers are self contained environments that can be used on different operating systems.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VM’s aren’t that easily ported with the same settings from one operating system to another.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3452823"/>
                  </a:ext>
                </a:extLst>
              </a:tr>
              <a:tr h="858473">
                <a:tc>
                  <a:txBody>
                    <a:bodyPr/>
                    <a:lstStyle/>
                    <a:p>
                      <a:r>
                        <a:rPr lang="en-IN" sz="2400" b="0" dirty="0">
                          <a:latin typeface="Aparajita" panose="02020603050405020304" pitchFamily="18" charset="0"/>
                          <a:cs typeface="Aparajita" panose="02020603050405020304" pitchFamily="18" charset="0"/>
                        </a:rPr>
                        <a:t>Scalability</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Containers are light weight so they can easily scale and can be added and removed based on requirements.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VM’s are heavy weight so aren't very easily scalable.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284207"/>
                  </a:ext>
                </a:extLst>
              </a:tr>
              <a:tr h="858473">
                <a:tc>
                  <a:txBody>
                    <a:bodyPr/>
                    <a:lstStyle/>
                    <a:p>
                      <a:r>
                        <a:rPr lang="en-IN" sz="2400" b="0" dirty="0">
                          <a:latin typeface="Aparajita" panose="02020603050405020304" pitchFamily="18" charset="0"/>
                          <a:cs typeface="Aparajita" panose="02020603050405020304" pitchFamily="18" charset="0"/>
                        </a:rPr>
                        <a:t>Deployment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Containers can be deployed easily using the Docker CLI or making use of Cloud services provided by AWS or Azure.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VM’s can be deployed using the powershellor by using the VMM or using cloud services such as  AWS or Azure.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2361160"/>
                  </a:ext>
                </a:extLst>
              </a:tr>
            </a:tbl>
          </a:graphicData>
        </a:graphic>
      </p:graphicFrame>
    </p:spTree>
    <p:extLst>
      <p:ext uri="{BB962C8B-B14F-4D97-AF65-F5344CB8AC3E}">
        <p14:creationId xmlns:p14="http://schemas.microsoft.com/office/powerpoint/2010/main" val="2417281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Why do we need Container ?</a:t>
            </a:r>
            <a:endParaRPr lang="en-IN" sz="2400" dirty="0">
              <a:solidFill>
                <a:prstClr val="black"/>
              </a:solidFill>
              <a:latin typeface="Arial"/>
              <a:cs typeface="Arial"/>
            </a:endParaRPr>
          </a:p>
          <a:p>
            <a:pPr marL="12700" lvl="0" defTabSz="457200" eaLnBrk="1" fontAlgn="auto" hangingPunct="1">
              <a:lnSpc>
                <a:spcPts val="2555"/>
              </a:lnSpc>
              <a:spcBef>
                <a:spcPts val="0"/>
              </a:spcBef>
              <a:spcAft>
                <a:spcPts val="0"/>
              </a:spcAft>
              <a:defRPr/>
            </a:pP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0779369" cy="5214064"/>
          </a:xfrm>
          <a:prstGeom prst="rect">
            <a:avLst/>
          </a:prstGeom>
        </p:spPr>
        <p:txBody>
          <a:bodyPr wrap="square" lIns="0" tIns="16224" rIns="0" bIns="0" rtlCol="0">
            <a:noAutofit/>
          </a:bodyPr>
          <a:lstStyle/>
          <a:p>
            <a:pPr marL="457200" indent="-457200">
              <a:buAutoNum type="arabicPeriod"/>
            </a:pPr>
            <a:r>
              <a:rPr lang="en-IN" sz="2400" dirty="0">
                <a:solidFill>
                  <a:srgbClr val="000000"/>
                </a:solidFill>
                <a:latin typeface="Aparajita" panose="02020603050405020304" pitchFamily="18" charset="0"/>
                <a:cs typeface="Aparajita" panose="02020603050405020304" pitchFamily="18" charset="0"/>
              </a:rPr>
              <a:t>To maintain Consistent development environments.</a:t>
            </a:r>
          </a:p>
          <a:p>
            <a:pPr marL="457200" indent="-457200">
              <a:buAutoNum type="arabicPeriod"/>
            </a:pPr>
            <a:r>
              <a:rPr lang="en-IN" sz="2400" dirty="0">
                <a:solidFill>
                  <a:srgbClr val="000000"/>
                </a:solidFill>
                <a:latin typeface="Aparajita" panose="02020603050405020304" pitchFamily="18" charset="0"/>
                <a:cs typeface="Aparajita" panose="02020603050405020304" pitchFamily="18" charset="0"/>
              </a:rPr>
              <a:t>To implement micro service-based application.</a:t>
            </a:r>
          </a:p>
          <a:p>
            <a:pPr marL="457200" indent="-457200">
              <a:buAutoNum type="arabicPeriod"/>
            </a:pPr>
            <a:r>
              <a:rPr lang="en-IN" sz="2000" b="1" u="sng" dirty="0">
                <a:solidFill>
                  <a:srgbClr val="000000"/>
                </a:solidFill>
                <a:effectLst>
                  <a:outerShdw blurRad="38100" dist="38100" dir="2700000" algn="tl">
                    <a:srgbClr val="000000">
                      <a:alpha val="43137"/>
                    </a:srgbClr>
                  </a:outerShdw>
                </a:effectLst>
                <a:cs typeface="Calibri" panose="020F0502020204030204" pitchFamily="34" charset="0"/>
              </a:rPr>
              <a:t>Microservices-</a:t>
            </a:r>
            <a:r>
              <a:rPr lang="en-IN" sz="2400" dirty="0">
                <a:solidFill>
                  <a:srgbClr val="000000"/>
                </a:solidFill>
                <a:latin typeface="Aparajita" panose="02020603050405020304" pitchFamily="18" charset="0"/>
                <a:cs typeface="Aparajita" panose="02020603050405020304" pitchFamily="18" charset="0"/>
              </a:rPr>
              <a:t> Is an architectural style that structures an application as a collection of services that are loosely coupled, Independently deployable, owned by a small team etc.</a:t>
            </a:r>
          </a:p>
          <a:p>
            <a:pPr marL="457200" indent="-457200">
              <a:buAutoNum type="arabicPeriod"/>
            </a:pPr>
            <a:r>
              <a:rPr lang="en-IN" sz="2400" dirty="0">
                <a:solidFill>
                  <a:srgbClr val="000000"/>
                </a:solidFill>
                <a:latin typeface="Aparajita" panose="02020603050405020304" pitchFamily="18" charset="0"/>
                <a:cs typeface="Aparajita" panose="02020603050405020304" pitchFamily="18" charset="0"/>
              </a:rPr>
              <a:t>Example. Food delivery app having different modules like Paymate, Tracking order, SMS, Searching food so these are the different modules which we can developed independently as micro service. </a:t>
            </a:r>
            <a:endParaRPr lang="en-IN" sz="2000" dirty="0">
              <a:solidFill>
                <a:srgbClr val="000000"/>
              </a:solidFill>
            </a:endParaRPr>
          </a:p>
          <a:p>
            <a:pPr marL="342900" indent="-342900">
              <a:buFont typeface="+mj-lt"/>
              <a:buAutoNum type="arabicPeriod"/>
            </a:pPr>
            <a:endParaRPr lang="en-US" sz="2000" dirty="0">
              <a:solidFill>
                <a:srgbClr val="000000"/>
              </a:solidFill>
            </a:endParaRPr>
          </a:p>
          <a:p>
            <a:r>
              <a:rPr lang="en-US" sz="2000" b="1" dirty="0">
                <a:solidFill>
                  <a:srgbClr val="000000"/>
                </a:solidFill>
              </a:rPr>
              <a:t>       </a:t>
            </a:r>
            <a:r>
              <a:rPr lang="en-US" sz="2000" b="1" u="sng" dirty="0">
                <a:solidFill>
                  <a:srgbClr val="000000"/>
                </a:solidFill>
                <a:effectLst>
                  <a:outerShdw blurRad="38100" dist="38100" dir="2700000" algn="tl">
                    <a:srgbClr val="000000">
                      <a:alpha val="43137"/>
                    </a:srgbClr>
                  </a:outerShdw>
                </a:effectLst>
              </a:rPr>
              <a:t>Containerization</a:t>
            </a:r>
            <a:r>
              <a:rPr lang="en-US" sz="2000" b="1" dirty="0">
                <a:solidFill>
                  <a:srgbClr val="000000"/>
                </a:solidFill>
              </a:rPr>
              <a:t>: </a:t>
            </a:r>
            <a:r>
              <a:rPr lang="en-IN" sz="2000" dirty="0">
                <a:solidFill>
                  <a:srgbClr val="000000"/>
                </a:solidFill>
              </a:rPr>
              <a:t>Containerization is a form of virtualization where applications run in isolated user</a:t>
            </a:r>
          </a:p>
          <a:p>
            <a:r>
              <a:rPr lang="en-IN" sz="2000" dirty="0">
                <a:solidFill>
                  <a:srgbClr val="000000"/>
                </a:solidFill>
              </a:rPr>
              <a:t>       spaces, called containers, while using the same shared operating system (OS). One of the benefits </a:t>
            </a:r>
          </a:p>
          <a:p>
            <a:r>
              <a:rPr lang="en-IN" sz="2000" dirty="0">
                <a:solidFill>
                  <a:srgbClr val="000000"/>
                </a:solidFill>
              </a:rPr>
              <a:t>       of containerization is that a container is essentially a fully packaged and portable computing </a:t>
            </a:r>
          </a:p>
          <a:p>
            <a:r>
              <a:rPr lang="en-IN" sz="2000" dirty="0">
                <a:solidFill>
                  <a:srgbClr val="000000"/>
                </a:solidFill>
              </a:rPr>
              <a:t>       environment.</a:t>
            </a:r>
            <a:endParaRPr lang="en-US" sz="2000" dirty="0">
              <a:solidFill>
                <a:srgbClr val="000000"/>
              </a:solidFill>
            </a:endParaRPr>
          </a:p>
        </p:txBody>
      </p:sp>
    </p:spTree>
    <p:extLst>
      <p:ext uri="{BB962C8B-B14F-4D97-AF65-F5344CB8AC3E}">
        <p14:creationId xmlns:p14="http://schemas.microsoft.com/office/powerpoint/2010/main" val="3289352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What is Docker and Why Docker?</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0779369" cy="5214064"/>
          </a:xfrm>
          <a:prstGeom prst="rect">
            <a:avLst/>
          </a:prstGeom>
        </p:spPr>
        <p:txBody>
          <a:bodyPr wrap="square" lIns="0" tIns="16224" rIns="0" bIns="0" rtlCol="0">
            <a:noAutofit/>
          </a:bodyPr>
          <a:lstStyle/>
          <a:p>
            <a:r>
              <a:rPr lang="en-US" sz="2000" b="1" u="sng" dirty="0">
                <a:solidFill>
                  <a:srgbClr val="000000"/>
                </a:solidFill>
                <a:effectLst>
                  <a:outerShdw blurRad="38100" dist="38100" dir="2700000" algn="tl">
                    <a:srgbClr val="000000">
                      <a:alpha val="43137"/>
                    </a:srgbClr>
                  </a:outerShdw>
                </a:effectLst>
              </a:rPr>
              <a:t>Docker</a:t>
            </a:r>
            <a:r>
              <a:rPr lang="en-US" sz="2000" dirty="0">
                <a:solidFill>
                  <a:srgbClr val="000000"/>
                </a:solidFill>
              </a:rPr>
              <a:t> is tool or an open platform for developing, shipping and running applications in isolation. It does so by creating containers that completely wrap a software.</a:t>
            </a:r>
          </a:p>
          <a:p>
            <a:endParaRPr lang="en-US" sz="2000" dirty="0">
              <a:solidFill>
                <a:srgbClr val="000000"/>
              </a:solidFill>
            </a:endParaRPr>
          </a:p>
          <a:p>
            <a:r>
              <a:rPr lang="en-US" sz="2000" dirty="0">
                <a:solidFill>
                  <a:srgbClr val="000000"/>
                </a:solidFill>
              </a:rPr>
              <a:t>Docker is not the only container tool. There are many container tools available like rkt, Podman, LXC, Hyper-V and Windows Containers etc.</a:t>
            </a:r>
          </a:p>
          <a:p>
            <a:endParaRPr lang="en-US" sz="2000" dirty="0">
              <a:solidFill>
                <a:srgbClr val="000000"/>
              </a:solidFill>
            </a:endParaRPr>
          </a:p>
          <a:p>
            <a:r>
              <a:rPr lang="en-US" sz="2000" b="1" u="sng" dirty="0">
                <a:solidFill>
                  <a:srgbClr val="000000"/>
                </a:solidFill>
              </a:rPr>
              <a:t>Why Docker?</a:t>
            </a:r>
          </a:p>
          <a:p>
            <a:endParaRPr lang="en-US" sz="2000" dirty="0">
              <a:solidFill>
                <a:srgbClr val="000000"/>
              </a:solidFill>
            </a:endParaRPr>
          </a:p>
          <a:p>
            <a:pPr marL="457200" indent="-457200">
              <a:buAutoNum type="arabicPeriod"/>
            </a:pPr>
            <a:r>
              <a:rPr lang="en-US" sz="2000" dirty="0">
                <a:solidFill>
                  <a:srgbClr val="000000"/>
                </a:solidFill>
              </a:rPr>
              <a:t>Simple.</a:t>
            </a:r>
          </a:p>
          <a:p>
            <a:pPr marL="457200" indent="-457200">
              <a:buAutoNum type="arabicPeriod"/>
            </a:pPr>
            <a:r>
              <a:rPr lang="en-US" sz="2000" dirty="0">
                <a:solidFill>
                  <a:srgbClr val="000000"/>
                </a:solidFill>
              </a:rPr>
              <a:t>Fast.</a:t>
            </a:r>
          </a:p>
          <a:p>
            <a:pPr marL="457200" indent="-457200">
              <a:buAutoNum type="arabicPeriod"/>
            </a:pPr>
            <a:r>
              <a:rPr lang="en-US" sz="2000" dirty="0">
                <a:solidFill>
                  <a:srgbClr val="000000"/>
                </a:solidFill>
              </a:rPr>
              <a:t>Easy Collaboration.</a:t>
            </a:r>
          </a:p>
          <a:p>
            <a:pPr marL="457200" indent="-457200">
              <a:buAutoNum type="arabicPeriod"/>
            </a:pPr>
            <a:r>
              <a:rPr lang="en-US" sz="2000" dirty="0">
                <a:solidFill>
                  <a:srgbClr val="000000"/>
                </a:solidFill>
              </a:rPr>
              <a:t>Built for Developers by Developers.</a:t>
            </a:r>
          </a:p>
          <a:p>
            <a:pPr marL="457200" indent="-457200">
              <a:buAutoNum type="arabicPeriod"/>
            </a:pPr>
            <a:r>
              <a:rPr lang="en-US" sz="2000" dirty="0">
                <a:solidFill>
                  <a:srgbClr val="000000"/>
                </a:solidFill>
              </a:rPr>
              <a:t>Big Docker community contributing many new things, images.</a:t>
            </a:r>
          </a:p>
          <a:p>
            <a:endParaRPr lang="en-US" sz="2000" dirty="0">
              <a:solidFill>
                <a:srgbClr val="000000"/>
              </a:solidFill>
            </a:endParaRPr>
          </a:p>
        </p:txBody>
      </p:sp>
    </p:spTree>
    <p:extLst>
      <p:ext uri="{BB962C8B-B14F-4D97-AF65-F5344CB8AC3E}">
        <p14:creationId xmlns:p14="http://schemas.microsoft.com/office/powerpoint/2010/main" val="2543697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installation &amp; Setup</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0779369" cy="5214064"/>
          </a:xfrm>
          <a:prstGeom prst="rect">
            <a:avLst/>
          </a:prstGeom>
        </p:spPr>
        <p:txBody>
          <a:bodyPr wrap="square" lIns="0" tIns="16224" rIns="0" bIns="0" rtlCol="0">
            <a:noAutofit/>
          </a:bodyPr>
          <a:lstStyle/>
          <a:p>
            <a:r>
              <a:rPr lang="en-US" sz="2000" dirty="0">
                <a:solidFill>
                  <a:srgbClr val="000000"/>
                </a:solidFill>
              </a:rPr>
              <a:t>We can install docker on Linux, Mac or Windows operating systems. We can also install docker desktop version on your personal computer.</a:t>
            </a:r>
          </a:p>
          <a:p>
            <a:endParaRPr lang="en-US" sz="2000" dirty="0">
              <a:solidFill>
                <a:srgbClr val="000000"/>
              </a:solidFill>
            </a:endParaRPr>
          </a:p>
          <a:p>
            <a:r>
              <a:rPr lang="en-US" sz="2000" b="1" u="sng" dirty="0">
                <a:solidFill>
                  <a:srgbClr val="000000"/>
                </a:solidFill>
              </a:rPr>
              <a:t>Installation methods on Ubuntu Operating System</a:t>
            </a:r>
          </a:p>
          <a:p>
            <a:endParaRPr lang="en-US" sz="2000" dirty="0">
              <a:solidFill>
                <a:srgbClr val="000000"/>
              </a:solidFill>
            </a:endParaRPr>
          </a:p>
          <a:p>
            <a:r>
              <a:rPr lang="en-US" sz="2000" u="sng" dirty="0">
                <a:solidFill>
                  <a:srgbClr val="000000"/>
                </a:solidFill>
              </a:rPr>
              <a:t>Method 1</a:t>
            </a:r>
            <a:r>
              <a:rPr lang="en-US" sz="2000" dirty="0">
                <a:solidFill>
                  <a:srgbClr val="000000"/>
                </a:solidFill>
              </a:rPr>
              <a:t>: Directly using ubuntu package manager</a:t>
            </a:r>
          </a:p>
          <a:p>
            <a:endParaRPr lang="en-US" sz="2000" dirty="0">
              <a:solidFill>
                <a:srgbClr val="000000"/>
              </a:solidFill>
            </a:endParaRPr>
          </a:p>
          <a:p>
            <a:r>
              <a:rPr lang="en-US" sz="2000" dirty="0">
                <a:solidFill>
                  <a:srgbClr val="000000"/>
                </a:solidFill>
              </a:rPr>
              <a:t> ~ sudo apt update -y</a:t>
            </a:r>
          </a:p>
          <a:p>
            <a:r>
              <a:rPr lang="en-US" sz="2000" dirty="0">
                <a:solidFill>
                  <a:srgbClr val="000000"/>
                </a:solidFill>
              </a:rPr>
              <a:t> ~ sudo apt install docker.io -y</a:t>
            </a:r>
          </a:p>
          <a:p>
            <a:r>
              <a:rPr lang="en-US" sz="2000" dirty="0">
                <a:solidFill>
                  <a:srgbClr val="000000"/>
                </a:solidFill>
              </a:rPr>
              <a:t> ~ docker --version</a:t>
            </a:r>
          </a:p>
          <a:p>
            <a:r>
              <a:rPr lang="en-US" sz="2000" dirty="0">
                <a:solidFill>
                  <a:srgbClr val="000000"/>
                </a:solidFill>
              </a:rPr>
              <a:t> ~ sudo apt remove docker.io –y</a:t>
            </a:r>
          </a:p>
          <a:p>
            <a:endParaRPr lang="en-US" sz="2000" dirty="0">
              <a:solidFill>
                <a:srgbClr val="000000"/>
              </a:solidFill>
            </a:endParaRPr>
          </a:p>
          <a:p>
            <a:r>
              <a:rPr lang="en-US" sz="2000" dirty="0">
                <a:solidFill>
                  <a:srgbClr val="000000"/>
                </a:solidFill>
              </a:rPr>
              <a:t>Disadvantages of method 1 is that sometime in ubuntu, packages are not updated so will not get updated Docker version installed.</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spTree>
    <p:extLst>
      <p:ext uri="{BB962C8B-B14F-4D97-AF65-F5344CB8AC3E}">
        <p14:creationId xmlns:p14="http://schemas.microsoft.com/office/powerpoint/2010/main" val="2984172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installation &amp; Setup</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1220861" cy="5214064"/>
          </a:xfrm>
          <a:prstGeom prst="rect">
            <a:avLst/>
          </a:prstGeom>
        </p:spPr>
        <p:txBody>
          <a:bodyPr wrap="square" lIns="0" tIns="16224" rIns="0" bIns="0" rtlCol="0">
            <a:noAutofit/>
          </a:bodyPr>
          <a:lstStyle/>
          <a:p>
            <a:r>
              <a:rPr lang="en-US" sz="2000" u="sng" dirty="0">
                <a:solidFill>
                  <a:srgbClr val="000000"/>
                </a:solidFill>
              </a:rPr>
              <a:t>Method 2</a:t>
            </a:r>
            <a:r>
              <a:rPr lang="en-US" sz="2000" dirty="0">
                <a:solidFill>
                  <a:srgbClr val="000000"/>
                </a:solidFill>
              </a:rPr>
              <a:t>: Using Docker repository.</a:t>
            </a:r>
          </a:p>
          <a:p>
            <a:endParaRPr lang="en-US" sz="2000" dirty="0">
              <a:solidFill>
                <a:srgbClr val="000000"/>
              </a:solidFill>
            </a:endParaRPr>
          </a:p>
          <a:p>
            <a:r>
              <a:rPr lang="en-US" sz="2000" dirty="0">
                <a:solidFill>
                  <a:srgbClr val="000000"/>
                </a:solidFill>
              </a:rPr>
              <a:t> ~ sudo apt update -y</a:t>
            </a:r>
          </a:p>
          <a:p>
            <a:r>
              <a:rPr lang="en-US" sz="2000" dirty="0">
                <a:solidFill>
                  <a:srgbClr val="000000"/>
                </a:solidFill>
              </a:rPr>
              <a:t> ~ sudo apt-get install apt-transport-https ca-certificates curl software-properties-common -y</a:t>
            </a:r>
          </a:p>
          <a:p>
            <a:r>
              <a:rPr lang="en-US" sz="2000" dirty="0">
                <a:solidFill>
                  <a:srgbClr val="000000"/>
                </a:solidFill>
              </a:rPr>
              <a:t> ~ curl -fsSL https://download.docker.com/linux/ubuntu/gpg | sudo apt-key add -</a:t>
            </a:r>
          </a:p>
          <a:p>
            <a:r>
              <a:rPr lang="en-US" sz="2000" dirty="0">
                <a:solidFill>
                  <a:srgbClr val="000000"/>
                </a:solidFill>
              </a:rPr>
              <a:t> ~ sudo add-apt-repository "deb [arch=amd64] https://download.docker.com/linux/ubuntu $(lsb_release -cs)  </a:t>
            </a:r>
          </a:p>
          <a:p>
            <a:r>
              <a:rPr lang="en-US" sz="2000" dirty="0">
                <a:solidFill>
                  <a:srgbClr val="000000"/>
                </a:solidFill>
              </a:rPr>
              <a:t>    stable“</a:t>
            </a:r>
          </a:p>
          <a:p>
            <a:r>
              <a:rPr lang="en-IN" sz="2000" dirty="0">
                <a:solidFill>
                  <a:srgbClr val="000000"/>
                </a:solidFill>
              </a:rPr>
              <a:t> ~ sudo apt-get update</a:t>
            </a:r>
          </a:p>
          <a:p>
            <a:r>
              <a:rPr lang="en-IN" sz="2000" dirty="0">
                <a:solidFill>
                  <a:srgbClr val="000000"/>
                </a:solidFill>
              </a:rPr>
              <a:t> ~ sudo apt-get install docker-</a:t>
            </a:r>
            <a:r>
              <a:rPr lang="en-IN" sz="2000" dirty="0" err="1">
                <a:solidFill>
                  <a:srgbClr val="000000"/>
                </a:solidFill>
              </a:rPr>
              <a:t>ce</a:t>
            </a:r>
            <a:r>
              <a:rPr lang="en-IN" sz="2000" dirty="0">
                <a:solidFill>
                  <a:srgbClr val="000000"/>
                </a:solidFill>
              </a:rPr>
              <a:t> -y</a:t>
            </a:r>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spTree>
    <p:extLst>
      <p:ext uri="{BB962C8B-B14F-4D97-AF65-F5344CB8AC3E}">
        <p14:creationId xmlns:p14="http://schemas.microsoft.com/office/powerpoint/2010/main" val="2081712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Environment</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1220861" cy="5214064"/>
          </a:xfrm>
          <a:prstGeom prst="rect">
            <a:avLst/>
          </a:prstGeom>
        </p:spPr>
        <p:txBody>
          <a:bodyPr wrap="square" lIns="0" tIns="16224" rIns="0" bIns="0" rtlCol="0">
            <a:noAutofit/>
          </a:bodyPr>
          <a:lstStyle/>
          <a:p>
            <a:pPr marL="457200" indent="-457200">
              <a:buFont typeface="+mj-lt"/>
              <a:buAutoNum type="arabicPeriod"/>
            </a:pPr>
            <a:r>
              <a:rPr lang="en-US" sz="2000" dirty="0">
                <a:solidFill>
                  <a:srgbClr val="000000"/>
                </a:solidFill>
              </a:rPr>
              <a:t>Docker Engine</a:t>
            </a:r>
          </a:p>
          <a:p>
            <a:pPr marL="457200" indent="-457200">
              <a:buFont typeface="+mj-lt"/>
              <a:buAutoNum type="arabicPeriod"/>
            </a:pPr>
            <a:r>
              <a:rPr lang="en-US" sz="2000" dirty="0">
                <a:solidFill>
                  <a:srgbClr val="000000"/>
                </a:solidFill>
              </a:rPr>
              <a:t>Docker Objects </a:t>
            </a:r>
          </a:p>
          <a:p>
            <a:pPr marL="457200" indent="-457200">
              <a:buFont typeface="+mj-lt"/>
              <a:buAutoNum type="arabicPeriod"/>
            </a:pPr>
            <a:r>
              <a:rPr lang="en-US" sz="2000" dirty="0">
                <a:solidFill>
                  <a:srgbClr val="000000"/>
                </a:solidFill>
              </a:rPr>
              <a:t>Docker Registry</a:t>
            </a:r>
          </a:p>
          <a:p>
            <a:pPr marL="457200" indent="-457200">
              <a:buFont typeface="+mj-lt"/>
              <a:buAutoNum type="arabicPeriod"/>
            </a:pPr>
            <a:r>
              <a:rPr lang="en-US" sz="2000" dirty="0">
                <a:solidFill>
                  <a:srgbClr val="000000"/>
                </a:solidFill>
              </a:rPr>
              <a:t>Docker Compose.</a:t>
            </a:r>
          </a:p>
          <a:p>
            <a:pPr marL="457200" indent="-457200">
              <a:buFont typeface="+mj-lt"/>
              <a:buAutoNum type="arabicPeriod"/>
            </a:pPr>
            <a:r>
              <a:rPr lang="en-US" sz="2000" dirty="0">
                <a:solidFill>
                  <a:srgbClr val="000000"/>
                </a:solidFill>
              </a:rPr>
              <a:t>Docker Swarm.</a:t>
            </a:r>
          </a:p>
          <a:p>
            <a:endParaRPr lang="en-US" sz="2000" dirty="0">
              <a:solidFill>
                <a:srgbClr val="000000"/>
              </a:solidFill>
            </a:endParaRPr>
          </a:p>
        </p:txBody>
      </p:sp>
    </p:spTree>
    <p:extLst>
      <p:ext uri="{BB962C8B-B14F-4D97-AF65-F5344CB8AC3E}">
        <p14:creationId xmlns:p14="http://schemas.microsoft.com/office/powerpoint/2010/main" val="28625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1. Docker Engine.</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1070405"/>
            <a:ext cx="11220861" cy="5119956"/>
          </a:xfrm>
          <a:prstGeom prst="rect">
            <a:avLst/>
          </a:prstGeom>
        </p:spPr>
        <p:txBody>
          <a:bodyPr wrap="square" lIns="0" tIns="16224" rIns="0" bIns="0" rtlCol="0">
            <a:noAutofit/>
          </a:bodyPr>
          <a:lstStyle/>
          <a:p>
            <a:r>
              <a:rPr lang="en-US" sz="2000" b="1" dirty="0">
                <a:solidFill>
                  <a:srgbClr val="000000"/>
                </a:solidFill>
                <a:effectLst>
                  <a:outerShdw blurRad="38100" dist="38100" dir="2700000" algn="tl">
                    <a:srgbClr val="000000">
                      <a:alpha val="43137"/>
                    </a:srgbClr>
                  </a:outerShdw>
                </a:effectLst>
              </a:rPr>
              <a:t>Docker Engine </a:t>
            </a:r>
            <a:r>
              <a:rPr lang="en-US" sz="2000" dirty="0">
                <a:solidFill>
                  <a:srgbClr val="000000"/>
                </a:solidFill>
              </a:rPr>
              <a:t>is as the name suggests, its technology that allows for the creation and management of all the Docker Processes. It has three major parts to it.</a:t>
            </a:r>
          </a:p>
          <a:p>
            <a:r>
              <a:rPr lang="en-US" sz="2000" dirty="0">
                <a:solidFill>
                  <a:srgbClr val="000000"/>
                </a:solidFill>
              </a:rPr>
              <a:t>Docker CLI.</a:t>
            </a:r>
          </a:p>
          <a:p>
            <a:r>
              <a:rPr lang="en-US" sz="2000" dirty="0">
                <a:solidFill>
                  <a:srgbClr val="000000"/>
                </a:solidFill>
              </a:rPr>
              <a:t>Docker API.</a:t>
            </a:r>
          </a:p>
          <a:p>
            <a:r>
              <a:rPr lang="en-US" sz="2000" dirty="0">
                <a:solidFill>
                  <a:srgbClr val="000000"/>
                </a:solidFill>
              </a:rPr>
              <a:t>Docker Daemon.</a:t>
            </a:r>
          </a:p>
        </p:txBody>
      </p:sp>
      <p:pic>
        <p:nvPicPr>
          <p:cNvPr id="3" name="Picture 2">
            <a:extLst>
              <a:ext uri="{FF2B5EF4-FFF2-40B4-BE49-F238E27FC236}">
                <a16:creationId xmlns:a16="http://schemas.microsoft.com/office/drawing/2014/main" id="{E2F7E4F0-A5C5-4843-AFB5-71D461148144}"/>
              </a:ext>
            </a:extLst>
          </p:cNvPr>
          <p:cNvPicPr>
            <a:picLocks noChangeAspect="1"/>
          </p:cNvPicPr>
          <p:nvPr/>
        </p:nvPicPr>
        <p:blipFill>
          <a:blip r:embed="rId4"/>
          <a:stretch>
            <a:fillRect/>
          </a:stretch>
        </p:blipFill>
        <p:spPr>
          <a:xfrm>
            <a:off x="1253869" y="2938227"/>
            <a:ext cx="9623769" cy="2849368"/>
          </a:xfrm>
          <a:prstGeom prst="rect">
            <a:avLst/>
          </a:prstGeom>
        </p:spPr>
      </p:pic>
    </p:spTree>
    <p:extLst>
      <p:ext uri="{BB962C8B-B14F-4D97-AF65-F5344CB8AC3E}">
        <p14:creationId xmlns:p14="http://schemas.microsoft.com/office/powerpoint/2010/main" val="3913572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2. Docker Objects.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1070405"/>
            <a:ext cx="11220861" cy="5119956"/>
          </a:xfrm>
          <a:prstGeom prst="rect">
            <a:avLst/>
          </a:prstGeom>
        </p:spPr>
        <p:txBody>
          <a:bodyPr wrap="square" lIns="0" tIns="16224" rIns="0" bIns="0" rtlCol="0">
            <a:noAutofit/>
          </a:bodyPr>
          <a:lstStyle/>
          <a:p>
            <a:pPr marL="457200" indent="-457200">
              <a:buFont typeface="+mj-lt"/>
              <a:buAutoNum type="alphaUcPeriod"/>
            </a:pPr>
            <a:r>
              <a:rPr lang="en-US" sz="2000" dirty="0">
                <a:solidFill>
                  <a:srgbClr val="000000"/>
                </a:solidFill>
              </a:rPr>
              <a:t>Docker Images.</a:t>
            </a:r>
          </a:p>
          <a:p>
            <a:pPr marL="457200" indent="-457200">
              <a:buFont typeface="+mj-lt"/>
              <a:buAutoNum type="alphaUcPeriod"/>
            </a:pPr>
            <a:r>
              <a:rPr lang="en-US" sz="2000" dirty="0">
                <a:solidFill>
                  <a:srgbClr val="000000"/>
                </a:solidFill>
              </a:rPr>
              <a:t>Docker Containers.</a:t>
            </a:r>
          </a:p>
          <a:p>
            <a:pPr marL="457200" indent="-457200">
              <a:buFont typeface="+mj-lt"/>
              <a:buAutoNum type="alphaUcPeriod"/>
            </a:pPr>
            <a:r>
              <a:rPr lang="en-US" sz="2000" dirty="0">
                <a:solidFill>
                  <a:srgbClr val="000000"/>
                </a:solidFill>
              </a:rPr>
              <a:t>Docker Volumes.</a:t>
            </a:r>
          </a:p>
          <a:p>
            <a:pPr marL="457200" indent="-457200">
              <a:buFont typeface="+mj-lt"/>
              <a:buAutoNum type="alphaUcPeriod"/>
            </a:pPr>
            <a:r>
              <a:rPr lang="en-US" sz="2000" dirty="0">
                <a:solidFill>
                  <a:srgbClr val="000000"/>
                </a:solidFill>
              </a:rPr>
              <a:t>Docker Networks.</a:t>
            </a:r>
          </a:p>
          <a:p>
            <a:pPr marL="457200" indent="-457200">
              <a:buFont typeface="+mj-lt"/>
              <a:buAutoNum type="alphaUcPeriod"/>
            </a:pPr>
            <a:r>
              <a:rPr lang="en-US" sz="2000" dirty="0">
                <a:solidFill>
                  <a:srgbClr val="000000"/>
                </a:solidFill>
              </a:rPr>
              <a:t>Docker Swarm Nodes. </a:t>
            </a:r>
          </a:p>
          <a:p>
            <a:pPr marL="457200" indent="-457200">
              <a:buFont typeface="+mj-lt"/>
              <a:buAutoNum type="alphaUcPeriod"/>
            </a:pPr>
            <a:r>
              <a:rPr lang="en-US" sz="2000" dirty="0">
                <a:solidFill>
                  <a:srgbClr val="000000"/>
                </a:solidFill>
              </a:rPr>
              <a:t>Docker Swarm Services.</a:t>
            </a:r>
          </a:p>
          <a:p>
            <a:pPr marL="457200" indent="-457200">
              <a:buFont typeface="+mj-lt"/>
              <a:buAutoNum type="alphaUcPeriod"/>
            </a:pPr>
            <a:r>
              <a:rPr lang="en-US" sz="2000">
                <a:solidFill>
                  <a:srgbClr val="000000"/>
                </a:solidFill>
              </a:rPr>
              <a:t>Docker Swarm Stack</a:t>
            </a:r>
            <a:r>
              <a:rPr lang="en-US" sz="2000" dirty="0">
                <a:solidFill>
                  <a:srgbClr val="000000"/>
                </a:solidFill>
              </a:rPr>
              <a:t>.</a:t>
            </a:r>
          </a:p>
        </p:txBody>
      </p:sp>
      <p:pic>
        <p:nvPicPr>
          <p:cNvPr id="3" name="Picture 2">
            <a:extLst>
              <a:ext uri="{FF2B5EF4-FFF2-40B4-BE49-F238E27FC236}">
                <a16:creationId xmlns:a16="http://schemas.microsoft.com/office/drawing/2014/main" id="{F70621AE-A1B6-B13E-439C-02BC4FBDE048}"/>
              </a:ext>
            </a:extLst>
          </p:cNvPr>
          <p:cNvPicPr>
            <a:picLocks noChangeAspect="1"/>
          </p:cNvPicPr>
          <p:nvPr/>
        </p:nvPicPr>
        <p:blipFill>
          <a:blip r:embed="rId4"/>
          <a:stretch>
            <a:fillRect/>
          </a:stretch>
        </p:blipFill>
        <p:spPr>
          <a:xfrm>
            <a:off x="429261" y="3807502"/>
            <a:ext cx="11246924" cy="2382859"/>
          </a:xfrm>
          <a:prstGeom prst="rect">
            <a:avLst/>
          </a:prstGeom>
        </p:spPr>
      </p:pic>
    </p:spTree>
    <p:extLst>
      <p:ext uri="{BB962C8B-B14F-4D97-AF65-F5344CB8AC3E}">
        <p14:creationId xmlns:p14="http://schemas.microsoft.com/office/powerpoint/2010/main" val="3399592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A. Docker Objects - Images.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b="1" dirty="0">
                <a:solidFill>
                  <a:srgbClr val="000000"/>
                </a:solidFill>
                <a:effectLst>
                  <a:outerShdw blurRad="38100" dist="38100" dir="2700000" algn="tl">
                    <a:srgbClr val="000000">
                      <a:alpha val="43137"/>
                    </a:srgbClr>
                  </a:outerShdw>
                </a:effectLst>
              </a:rPr>
              <a:t>Docker images </a:t>
            </a:r>
            <a:r>
              <a:rPr lang="en-US" sz="2000" dirty="0">
                <a:solidFill>
                  <a:srgbClr val="000000"/>
                </a:solidFill>
              </a:rPr>
              <a:t>are sets of instructions that are used to create containers and execute code inside it.</a:t>
            </a:r>
          </a:p>
          <a:p>
            <a:endParaRPr lang="en-US" sz="2000" dirty="0">
              <a:solidFill>
                <a:srgbClr val="000000"/>
              </a:solidFill>
            </a:endParaRPr>
          </a:p>
          <a:p>
            <a:r>
              <a:rPr lang="en-US" sz="2000" u="sng" dirty="0">
                <a:solidFill>
                  <a:srgbClr val="000000"/>
                </a:solidFill>
              </a:rPr>
              <a:t>Common Commands:</a:t>
            </a:r>
          </a:p>
          <a:p>
            <a:endParaRPr lang="en-US" sz="2000" u="sng" dirty="0">
              <a:solidFill>
                <a:srgbClr val="000000"/>
              </a:solidFill>
            </a:endParaRPr>
          </a:p>
          <a:p>
            <a:pPr marL="342900" indent="-342900">
              <a:buFont typeface="Arial" panose="020B0604020202020204" pitchFamily="34" charset="0"/>
              <a:buChar char="•"/>
            </a:pPr>
            <a:r>
              <a:rPr lang="en-US" sz="2000" u="sng" dirty="0">
                <a:solidFill>
                  <a:srgbClr val="000000"/>
                </a:solidFill>
              </a:rPr>
              <a:t>Pull docker image</a:t>
            </a:r>
            <a:r>
              <a:rPr lang="en-US" sz="2000" dirty="0">
                <a:solidFill>
                  <a:srgbClr val="000000"/>
                </a:solidFill>
              </a:rPr>
              <a:t>.</a:t>
            </a:r>
          </a:p>
          <a:p>
            <a:r>
              <a:rPr lang="en-US" sz="20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pull &lt;image_name&gt;</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List docker pulled images</a:t>
            </a:r>
            <a:r>
              <a:rPr lang="en-US" sz="2000" i="1"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images</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Push docker image</a:t>
            </a:r>
            <a:r>
              <a:rPr lang="en-US" sz="2000"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tag old_image_name new_image_name      </a:t>
            </a:r>
            <a:r>
              <a:rPr lang="en-US" sz="1600" b="1" i="1" dirty="0">
                <a:solidFill>
                  <a:srgbClr val="00B050"/>
                </a:solidFill>
                <a:latin typeface="Courier New" panose="02070309020205020404" pitchFamily="49" charset="0"/>
                <a:cs typeface="Courier New" panose="02070309020205020404" pitchFamily="49" charset="0"/>
              </a:rPr>
              <a:t>(repo_name/image_name)</a:t>
            </a:r>
          </a:p>
          <a:p>
            <a:r>
              <a:rPr lang="en-US" sz="1600" i="1" dirty="0">
                <a:solidFill>
                  <a:srgbClr val="000000"/>
                </a:solidFill>
                <a:latin typeface="Courier New" panose="02070309020205020404" pitchFamily="49" charset="0"/>
                <a:cs typeface="Courier New" panose="02070309020205020404" pitchFamily="49" charset="0"/>
              </a:rPr>
              <a:t>   ~ docker login</a:t>
            </a:r>
          </a:p>
          <a:p>
            <a:r>
              <a:rPr lang="en-US" sz="1600" i="1" dirty="0">
                <a:solidFill>
                  <a:srgbClr val="000000"/>
                </a:solidFill>
                <a:latin typeface="Courier New" panose="02070309020205020404" pitchFamily="49" charset="0"/>
                <a:cs typeface="Courier New" panose="02070309020205020404" pitchFamily="49" charset="0"/>
              </a:rPr>
              <a:t>   ~ docker push image_name</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Remove docker image</a:t>
            </a:r>
            <a:r>
              <a:rPr lang="en-US" sz="2000" dirty="0">
                <a:solidFill>
                  <a:srgbClr val="000000"/>
                </a:solidFill>
              </a:rPr>
              <a:t>.</a:t>
            </a:r>
          </a:p>
          <a:p>
            <a:r>
              <a:rPr lang="en-US" sz="1600" dirty="0">
                <a:solidFill>
                  <a:srgbClr val="000000"/>
                </a:solidFill>
                <a:latin typeface="Courier New" panose="02070309020205020404" pitchFamily="49" charset="0"/>
                <a:cs typeface="Courier New" panose="02070309020205020404" pitchFamily="49" charset="0"/>
              </a:rPr>
              <a:t>   ~ </a:t>
            </a:r>
            <a:r>
              <a:rPr lang="en-US" sz="1600" i="1" dirty="0">
                <a:solidFill>
                  <a:srgbClr val="000000"/>
                </a:solidFill>
                <a:latin typeface="Courier New" panose="02070309020205020404" pitchFamily="49" charset="0"/>
                <a:cs typeface="Courier New" panose="02070309020205020404" pitchFamily="49" charset="0"/>
              </a:rPr>
              <a:t>docker rmi image_name</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Remove docker all images</a:t>
            </a:r>
            <a:r>
              <a:rPr lang="en-US" sz="2000" dirty="0">
                <a:solidFill>
                  <a:srgbClr val="000000"/>
                </a:solidFill>
              </a:rPr>
              <a:t>.</a:t>
            </a:r>
          </a:p>
          <a:p>
            <a:r>
              <a:rPr lang="de-DE" sz="1600" dirty="0">
                <a:solidFill>
                  <a:srgbClr val="000000"/>
                </a:solidFill>
                <a:latin typeface="Courier New" panose="02070309020205020404" pitchFamily="49" charset="0"/>
                <a:cs typeface="Courier New" panose="02070309020205020404" pitchFamily="49" charset="0"/>
              </a:rPr>
              <a:t>   ~ </a:t>
            </a:r>
            <a:r>
              <a:rPr lang="de-DE" sz="1600" i="1" dirty="0">
                <a:solidFill>
                  <a:srgbClr val="000000"/>
                </a:solidFill>
                <a:latin typeface="Courier New" panose="02070309020205020404" pitchFamily="49" charset="0"/>
                <a:cs typeface="Courier New" panose="02070309020205020404" pitchFamily="49" charset="0"/>
              </a:rPr>
              <a:t>docker rmi -f $(docker images -a -q)</a:t>
            </a:r>
            <a:endParaRPr lang="en-US" sz="1600" i="1"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44566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B. Docker Objects - Container.</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b="1" dirty="0">
                <a:solidFill>
                  <a:srgbClr val="000000"/>
                </a:solidFill>
                <a:effectLst>
                  <a:outerShdw blurRad="38100" dist="38100" dir="2700000" algn="tl">
                    <a:srgbClr val="000000">
                      <a:alpha val="43137"/>
                    </a:srgbClr>
                  </a:outerShdw>
                </a:effectLst>
              </a:rPr>
              <a:t>Docker Container </a:t>
            </a:r>
            <a:r>
              <a:rPr lang="en-IN" sz="2400" dirty="0">
                <a:solidFill>
                  <a:srgbClr val="000000"/>
                </a:solidFill>
                <a:latin typeface="Aparajita" panose="02020603050405020304" pitchFamily="18" charset="0"/>
                <a:cs typeface="Aparajita" panose="02020603050405020304" pitchFamily="18" charset="0"/>
              </a:rPr>
              <a:t>are software that wrap up all the parts of a code and all its dependencies into a single deployable unit that can be used on different systems and servers.</a:t>
            </a:r>
          </a:p>
          <a:p>
            <a:endParaRPr lang="en-US" sz="2000" dirty="0">
              <a:solidFill>
                <a:srgbClr val="000000"/>
              </a:solidFill>
            </a:endParaRPr>
          </a:p>
          <a:p>
            <a:r>
              <a:rPr lang="en-US" sz="2000" u="sng" dirty="0">
                <a:solidFill>
                  <a:srgbClr val="000000"/>
                </a:solidFill>
              </a:rPr>
              <a:t>Common Commands:</a:t>
            </a:r>
          </a:p>
          <a:p>
            <a:endParaRPr lang="en-US" sz="2000" u="sng" dirty="0">
              <a:solidFill>
                <a:srgbClr val="000000"/>
              </a:solidFill>
            </a:endParaRPr>
          </a:p>
          <a:p>
            <a:pPr marL="342900" indent="-342900">
              <a:buFont typeface="Arial" panose="020B0604020202020204" pitchFamily="34" charset="0"/>
              <a:buChar char="•"/>
            </a:pPr>
            <a:r>
              <a:rPr lang="en-US" sz="2000" u="sng" dirty="0">
                <a:solidFill>
                  <a:srgbClr val="000000"/>
                </a:solidFill>
              </a:rPr>
              <a:t>Create container from image</a:t>
            </a:r>
            <a:r>
              <a:rPr lang="en-US" sz="2000" dirty="0">
                <a:solidFill>
                  <a:srgbClr val="000000"/>
                </a:solidFill>
              </a:rPr>
              <a:t>.</a:t>
            </a:r>
          </a:p>
          <a:p>
            <a:r>
              <a:rPr lang="en-US" sz="20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&lt;image_name&gt;</a:t>
            </a:r>
          </a:p>
          <a:p>
            <a:r>
              <a:rPr lang="en-US" sz="1600" i="1" dirty="0">
                <a:solidFill>
                  <a:srgbClr val="000000"/>
                </a:solidFill>
                <a:latin typeface="Courier New" panose="02070309020205020404" pitchFamily="49" charset="0"/>
                <a:cs typeface="Courier New" panose="02070309020205020404" pitchFamily="49" charset="0"/>
              </a:rPr>
              <a:t>     </a:t>
            </a:r>
            <a:r>
              <a:rPr lang="en-US" sz="1600" i="1" dirty="0">
                <a:solidFill>
                  <a:srgbClr val="00B050"/>
                </a:solidFill>
                <a:latin typeface="Courier New" panose="02070309020205020404" pitchFamily="49" charset="0"/>
                <a:cs typeface="Courier New" panose="02070309020205020404" pitchFamily="49" charset="0"/>
              </a:rPr>
              <a:t>-it = interactive mode</a:t>
            </a:r>
          </a:p>
          <a:p>
            <a:r>
              <a:rPr lang="en-US" sz="1600" i="1" dirty="0">
                <a:solidFill>
                  <a:srgbClr val="00B050"/>
                </a:solidFill>
                <a:latin typeface="Courier New" panose="02070309020205020404" pitchFamily="49" charset="0"/>
                <a:cs typeface="Courier New" panose="02070309020205020404" pitchFamily="49" charset="0"/>
              </a:rPr>
              <a:t>     -d  = detached mode (run in background)</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To see created containers</a:t>
            </a:r>
            <a:r>
              <a:rPr lang="en-US" sz="2000" i="1"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ps</a:t>
            </a:r>
          </a:p>
          <a:p>
            <a:r>
              <a:rPr lang="en-US" sz="1600" i="1" dirty="0">
                <a:solidFill>
                  <a:srgbClr val="000000"/>
                </a:solidFill>
                <a:latin typeface="Courier New" panose="02070309020205020404" pitchFamily="49" charset="0"/>
                <a:cs typeface="Courier New" panose="02070309020205020404" pitchFamily="49" charset="0"/>
              </a:rPr>
              <a:t>   ~ sudo docker ps -a</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Create container from image with name and expose on port</a:t>
            </a:r>
            <a:r>
              <a:rPr lang="en-US" sz="2000" i="1" dirty="0">
                <a:solidFill>
                  <a:srgbClr val="000000"/>
                </a:solidFill>
              </a:rPr>
              <a:t>.</a:t>
            </a:r>
          </a:p>
          <a:p>
            <a:r>
              <a:rPr lang="en-US" sz="2000" i="1"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–-name mycontainer &lt;image_name&gt;</a:t>
            </a:r>
          </a:p>
          <a:p>
            <a:r>
              <a:rPr lang="en-US" sz="1600" i="1" dirty="0">
                <a:solidFill>
                  <a:srgbClr val="000000"/>
                </a:solidFill>
                <a:latin typeface="Courier New" panose="02070309020205020404" pitchFamily="49" charset="0"/>
                <a:cs typeface="Courier New" panose="02070309020205020404" pitchFamily="49" charset="0"/>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–-name mycontainer –p 80:8080 &lt;image_name&gt;</a:t>
            </a:r>
          </a:p>
          <a:p>
            <a:r>
              <a:rPr lang="en-US" sz="1600" i="1" dirty="0">
                <a:solidFill>
                  <a:srgbClr val="000000"/>
                </a:solidFill>
                <a:latin typeface="Courier New" panose="02070309020205020404" pitchFamily="49" charset="0"/>
                <a:cs typeface="Courier New" panose="02070309020205020404" pitchFamily="49" charset="0"/>
              </a:rPr>
              <a:t>     </a:t>
            </a:r>
            <a:r>
              <a:rPr lang="en-US" sz="1600" i="1" dirty="0">
                <a:solidFill>
                  <a:srgbClr val="00B050"/>
                </a:solidFill>
                <a:latin typeface="Courier New" panose="02070309020205020404" pitchFamily="49" charset="0"/>
                <a:cs typeface="Courier New" panose="02070309020205020404" pitchFamily="49" charset="0"/>
              </a:rPr>
              <a:t>80   host port</a:t>
            </a:r>
          </a:p>
          <a:p>
            <a:r>
              <a:rPr lang="en-US" sz="1600" i="1" dirty="0">
                <a:solidFill>
                  <a:srgbClr val="00B050"/>
                </a:solidFill>
                <a:latin typeface="Courier New" panose="02070309020205020404" pitchFamily="49" charset="0"/>
                <a:cs typeface="Courier New" panose="02070309020205020404" pitchFamily="49" charset="0"/>
              </a:rPr>
              <a:t>     8080 container port</a:t>
            </a: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542881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B. Docker Objects - Container.</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Enter inside container</a:t>
            </a:r>
            <a:r>
              <a:rPr lang="en-US" sz="2000" dirty="0">
                <a:solidFill>
                  <a:srgbClr val="000000"/>
                </a:solidFill>
              </a:rPr>
              <a:t>.</a:t>
            </a:r>
          </a:p>
          <a:p>
            <a:r>
              <a:rPr lang="en-US" sz="20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exec –it &lt;container_name or container_id&gt; bash</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Stop, start or restart container</a:t>
            </a:r>
            <a:r>
              <a:rPr lang="en-US" sz="2000" i="1"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stop &lt;container_name or container_id&gt; </a:t>
            </a:r>
          </a:p>
          <a:p>
            <a:r>
              <a:rPr lang="en-US" sz="1600" i="1" dirty="0">
                <a:solidFill>
                  <a:srgbClr val="000000"/>
                </a:solidFill>
                <a:latin typeface="Courier New" panose="02070309020205020404" pitchFamily="49" charset="0"/>
                <a:cs typeface="Courier New" panose="02070309020205020404" pitchFamily="49" charset="0"/>
              </a:rPr>
              <a:t>   ~ sudo docker start &lt;container_name or container_id&gt; </a:t>
            </a:r>
          </a:p>
          <a:p>
            <a:r>
              <a:rPr lang="en-US" sz="1600" i="1" dirty="0">
                <a:solidFill>
                  <a:srgbClr val="000000"/>
                </a:solidFill>
                <a:latin typeface="Courier New" panose="02070309020205020404" pitchFamily="49" charset="0"/>
                <a:cs typeface="Courier New" panose="02070309020205020404" pitchFamily="49" charset="0"/>
              </a:rPr>
              <a:t>   ~ sudo docker restart &lt;container_name or container_id&gt; </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See stopped or exited container</a:t>
            </a:r>
            <a:r>
              <a:rPr lang="en-US" sz="2000" i="1" dirty="0">
                <a:solidFill>
                  <a:srgbClr val="000000"/>
                </a:solidFill>
              </a:rPr>
              <a:t>.</a:t>
            </a:r>
          </a:p>
          <a:p>
            <a:r>
              <a:rPr lang="en-US" sz="2000" i="1"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ps -a</a:t>
            </a:r>
            <a:endParaRPr lang="en-US" sz="1600" i="1" dirty="0">
              <a:solidFill>
                <a:srgbClr val="00B05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Kill container</a:t>
            </a:r>
            <a:r>
              <a:rPr lang="en-US" sz="2000" i="1"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kill &lt;container_name or container_id&gt; </a:t>
            </a:r>
          </a:p>
          <a:p>
            <a:r>
              <a:rPr lang="en-US" sz="1600" i="1" dirty="0">
                <a:solidFill>
                  <a:srgbClr val="000000"/>
                </a:solidFill>
                <a:latin typeface="Courier New" panose="02070309020205020404" pitchFamily="49" charset="0"/>
                <a:cs typeface="Courier New" panose="02070309020205020404" pitchFamily="49" charset="0"/>
              </a:rPr>
              <a:t>   </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a:t>
            </a:r>
            <a:r>
              <a:rPr lang="en-US" sz="2000" b="1" u="sng" dirty="0">
                <a:solidFill>
                  <a:srgbClr val="000000"/>
                </a:solidFill>
                <a:effectLst>
                  <a:outerShdw blurRad="38100" dist="38100" dir="2700000" algn="tl">
                    <a:srgbClr val="000000">
                      <a:alpha val="43137"/>
                    </a:srgbClr>
                  </a:outerShdw>
                </a:effectLst>
              </a:rPr>
              <a:t>Difference between docker stop and docker kill</a:t>
            </a:r>
          </a:p>
          <a:p>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Docker stop always wait for running process to get stop before stopping container but docker kill is more  </a:t>
            </a:r>
          </a:p>
          <a:p>
            <a:r>
              <a:rPr lang="en-US" sz="2000" dirty="0">
                <a:solidFill>
                  <a:srgbClr val="000000"/>
                </a:solidFill>
              </a:rPr>
              <a:t>    aggressive it will forcefully stop container it will not wait for running processes to get stopped.</a:t>
            </a:r>
          </a:p>
        </p:txBody>
      </p:sp>
    </p:spTree>
    <p:extLst>
      <p:ext uri="{BB962C8B-B14F-4D97-AF65-F5344CB8AC3E}">
        <p14:creationId xmlns:p14="http://schemas.microsoft.com/office/powerpoint/2010/main" val="1246090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B. Docker Objects - Container.</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Remove docker container</a:t>
            </a:r>
            <a:r>
              <a:rPr lang="en-US" sz="2000" dirty="0">
                <a:solidFill>
                  <a:srgbClr val="000000"/>
                </a:solidFill>
              </a:rPr>
              <a:t>.</a:t>
            </a:r>
          </a:p>
          <a:p>
            <a:r>
              <a:rPr lang="en-US" sz="20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rm &lt;container_name or container_id&gt; </a:t>
            </a:r>
          </a:p>
          <a:p>
            <a:r>
              <a:rPr lang="en-US" sz="20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rm –f &lt;container_name or container_id&gt; </a:t>
            </a:r>
          </a:p>
          <a:p>
            <a:r>
              <a:rPr lang="en-US" sz="1600" i="1" dirty="0">
                <a:solidFill>
                  <a:srgbClr val="000000"/>
                </a:solidFill>
                <a:latin typeface="Courier New" panose="02070309020205020404" pitchFamily="49" charset="0"/>
                <a:cs typeface="Courier New" panose="02070309020205020404" pitchFamily="49" charset="0"/>
              </a:rPr>
              <a:t>     </a:t>
            </a:r>
            <a:r>
              <a:rPr lang="en-US" sz="1600" i="1" dirty="0">
                <a:solidFill>
                  <a:srgbClr val="00B050"/>
                </a:solidFill>
                <a:latin typeface="Courier New" panose="02070309020205020404" pitchFamily="49" charset="0"/>
                <a:cs typeface="Courier New" panose="02070309020205020404" pitchFamily="49" charset="0"/>
              </a:rPr>
              <a:t>-f = forcefully remove container without stopping it.</a:t>
            </a:r>
          </a:p>
          <a:p>
            <a:r>
              <a:rPr lang="en-US" sz="1600" i="1" dirty="0">
                <a:solidFill>
                  <a:srgbClr val="00B050"/>
                </a:solidFill>
                <a:latin typeface="Courier New" panose="02070309020205020404" pitchFamily="49" charset="0"/>
                <a:cs typeface="Courier New" panose="02070309020205020404" pitchFamily="49" charset="0"/>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rm $(docker ps –aq)</a:t>
            </a:r>
          </a:p>
          <a:p>
            <a:r>
              <a:rPr lang="en-US" sz="1600" dirty="0">
                <a:solidFill>
                  <a:srgbClr val="000000"/>
                </a:solidFill>
                <a:latin typeface="Courier New" panose="02070309020205020404" pitchFamily="49" charset="0"/>
                <a:cs typeface="Courier New" panose="02070309020205020404" pitchFamily="49" charset="0"/>
              </a:rPr>
              <a:t>   ~ </a:t>
            </a:r>
            <a:r>
              <a:rPr lang="en-US" sz="1600" i="1" dirty="0">
                <a:solidFill>
                  <a:srgbClr val="000000"/>
                </a:solidFill>
                <a:latin typeface="Courier New" panose="02070309020205020404" pitchFamily="49" charset="0"/>
                <a:cs typeface="Courier New" panose="02070309020205020404" pitchFamily="49" charset="0"/>
              </a:rPr>
              <a:t>sudo docker rm $(docker ps –-filter status=exited -q)</a:t>
            </a:r>
            <a:endParaRPr lang="en-US" sz="1600" i="1" dirty="0">
              <a:solidFill>
                <a:srgbClr val="00B05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Save container which you created and worked as image</a:t>
            </a:r>
            <a:r>
              <a:rPr lang="en-US" sz="2000" i="1"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commit &lt;container_name or container_id&gt; &lt;custom-image-name&gt;</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Rename existing Docker container.</a:t>
            </a:r>
            <a:endParaRPr lang="en-US" sz="2000" i="1" dirty="0">
              <a:solidFill>
                <a:srgbClr val="000000"/>
              </a:solidFill>
            </a:endParaRP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rename &lt;existing_container_name&gt; &lt;container_new_name&gt;</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a:t>
            </a:r>
          </a:p>
          <a:p>
            <a:r>
              <a:rPr lang="en-US" sz="1600" i="1" dirty="0">
                <a:solidFill>
                  <a:srgbClr val="000000"/>
                </a:solidFill>
                <a:latin typeface="Courier New" panose="02070309020205020404" pitchFamily="49" charset="0"/>
                <a:cs typeface="Courier New" panose="02070309020205020404" pitchFamily="49" charset="0"/>
              </a:rPr>
              <a:t>   </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a:t>
            </a:r>
            <a:endParaRPr lang="en-US" sz="2000" dirty="0">
              <a:solidFill>
                <a:srgbClr val="000000"/>
              </a:solidFill>
            </a:endParaRPr>
          </a:p>
        </p:txBody>
      </p:sp>
    </p:spTree>
    <p:extLst>
      <p:ext uri="{BB962C8B-B14F-4D97-AF65-F5344CB8AC3E}">
        <p14:creationId xmlns:p14="http://schemas.microsoft.com/office/powerpoint/2010/main" val="1505092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C. Docker Objects - Volumes.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b="1" dirty="0">
                <a:solidFill>
                  <a:srgbClr val="000000"/>
                </a:solidFill>
                <a:effectLst>
                  <a:outerShdw blurRad="38100" dist="38100" dir="2700000" algn="tl">
                    <a:srgbClr val="000000">
                      <a:alpha val="43137"/>
                    </a:srgbClr>
                  </a:outerShdw>
                </a:effectLst>
              </a:rPr>
              <a:t>Docker Volumes </a:t>
            </a:r>
            <a:r>
              <a:rPr lang="en-IN" sz="2400" dirty="0">
                <a:solidFill>
                  <a:srgbClr val="000000"/>
                </a:solidFill>
                <a:latin typeface="Aparajita" panose="02020603050405020304" pitchFamily="18" charset="0"/>
                <a:cs typeface="Aparajita" panose="02020603050405020304" pitchFamily="18" charset="0"/>
              </a:rPr>
              <a:t>are basically persistent storage locations for the containers. They can be easily &amp; safely attached and removed from different container. And they are also portable from system to another.</a:t>
            </a:r>
          </a:p>
          <a:p>
            <a:endParaRPr lang="en-IN" sz="2400" dirty="0">
              <a:solidFill>
                <a:srgbClr val="000000"/>
              </a:solidFill>
              <a:latin typeface="Aparajita" panose="02020603050405020304" pitchFamily="18" charset="0"/>
              <a:cs typeface="Aparajita" panose="02020603050405020304" pitchFamily="18" charset="0"/>
            </a:endParaRPr>
          </a:p>
          <a:p>
            <a:r>
              <a:rPr lang="en-US" sz="2000" b="1" dirty="0">
                <a:solidFill>
                  <a:srgbClr val="000000"/>
                </a:solidFill>
                <a:effectLst>
                  <a:outerShdw blurRad="38100" dist="38100" dir="2700000" algn="tl">
                    <a:srgbClr val="000000">
                      <a:alpha val="43137"/>
                    </a:srgbClr>
                  </a:outerShdw>
                </a:effectLst>
              </a:rPr>
              <a:t>Volumes drivers </a:t>
            </a:r>
            <a:r>
              <a:rPr lang="en-IN" sz="2400" dirty="0">
                <a:solidFill>
                  <a:srgbClr val="000000"/>
                </a:solidFill>
                <a:latin typeface="Aparajita" panose="02020603050405020304" pitchFamily="18" charset="0"/>
                <a:cs typeface="Aparajita" panose="02020603050405020304" pitchFamily="18" charset="0"/>
              </a:rPr>
              <a:t>allows you to perform unique abilities such as creating persistent storage on other hosts, cloud, encrypt volumes. They basically enhance the abilities of a Volume.</a:t>
            </a:r>
          </a:p>
          <a:p>
            <a:endParaRPr lang="en-IN" sz="2400" dirty="0">
              <a:solidFill>
                <a:srgbClr val="000000"/>
              </a:solidFill>
              <a:latin typeface="Aparajita" panose="02020603050405020304" pitchFamily="18" charset="0"/>
              <a:cs typeface="Aparajita" panose="02020603050405020304" pitchFamily="18"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823337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 Docker Objects -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b="1" dirty="0">
                <a:solidFill>
                  <a:srgbClr val="000000"/>
                </a:solidFill>
                <a:effectLst>
                  <a:outerShdw blurRad="38100" dist="38100" dir="2700000" algn="tl">
                    <a:srgbClr val="000000">
                      <a:alpha val="43137"/>
                    </a:srgbClr>
                  </a:outerShdw>
                </a:effectLst>
              </a:rPr>
              <a:t>Docker Networks </a:t>
            </a:r>
            <a:r>
              <a:rPr lang="en-IN" sz="2400" dirty="0">
                <a:solidFill>
                  <a:srgbClr val="000000"/>
                </a:solidFill>
                <a:latin typeface="Aparajita" panose="02020603050405020304" pitchFamily="18" charset="0"/>
                <a:cs typeface="Aparajita" panose="02020603050405020304" pitchFamily="18" charset="0"/>
              </a:rPr>
              <a:t>is basically a connection between one or more containers running on same host or on different hosts. One of the more powerful thing about the docker container is that you can connect them together or connect them to non-docker workloads.</a:t>
            </a:r>
          </a:p>
          <a:p>
            <a:endParaRPr lang="en-IN" sz="2400" dirty="0">
              <a:solidFill>
                <a:srgbClr val="000000"/>
              </a:solidFill>
              <a:latin typeface="Aparajita" panose="02020603050405020304" pitchFamily="18" charset="0"/>
              <a:cs typeface="Aparajita" panose="02020603050405020304" pitchFamily="18" charset="0"/>
            </a:endParaRPr>
          </a:p>
          <a:p>
            <a:r>
              <a:rPr lang="en-US" sz="2000" b="1" u="sng" dirty="0">
                <a:solidFill>
                  <a:srgbClr val="000000"/>
                </a:solidFill>
                <a:effectLst>
                  <a:outerShdw blurRad="38100" dist="38100" dir="2700000" algn="tl">
                    <a:srgbClr val="000000">
                      <a:alpha val="43137"/>
                    </a:srgbClr>
                  </a:outerShdw>
                </a:effectLst>
              </a:rPr>
              <a:t>Docker Network Drivers:</a:t>
            </a:r>
          </a:p>
          <a:p>
            <a:endParaRPr lang="en-US" sz="2000" b="1" i="1"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457200" indent="-4572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Bridge</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Host</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Overlay</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Ipvlan</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Macvlan</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None</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Network plugins</a:t>
            </a:r>
          </a:p>
          <a:p>
            <a:pPr marL="342900" indent="-342900">
              <a:buAutoNum type="arabicPeriod"/>
            </a:pPr>
            <a:endParaRPr lang="en-US" sz="1600"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2360291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3. Docker Registry.</a:t>
            </a:r>
            <a:endParaRPr lang="en-IN" sz="2400" dirty="0">
              <a:solidFill>
                <a:prstClr val="black"/>
              </a:solidFill>
              <a:latin typeface="Arial"/>
              <a:cs typeface="Arial"/>
            </a:endParaRPr>
          </a:p>
        </p:txBody>
      </p:sp>
      <p:sp>
        <p:nvSpPr>
          <p:cNvPr id="6" name="object 2">
            <a:extLst>
              <a:ext uri="{FF2B5EF4-FFF2-40B4-BE49-F238E27FC236}">
                <a16:creationId xmlns:a16="http://schemas.microsoft.com/office/drawing/2014/main" id="{A3F88731-9BBE-4D75-A0D0-CBEFE010B80D}"/>
              </a:ext>
            </a:extLst>
          </p:cNvPr>
          <p:cNvSpPr txBox="1"/>
          <p:nvPr/>
        </p:nvSpPr>
        <p:spPr>
          <a:xfrm>
            <a:off x="455324" y="1070405"/>
            <a:ext cx="11220861" cy="5119956"/>
          </a:xfrm>
          <a:prstGeom prst="rect">
            <a:avLst/>
          </a:prstGeom>
        </p:spPr>
        <p:txBody>
          <a:bodyPr wrap="square" lIns="0" tIns="16224" rIns="0" bIns="0" rtlCol="0">
            <a:noAutofit/>
          </a:bodyPr>
          <a:lstStyle/>
          <a:p>
            <a:r>
              <a:rPr lang="en-US" sz="2000" b="1" dirty="0">
                <a:solidFill>
                  <a:srgbClr val="000000"/>
                </a:solidFill>
                <a:effectLst>
                  <a:outerShdw blurRad="38100" dist="38100" dir="2700000" algn="tl">
                    <a:srgbClr val="000000">
                      <a:alpha val="43137"/>
                    </a:srgbClr>
                  </a:outerShdw>
                </a:effectLst>
              </a:rPr>
              <a:t>Docker Registry </a:t>
            </a:r>
            <a:r>
              <a:rPr lang="en-US" sz="2000" dirty="0">
                <a:solidFill>
                  <a:srgbClr val="000000"/>
                </a:solidFill>
              </a:rPr>
              <a:t>you can think of registries as storage locations for Docker Images. These images can be versioned in the registry as well.</a:t>
            </a:r>
          </a:p>
          <a:p>
            <a:endParaRPr lang="en-US" sz="2000" dirty="0">
              <a:solidFill>
                <a:srgbClr val="000000"/>
              </a:solidFill>
            </a:endParaRPr>
          </a:p>
          <a:p>
            <a:r>
              <a:rPr lang="en-US" sz="2000" dirty="0">
                <a:solidFill>
                  <a:srgbClr val="000000"/>
                </a:solidFill>
              </a:rPr>
              <a:t>You can pull images from docker registry or push your images into registry. There are many container registries available like Docker Hub, AWS Container Registry, Azure Container Registry or you can deploy your own private registry on your servers also.</a:t>
            </a:r>
          </a:p>
          <a:p>
            <a:endParaRPr lang="en-US" sz="2800" u="sng" dirty="0">
              <a:solidFill>
                <a:srgbClr val="000000"/>
              </a:solidFill>
            </a:endParaRPr>
          </a:p>
          <a:p>
            <a:pPr marL="342900" indent="-342900">
              <a:buFont typeface="Arial" panose="020B0604020202020204" pitchFamily="34" charset="0"/>
              <a:buChar char="•"/>
            </a:pPr>
            <a:r>
              <a:rPr lang="en-US" sz="2000" u="sng" dirty="0">
                <a:solidFill>
                  <a:srgbClr val="000000"/>
                </a:solidFill>
              </a:rPr>
              <a:t>Pull docker image</a:t>
            </a:r>
            <a:r>
              <a:rPr lang="en-US" sz="2000" dirty="0">
                <a:solidFill>
                  <a:srgbClr val="000000"/>
                </a:solidFill>
              </a:rPr>
              <a:t>.</a:t>
            </a:r>
          </a:p>
          <a:p>
            <a:r>
              <a:rPr lang="en-US" sz="28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pull &lt;image_name&gt;</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Push docker image</a:t>
            </a:r>
            <a:r>
              <a:rPr lang="en-US" sz="2000" dirty="0">
                <a:solidFill>
                  <a:srgbClr val="000000"/>
                </a:solidFill>
              </a:rPr>
              <a:t>.</a:t>
            </a:r>
          </a:p>
          <a:p>
            <a:r>
              <a:rPr lang="en-US" sz="28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tag old_image_name new_image_name</a:t>
            </a:r>
          </a:p>
          <a:p>
            <a:r>
              <a:rPr lang="en-US" sz="1600" i="1" dirty="0">
                <a:solidFill>
                  <a:srgbClr val="000000"/>
                </a:solidFill>
                <a:latin typeface="Courier New" panose="02070309020205020404" pitchFamily="49" charset="0"/>
                <a:cs typeface="Courier New" panose="02070309020205020404" pitchFamily="49" charset="0"/>
              </a:rPr>
              <a:t>   ~ docker login</a:t>
            </a:r>
          </a:p>
          <a:p>
            <a:r>
              <a:rPr lang="en-US" sz="1600" i="1" dirty="0">
                <a:solidFill>
                  <a:srgbClr val="000000"/>
                </a:solidFill>
                <a:latin typeface="Courier New" panose="02070309020205020404" pitchFamily="49" charset="0"/>
                <a:cs typeface="Courier New" panose="02070309020205020404" pitchFamily="49" charset="0"/>
              </a:rPr>
              <a:t>   ~ docker push image_name</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spTree>
    <p:extLst>
      <p:ext uri="{BB962C8B-B14F-4D97-AF65-F5344CB8AC3E}">
        <p14:creationId xmlns:p14="http://schemas.microsoft.com/office/powerpoint/2010/main" val="926981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4. Docker Compose.</a:t>
            </a:r>
            <a:endParaRPr lang="en-IN" sz="2400" dirty="0">
              <a:solidFill>
                <a:prstClr val="black"/>
              </a:solidFill>
              <a:latin typeface="Arial"/>
              <a:cs typeface="Arial"/>
            </a:endParaRPr>
          </a:p>
        </p:txBody>
      </p:sp>
      <p:sp>
        <p:nvSpPr>
          <p:cNvPr id="6" name="object 2">
            <a:extLst>
              <a:ext uri="{FF2B5EF4-FFF2-40B4-BE49-F238E27FC236}">
                <a16:creationId xmlns:a16="http://schemas.microsoft.com/office/drawing/2014/main" id="{A3F88731-9BBE-4D75-A0D0-CBEFE010B80D}"/>
              </a:ext>
            </a:extLst>
          </p:cNvPr>
          <p:cNvSpPr txBox="1"/>
          <p:nvPr/>
        </p:nvSpPr>
        <p:spPr>
          <a:xfrm>
            <a:off x="455324" y="1070405"/>
            <a:ext cx="11220861" cy="1247247"/>
          </a:xfrm>
          <a:prstGeom prst="rect">
            <a:avLst/>
          </a:prstGeom>
        </p:spPr>
        <p:txBody>
          <a:bodyPr wrap="square" lIns="0" tIns="16224" rIns="0" bIns="0" rtlCol="0">
            <a:noAutofit/>
          </a:bodyPr>
          <a:lstStyle/>
          <a:p>
            <a:r>
              <a:rPr lang="en-US" sz="2000" dirty="0">
                <a:solidFill>
                  <a:srgbClr val="000000"/>
                </a:solidFill>
              </a:rPr>
              <a:t>For now, let’s just understand that Docker Compose is just a service withing Docker that let’s us launch multiple containers at the same time.</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pic>
        <p:nvPicPr>
          <p:cNvPr id="2" name="Picture 1">
            <a:extLst>
              <a:ext uri="{FF2B5EF4-FFF2-40B4-BE49-F238E27FC236}">
                <a16:creationId xmlns:a16="http://schemas.microsoft.com/office/drawing/2014/main" id="{21C1FDB9-AB91-4C40-B466-AC12A1BBABCB}"/>
              </a:ext>
            </a:extLst>
          </p:cNvPr>
          <p:cNvPicPr>
            <a:picLocks noChangeAspect="1"/>
          </p:cNvPicPr>
          <p:nvPr/>
        </p:nvPicPr>
        <p:blipFill>
          <a:blip r:embed="rId4"/>
          <a:stretch>
            <a:fillRect/>
          </a:stretch>
        </p:blipFill>
        <p:spPr>
          <a:xfrm>
            <a:off x="967280" y="2317652"/>
            <a:ext cx="9943727" cy="3558363"/>
          </a:xfrm>
          <a:prstGeom prst="rect">
            <a:avLst/>
          </a:prstGeom>
        </p:spPr>
      </p:pic>
    </p:spTree>
    <p:extLst>
      <p:ext uri="{BB962C8B-B14F-4D97-AF65-F5344CB8AC3E}">
        <p14:creationId xmlns:p14="http://schemas.microsoft.com/office/powerpoint/2010/main" val="20188933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5. Docker Swarm.</a:t>
            </a:r>
            <a:endParaRPr lang="en-IN" sz="2400" dirty="0">
              <a:solidFill>
                <a:prstClr val="black"/>
              </a:solidFill>
              <a:latin typeface="Arial"/>
              <a:cs typeface="Arial"/>
            </a:endParaRPr>
          </a:p>
        </p:txBody>
      </p:sp>
      <p:sp>
        <p:nvSpPr>
          <p:cNvPr id="6" name="object 2">
            <a:extLst>
              <a:ext uri="{FF2B5EF4-FFF2-40B4-BE49-F238E27FC236}">
                <a16:creationId xmlns:a16="http://schemas.microsoft.com/office/drawing/2014/main" id="{A3F88731-9BBE-4D75-A0D0-CBEFE010B80D}"/>
              </a:ext>
            </a:extLst>
          </p:cNvPr>
          <p:cNvSpPr txBox="1"/>
          <p:nvPr/>
        </p:nvSpPr>
        <p:spPr>
          <a:xfrm>
            <a:off x="455324" y="1070405"/>
            <a:ext cx="11220861" cy="1247247"/>
          </a:xfrm>
          <a:prstGeom prst="rect">
            <a:avLst/>
          </a:prstGeom>
        </p:spPr>
        <p:txBody>
          <a:bodyPr wrap="square" lIns="0" tIns="16224" rIns="0" bIns="0" rtlCol="0">
            <a:noAutofit/>
          </a:bodyPr>
          <a:lstStyle/>
          <a:p>
            <a:r>
              <a:rPr lang="en-US" sz="2000" dirty="0">
                <a:solidFill>
                  <a:srgbClr val="000000"/>
                </a:solidFill>
              </a:rPr>
              <a:t>For now, just understand that Docker Swarm is a service withing Docker that allows us to manage multiple containers. It is Docker Orchestration tool.</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pic>
        <p:nvPicPr>
          <p:cNvPr id="3" name="Picture 2">
            <a:extLst>
              <a:ext uri="{FF2B5EF4-FFF2-40B4-BE49-F238E27FC236}">
                <a16:creationId xmlns:a16="http://schemas.microsoft.com/office/drawing/2014/main" id="{9F11AF9C-588A-4E3C-85EF-B286547F4103}"/>
              </a:ext>
            </a:extLst>
          </p:cNvPr>
          <p:cNvPicPr>
            <a:picLocks noChangeAspect="1"/>
          </p:cNvPicPr>
          <p:nvPr/>
        </p:nvPicPr>
        <p:blipFill>
          <a:blip r:embed="rId4"/>
          <a:stretch>
            <a:fillRect/>
          </a:stretch>
        </p:blipFill>
        <p:spPr>
          <a:xfrm>
            <a:off x="1411977" y="2317652"/>
            <a:ext cx="9307553" cy="3485931"/>
          </a:xfrm>
          <a:prstGeom prst="rect">
            <a:avLst/>
          </a:prstGeom>
        </p:spPr>
      </p:pic>
    </p:spTree>
    <p:extLst>
      <p:ext uri="{BB962C8B-B14F-4D97-AF65-F5344CB8AC3E}">
        <p14:creationId xmlns:p14="http://schemas.microsoft.com/office/powerpoint/2010/main" val="4045986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5">
            <a:extLst>
              <a:ext uri="{FF2B5EF4-FFF2-40B4-BE49-F238E27FC236}">
                <a16:creationId xmlns:a16="http://schemas.microsoft.com/office/drawing/2014/main" id="{B54295EC-3B78-4A8A-B115-BD30905FC011}"/>
              </a:ext>
            </a:extLst>
          </p:cNvPr>
          <p:cNvSpPr/>
          <p:nvPr/>
        </p:nvSpPr>
        <p:spPr>
          <a:xfrm>
            <a:off x="821496" y="3669716"/>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3" name="object 15">
            <a:extLst>
              <a:ext uri="{FF2B5EF4-FFF2-40B4-BE49-F238E27FC236}">
                <a16:creationId xmlns:a16="http://schemas.microsoft.com/office/drawing/2014/main" id="{F910F1DE-8BA5-4C09-8947-96234306291C}"/>
              </a:ext>
            </a:extLst>
          </p:cNvPr>
          <p:cNvSpPr txBox="1"/>
          <p:nvPr/>
        </p:nvSpPr>
        <p:spPr>
          <a:xfrm>
            <a:off x="448847" y="156122"/>
            <a:ext cx="6092629" cy="478490"/>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endParaRPr lang="en-IN" sz="2400" dirty="0">
              <a:solidFill>
                <a:prstClr val="black"/>
              </a:solidFill>
              <a:latin typeface="Arial" panose="020B0604020202020204" pitchFamily="34" charset="0"/>
            </a:endParaRPr>
          </a:p>
        </p:txBody>
      </p:sp>
      <p:sp>
        <p:nvSpPr>
          <p:cNvPr id="4" name="TextBox 3">
            <a:extLst>
              <a:ext uri="{FF2B5EF4-FFF2-40B4-BE49-F238E27FC236}">
                <a16:creationId xmlns:a16="http://schemas.microsoft.com/office/drawing/2014/main" id="{33DEAA68-3306-4522-B3A7-C4099824E57A}"/>
              </a:ext>
            </a:extLst>
          </p:cNvPr>
          <p:cNvSpPr txBox="1"/>
          <p:nvPr/>
        </p:nvSpPr>
        <p:spPr>
          <a:xfrm>
            <a:off x="666752" y="3198167"/>
            <a:ext cx="1914755" cy="461665"/>
          </a:xfrm>
          <a:prstGeom prst="rect">
            <a:avLst/>
          </a:prstGeom>
          <a:noFill/>
        </p:spPr>
        <p:txBody>
          <a:bodyPr wrap="none" rtlCol="0">
            <a:spAutoFit/>
          </a:bodyPr>
          <a:lstStyle/>
          <a:p>
            <a:r>
              <a:rPr lang="en-IN" sz="2400" b="1" dirty="0">
                <a:solidFill>
                  <a:schemeClr val="accent6">
                    <a:lumMod val="75000"/>
                  </a:schemeClr>
                </a:solidFill>
                <a:latin typeface="Arial" panose="020B0604020202020204" pitchFamily="34" charset="0"/>
              </a:rPr>
              <a:t>Thank You !</a:t>
            </a:r>
          </a:p>
        </p:txBody>
      </p:sp>
    </p:spTree>
    <p:extLst>
      <p:ext uri="{BB962C8B-B14F-4D97-AF65-F5344CB8AC3E}">
        <p14:creationId xmlns:p14="http://schemas.microsoft.com/office/powerpoint/2010/main" val="32606817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913DB040-6816-4415-960D-8178C78575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F60485A86D6E945B0DE8EE8506DAC62" ma:contentTypeVersion="12" ma:contentTypeDescription="Create a new document." ma:contentTypeScope="" ma:versionID="a3ba1d3c448962d8a7304c03e6365536">
  <xsd:schema xmlns:xsd="http://www.w3.org/2001/XMLSchema" xmlns:xs="http://www.w3.org/2001/XMLSchema" xmlns:p="http://schemas.microsoft.com/office/2006/metadata/properties" xmlns:ns3="8f762557-e92d-48c5-a1e9-2e1ae49911c9" xmlns:ns4="9618bf2c-f524-416d-9ddc-e9ab10641669" targetNamespace="http://schemas.microsoft.com/office/2006/metadata/properties" ma:root="true" ma:fieldsID="73f26707b70974e9febd0829e12fbdfc" ns3:_="" ns4:_="">
    <xsd:import namespace="8f762557-e92d-48c5-a1e9-2e1ae49911c9"/>
    <xsd:import namespace="9618bf2c-f524-416d-9ddc-e9ab10641669"/>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762557-e92d-48c5-a1e9-2e1ae4991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618bf2c-f524-416d-9ddc-e9ab1064166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F91192-B026-43EB-8BFD-6B3E1D8ED4CE}">
  <ds:schemaRefs>
    <ds:schemaRef ds:uri="http://purl.org/dc/terms/"/>
    <ds:schemaRef ds:uri="8f762557-e92d-48c5-a1e9-2e1ae49911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9618bf2c-f524-416d-9ddc-e9ab10641669"/>
    <ds:schemaRef ds:uri="http://www.w3.org/XML/1998/namespace"/>
    <ds:schemaRef ds:uri="http://purl.org/dc/dcmitype/"/>
  </ds:schemaRefs>
</ds:datastoreItem>
</file>

<file path=customXml/itemProps2.xml><?xml version="1.0" encoding="utf-8"?>
<ds:datastoreItem xmlns:ds="http://schemas.openxmlformats.org/officeDocument/2006/customXml" ds:itemID="{C7EB8BB0-83E9-438D-BDDD-5648298095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762557-e92d-48c5-a1e9-2e1ae49911c9"/>
    <ds:schemaRef ds:uri="9618bf2c-f524-416d-9ddc-e9ab10641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75BD6EB-5C72-4651-A510-8915F70221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3669</TotalTime>
  <Words>1823</Words>
  <Application>Microsoft Office PowerPoint</Application>
  <PresentationFormat>Widescreen</PresentationFormat>
  <Paragraphs>299</Paragraphs>
  <Slides>29</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Aparajita</vt:lpstr>
      <vt:lpstr>Arial</vt:lpstr>
      <vt:lpstr>Calibri</vt:lpstr>
      <vt:lpstr>Century Gothic</vt:lpstr>
      <vt:lpstr>Courier New</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Angad Wagh</dc:creator>
  <cp:lastModifiedBy>Angad Wagh</cp:lastModifiedBy>
  <cp:revision>241</cp:revision>
  <dcterms:created xsi:type="dcterms:W3CDTF">2022-07-11T16:43:42Z</dcterms:created>
  <dcterms:modified xsi:type="dcterms:W3CDTF">2023-06-29T15:12:38Z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MSIP_Label_a8c544ca-bb84-4280-906e-934547e1d30c_Enabled">
    <vt:lpwstr>True</vt:lpwstr>
  </property>
  <property fmtid="{D5CDD505-2E9C-101B-9397-08002B2CF9AE}" pid="3" name="MSIP_Label_a8c544ca-bb84-4280-906e-934547e1d30c_SiteId">
    <vt:lpwstr>258ac4e4-146a-411e-9dc8-79a9e12fd6da</vt:lpwstr>
  </property>
  <property fmtid="{D5CDD505-2E9C-101B-9397-08002B2CF9AE}" pid="4" name="MSIP_Label_a8c544ca-bb84-4280-906e-934547e1d30c_SetDate">
    <vt:lpwstr>2025-07-23T11:32:32Z</vt:lpwstr>
  </property>
  <property fmtid="{D5CDD505-2E9C-101B-9397-08002B2CF9AE}" pid="5" name="MSIP_Label_a8c544ca-bb84-4280-906e-934547e1d30c_Name">
    <vt:lpwstr>Internal - General Use</vt:lpwstr>
  </property>
  <property fmtid="{D5CDD505-2E9C-101B-9397-08002B2CF9AE}" pid="6" name="MSIP_Label_a8c544ca-bb84-4280-906e-934547e1d30c_ActionId">
    <vt:lpwstr>e8fe4ab1-0b3a-4b3c-80fe-d760c1d46daf</vt:lpwstr>
  </property>
  <property fmtid="{D5CDD505-2E9C-101B-9397-08002B2CF9AE}" pid="7" name="MSIP_Label_a8c544ca-bb84-4280-906e-934547e1d30c_Removed">
    <vt:lpwstr>False</vt:lpwstr>
  </property>
  <property fmtid="{D5CDD505-2E9C-101B-9397-08002B2CF9AE}" pid="8" name="MSIP_Label_a8c544ca-bb84-4280-906e-934547e1d30c_Extended_MSFT_Method">
    <vt:lpwstr>Standard</vt:lpwstr>
  </property>
  <property fmtid="{D5CDD505-2E9C-101B-9397-08002B2CF9AE}" pid="9" name="Sensitivity">
    <vt:lpwstr>Internal - General Use</vt:lpwstr>
  </property>
</Properties>
</file>
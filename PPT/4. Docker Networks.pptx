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8314" r:id="rId4"/>
  </p:sldMasterIdLst>
  <p:notesMasterIdLst>
    <p:notesMasterId r:id="rId20"/>
  </p:notesMasterIdLst>
  <p:sldIdLst>
    <p:sldId id="336" r:id="rId5"/>
    <p:sldId id="401" r:id="rId6"/>
    <p:sldId id="400" r:id="rId7"/>
    <p:sldId id="402" r:id="rId8"/>
    <p:sldId id="403" r:id="rId9"/>
    <p:sldId id="404" r:id="rId10"/>
    <p:sldId id="405" r:id="rId11"/>
    <p:sldId id="406" r:id="rId12"/>
    <p:sldId id="407" r:id="rId13"/>
    <p:sldId id="408" r:id="rId14"/>
    <p:sldId id="409" r:id="rId15"/>
    <p:sldId id="410" r:id="rId16"/>
    <p:sldId id="411" r:id="rId17"/>
    <p:sldId id="412" r:id="rId18"/>
    <p:sldId id="359" r:id="rId19"/>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jesh Patil" initials="RP" lastIdx="1" clrIdx="0">
    <p:extLst>
      <p:ext uri="{19B8F6BF-5375-455C-9EA6-DF929625EA0E}">
        <p15:presenceInfo xmlns:p15="http://schemas.microsoft.com/office/powerpoint/2012/main" userId="S::rajeshpatil@orientindia.net::2484323d-d543-469f-8967-efa59c9c78b1" providerId="AD"/>
      </p:ext>
    </p:extLst>
  </p:cmAuthor>
  <p:cmAuthor id="2" name="Angad Wagh" initials="AW" lastIdx="1" clrIdx="1">
    <p:extLst>
      <p:ext uri="{19B8F6BF-5375-455C-9EA6-DF929625EA0E}">
        <p15:presenceInfo xmlns:p15="http://schemas.microsoft.com/office/powerpoint/2012/main" userId="S::angadwagh@orientindia.net::60813458-2ee0-4c15-9be4-84755786556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529" autoAdjust="0"/>
    <p:restoredTop sz="93878" autoAdjust="0"/>
  </p:normalViewPr>
  <p:slideViewPr>
    <p:cSldViewPr snapToGrid="0">
      <p:cViewPr varScale="1">
        <p:scale>
          <a:sx n="68" d="100"/>
          <a:sy n="68" d="100"/>
        </p:scale>
        <p:origin x="876" y="5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0" hangingPunct="0">
              <a:defRPr sz="1200">
                <a:cs typeface="+mn-cs"/>
              </a:defRPr>
            </a:lvl1pPr>
          </a:lstStyle>
          <a:p>
            <a:pPr>
              <a:defRPr/>
            </a:pPr>
            <a:endParaRPr lang="en-IN"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0" hangingPunct="0">
              <a:defRPr sz="1200">
                <a:cs typeface="+mn-cs"/>
              </a:defRPr>
            </a:lvl1pPr>
          </a:lstStyle>
          <a:p>
            <a:pPr>
              <a:defRPr/>
            </a:pPr>
            <a:fld id="{39BCF0EB-41F1-4287-9EDD-11AF6255FC0E}" type="datetimeFigureOut">
              <a:rPr lang="en-IN"/>
              <a:pPr>
                <a:defRPr/>
              </a:pPr>
              <a:t>31-03-2023</a:t>
            </a:fld>
            <a:endParaRPr lang="en-IN"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IN"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0" hangingPunct="0">
              <a:defRPr sz="1200">
                <a:cs typeface="+mn-cs"/>
              </a:defRPr>
            </a:lvl1pPr>
          </a:lstStyle>
          <a:p>
            <a:pPr>
              <a:defRPr/>
            </a:pPr>
            <a:endParaRPr lang="en-IN"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0EFE970E-66EF-47DD-A751-C65AD8B91F92}" type="slidenum">
              <a:rPr lang="en-IN" altLang="en-US"/>
              <a:pPr/>
              <a:t>‹#›</a:t>
            </a:fld>
            <a:endParaRPr lang="en-IN" altLang="en-US" dirty="0"/>
          </a:p>
        </p:txBody>
      </p:sp>
    </p:spTree>
    <p:extLst>
      <p:ext uri="{BB962C8B-B14F-4D97-AF65-F5344CB8AC3E}">
        <p14:creationId xmlns:p14="http://schemas.microsoft.com/office/powerpoint/2010/main" val="11149609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EFE970E-66EF-47DD-A751-C65AD8B91F92}" type="slidenum">
              <a:rPr lang="en-IN" altLang="en-US" smtClean="0"/>
              <a:pPr/>
              <a:t>1</a:t>
            </a:fld>
            <a:endParaRPr lang="en-IN" altLang="en-US" dirty="0"/>
          </a:p>
        </p:txBody>
      </p:sp>
    </p:spTree>
    <p:extLst>
      <p:ext uri="{BB962C8B-B14F-4D97-AF65-F5344CB8AC3E}">
        <p14:creationId xmlns:p14="http://schemas.microsoft.com/office/powerpoint/2010/main" val="22773534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0715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50690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26267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78601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85476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888260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04648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714226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7319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82471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551208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037861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13052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a:off x="0" y="0"/>
            <a:ext cx="12192000" cy="6858000"/>
          </a:xfrm>
          <a:prstGeom prst="rect">
            <a:avLst/>
          </a:prstGeom>
          <a:blipFill dpi="0" rotWithShape="1">
            <a:blip r:embed="rId2">
              <a:alphaModFix amt="12000"/>
              <a:duotone>
                <a:schemeClr val="accent1">
                  <a:shade val="45000"/>
                  <a:satMod val="135000"/>
                </a:schemeClr>
                <a:prstClr val="white"/>
              </a:duotone>
            </a:blip>
            <a:srcRect/>
            <a:tile tx="-368300" ty="203200" sx="64000" sy="64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C</a:t>
            </a:r>
          </a:p>
        </p:txBody>
      </p:sp>
      <p:sp>
        <p:nvSpPr>
          <p:cNvPr id="10" name="Rectangle 9"/>
          <p:cNvSpPr/>
          <p:nvPr/>
        </p:nvSpPr>
        <p:spPr>
          <a:xfrm>
            <a:off x="1307870" y="1267730"/>
            <a:ext cx="9576262" cy="4307950"/>
          </a:xfrm>
          <a:prstGeom prst="rect">
            <a:avLst/>
          </a:prstGeom>
          <a:solidFill>
            <a:schemeClr val="tx2"/>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bg2"/>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bg1"/>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bg2"/>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rgbClr val="FFFFFF"/>
                </a:solidFill>
                <a:latin typeface="+mn-lt"/>
              </a:defRPr>
            </a:lvl1pPr>
          </a:lstStyle>
          <a:p>
            <a:fld id="{6AD6EE87-EBD5-4F12-A48A-63ACA297AC8F}" type="datetimeFigureOut">
              <a:rPr lang="en-US" smtClean="0"/>
              <a:t>3/31/2023</a:t>
            </a:fld>
            <a:endParaRPr lang="en-US" dirty="0"/>
          </a:p>
        </p:txBody>
      </p:sp>
      <p:sp>
        <p:nvSpPr>
          <p:cNvPr id="21" name="Footer Placeholder 20"/>
          <p:cNvSpPr>
            <a:spLocks noGrp="1"/>
          </p:cNvSpPr>
          <p:nvPr>
            <p:ph type="ftr" sz="quarter" idx="11"/>
          </p:nvPr>
        </p:nvSpPr>
        <p:spPr>
          <a:xfrm>
            <a:off x="1453896" y="5212080"/>
            <a:ext cx="5905500" cy="228600"/>
          </a:xfrm>
        </p:spPr>
        <p:txBody>
          <a:bodyPr/>
          <a:lstStyle>
            <a:lvl1pPr algn="l">
              <a:defRPr>
                <a:solidFill>
                  <a:schemeClr val="bg2"/>
                </a:solidFill>
              </a:defRPr>
            </a:lvl1pPr>
          </a:lstStyle>
          <a:p>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bg2"/>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1436849275"/>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smtClean="0"/>
              <a:t>3/31/2023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598699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p:cNvSpPr/>
          <p:nvPr/>
        </p:nvSpPr>
        <p:spPr>
          <a:xfrm>
            <a:off x="0" y="0"/>
            <a:ext cx="12192000" cy="6858000"/>
          </a:xfrm>
          <a:prstGeom prst="rect">
            <a:avLst/>
          </a:prstGeom>
          <a:blipFill dpi="0" rotWithShape="1">
            <a:blip r:embed="rId2">
              <a:alphaModFix amt="12000"/>
              <a:duotone>
                <a:schemeClr val="accent2">
                  <a:shade val="45000"/>
                  <a:satMod val="135000"/>
                </a:schemeClr>
                <a:prstClr val="white"/>
              </a:duotone>
            </a:blip>
            <a:srcRect/>
            <a:tile tx="-368300" ty="203200" sx="64000" sy="64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C</a:t>
            </a:r>
          </a:p>
        </p:txBody>
      </p:sp>
      <p:sp>
        <p:nvSpPr>
          <p:cNvPr id="23" name="Rectangle 22"/>
          <p:cNvSpPr/>
          <p:nvPr/>
        </p:nvSpPr>
        <p:spPr>
          <a:xfrm>
            <a:off x="1307870" y="1267730"/>
            <a:ext cx="9576262" cy="4307950"/>
          </a:xfrm>
          <a:prstGeom prst="rect">
            <a:avLst/>
          </a:prstGeom>
          <a:solidFill>
            <a:schemeClr val="tx2"/>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bg2"/>
            </a:solidFill>
            <a:prstDash val="solid"/>
            <a:miter lim="800000"/>
          </a:ln>
          <a:effectLst/>
        </p:spPr>
      </p:sp>
      <p:sp>
        <p:nvSpPr>
          <p:cNvPr id="30" name="Rectangle 29"/>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bg1"/>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tabLst>
                <a:tab pos="2633663" algn="l"/>
              </a:tabLst>
              <a:defRPr sz="1600">
                <a:solidFill>
                  <a:schemeClr val="bg2"/>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rgbClr val="FFFFFF"/>
                </a:solidFill>
                <a:latin typeface="+mn-lt"/>
                <a:ea typeface="+mn-ea"/>
                <a:cs typeface="+mn-cs"/>
              </a:defRPr>
            </a:lvl1pPr>
          </a:lstStyle>
          <a:p>
            <a:fld id="{5A61015F-7CC6-4D0A-9D87-873EA4C304CC}" type="datetimeFigureOut">
              <a:rPr lang="en-US" smtClean="0"/>
              <a:t>3/31/2023</a:t>
            </a:fld>
            <a:endParaRPr lang="en-US" dirty="0"/>
          </a:p>
        </p:txBody>
      </p:sp>
      <p:sp>
        <p:nvSpPr>
          <p:cNvPr id="5" name="Footer Placeholder 4"/>
          <p:cNvSpPr>
            <a:spLocks noGrp="1"/>
          </p:cNvSpPr>
          <p:nvPr>
            <p:ph type="ftr" sz="quarter" idx="11"/>
          </p:nvPr>
        </p:nvSpPr>
        <p:spPr>
          <a:xfrm>
            <a:off x="1453896" y="5212080"/>
            <a:ext cx="5907024" cy="228600"/>
          </a:xfrm>
        </p:spPr>
        <p:txBody>
          <a:bodyPr/>
          <a:lstStyle>
            <a:lvl1pPr algn="l">
              <a:defRPr>
                <a:solidFill>
                  <a:schemeClr val="bg2"/>
                </a:solidFill>
              </a:defRPr>
            </a:lvl1pPr>
          </a:lstStyle>
          <a:p>
            <a:endParaRPr lang="en-US" dirty="0"/>
          </a:p>
        </p:txBody>
      </p:sp>
      <p:sp>
        <p:nvSpPr>
          <p:cNvPr id="6" name="Slide Number Placeholder 5"/>
          <p:cNvSpPr>
            <a:spLocks noGrp="1"/>
          </p:cNvSpPr>
          <p:nvPr>
            <p:ph type="sldNum" sz="quarter" idx="12"/>
          </p:nvPr>
        </p:nvSpPr>
        <p:spPr>
          <a:xfrm>
            <a:off x="8604504" y="5212080"/>
            <a:ext cx="2112264" cy="228600"/>
          </a:xfrm>
        </p:spPr>
        <p:txBody>
          <a:bodyPr/>
          <a:lstStyle>
            <a:lvl1pPr>
              <a:defRPr>
                <a:solidFill>
                  <a:schemeClr val="bg2"/>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2556299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smtClean="0"/>
              <a:t>3/31/2023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095074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800" b="0">
                <a:solidFill>
                  <a:schemeClr val="tx2"/>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0298CD5-6C1E-4009-B41F-6DF62E31D3BE}" type="datetimeFigureOut">
              <a:rPr lang="en-US" smtClean="0"/>
              <a:pPr/>
              <a:t>3/31/2023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652043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smtClean="0"/>
              <a:t>3/31/2023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310992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smtClean="0"/>
              <a:t>3/31/2023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00065038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ectangle 14"/>
          <p:cNvSpPr/>
          <p:nvPr/>
        </p:nvSpPr>
        <p:spPr>
          <a:xfrm>
            <a:off x="9020386" y="237744"/>
            <a:ext cx="2926080" cy="6382512"/>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5" name="Date Placeholder 4"/>
          <p:cNvSpPr>
            <a:spLocks noGrp="1"/>
          </p:cNvSpPr>
          <p:nvPr>
            <p:ph type="dt" sz="half" idx="10"/>
          </p:nvPr>
        </p:nvSpPr>
        <p:spPr/>
        <p:txBody>
          <a:bodyPr/>
          <a:lstStyle/>
          <a:p>
            <a:fld id="{05C68B11-C5A8-448C-8CE9-B1A273C79CFC}" type="datetimeFigureOut">
              <a:rPr lang="en-US" smtClean="0"/>
              <a:t>3/31/2023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93893672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0" name="Rectangle 9"/>
          <p:cNvSpPr/>
          <p:nvPr/>
        </p:nvSpPr>
        <p:spPr>
          <a:xfrm>
            <a:off x="9020386" y="237744"/>
            <a:ext cx="2926080" cy="6382512"/>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rgbClr val="969696"/>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effectLst>
                  <a:outerShdw blurRad="12700" dist="3810" dir="2700000" algn="tl" rotWithShape="0">
                    <a:prstClr val="black">
                      <a:alpha val="40000"/>
                    </a:prstClr>
                  </a:outerShdw>
                </a:effectLst>
              </a:defRPr>
            </a:lvl1pPr>
          </a:lstStyle>
          <a:p>
            <a:fld id="{C7616CA0-919D-4A49-9C8A-62FDFB3A5183}" type="datetimeFigureOut">
              <a:rPr lang="en-US" smtClean="0"/>
              <a:t>3/31/2023</a:t>
            </a:fld>
            <a:endParaRPr lang="en-US" dirty="0"/>
          </a:p>
        </p:txBody>
      </p:sp>
      <p:sp>
        <p:nvSpPr>
          <p:cNvPr id="12" name="Footer Placeholder 11"/>
          <p:cNvSpPr>
            <a:spLocks noGrp="1"/>
          </p:cNvSpPr>
          <p:nvPr>
            <p:ph type="ftr" sz="quarter" idx="11"/>
          </p:nvPr>
        </p:nvSpPr>
        <p:spPr/>
        <p:txBody>
          <a:bodyPr/>
          <a:lstStyle>
            <a:lvl1pPr algn="r">
              <a:defRPr lang="en-US" sz="1000" kern="1200" dirty="0">
                <a:solidFill>
                  <a:schemeClr val="tx1">
                    <a:lumMod val="75000"/>
                    <a:lumOff val="25000"/>
                  </a:schemeClr>
                </a:solidFill>
                <a:effectLst>
                  <a:outerShdw blurRad="12700" dist="3810" dir="2700000" algn="tl" rotWithShape="0">
                    <a:prstClr val="black">
                      <a:alpha val="40000"/>
                    </a:prstClr>
                  </a:outerShdw>
                </a:effectLst>
                <a:latin typeface="+mn-lt"/>
                <a:ea typeface="+mn-ea"/>
                <a:cs typeface="+mn-cs"/>
              </a:defRPr>
            </a:lvl1pPr>
          </a:lstStyle>
          <a:p>
            <a:endParaRPr lang="en-US" dirty="0"/>
          </a:p>
        </p:txBody>
      </p:sp>
      <p:sp>
        <p:nvSpPr>
          <p:cNvPr id="13" name="Slide Number Placeholder 12"/>
          <p:cNvSpPr>
            <a:spLocks noGrp="1"/>
          </p:cNvSpPr>
          <p:nvPr>
            <p:ph type="sldNum" sz="quarter" idx="12"/>
          </p:nvPr>
        </p:nvSpPr>
        <p:spPr/>
        <p:txBody>
          <a:bodyPr/>
          <a:lstStyle>
            <a:lvl1pPr>
              <a:defRPr>
                <a:solidFill>
                  <a:srgbClr val="FFFFFF"/>
                </a:solidFill>
              </a:defRPr>
            </a:lvl1pPr>
          </a:lstStyle>
          <a:p>
            <a:fld id="{867E5644-1E61-4311-A31E-84CB9C7AA8A9}" type="slidenum">
              <a:rPr lang="en-US" smtClean="0"/>
              <a:t>‹#›</a:t>
            </a:fld>
            <a:endParaRPr lang="en-US" dirty="0"/>
          </a:p>
        </p:txBody>
      </p:sp>
    </p:spTree>
    <p:extLst>
      <p:ext uri="{BB962C8B-B14F-4D97-AF65-F5344CB8AC3E}">
        <p14:creationId xmlns:p14="http://schemas.microsoft.com/office/powerpoint/2010/main" val="551199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smtClean="0"/>
              <a:t>3/31/2023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423154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smtClean="0"/>
              <a:t>3/31/2023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829461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464" y="6214535"/>
            <a:ext cx="2743200" cy="256032"/>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90298CD5-6C1E-4009-B41F-6DF62E31D3BE}" type="datetimeFigureOut">
              <a:rPr lang="en-US" smtClean="0"/>
              <a:pPr/>
              <a:t>3/31/2023</a:t>
            </a:fld>
            <a:endParaRPr lang="en-US" dirty="0"/>
          </a:p>
        </p:txBody>
      </p:sp>
      <p:sp>
        <p:nvSpPr>
          <p:cNvPr id="5" name="Footer Placeholder 4"/>
          <p:cNvSpPr>
            <a:spLocks noGrp="1"/>
          </p:cNvSpPr>
          <p:nvPr>
            <p:ph type="ftr" sz="quarter" idx="3"/>
          </p:nvPr>
        </p:nvSpPr>
        <p:spPr>
          <a:xfrm>
            <a:off x="3489960" y="6214535"/>
            <a:ext cx="5212080" cy="256032"/>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314667" y="6214535"/>
            <a:ext cx="1463040" cy="256032"/>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4FAB73BC-B049-4115-A692-8D63A059BFB8}" type="slidenum">
              <a:rPr lang="en-US" smtClean="0"/>
              <a:pPr/>
              <a:t>‹#›</a:t>
            </a:fld>
            <a:endParaRPr lang="en-US" dirty="0"/>
          </a:p>
        </p:txBody>
      </p:sp>
      <p:sp>
        <p:nvSpPr>
          <p:cNvPr id="8" name="Rectangle 7"/>
          <p:cNvSpPr/>
          <p:nvPr/>
        </p:nvSpPr>
        <p:spPr>
          <a:xfrm>
            <a:off x="371856" y="374904"/>
            <a:ext cx="11448288" cy="6108192"/>
          </a:xfrm>
          <a:prstGeom prst="rect">
            <a:avLst/>
          </a:prstGeom>
          <a:noFill/>
          <a:ln w="6350" cap="sq" cmpd="sng" algn="ctr">
            <a:solidFill>
              <a:schemeClr val="tx1">
                <a:lumMod val="75000"/>
                <a:lumOff val="25000"/>
              </a:schemeClr>
            </a:solidFill>
            <a:prstDash val="solid"/>
            <a:miter lim="800000"/>
          </a:ln>
          <a:effectLst/>
        </p:spPr>
      </p:sp>
    </p:spTree>
    <p:extLst>
      <p:ext uri="{BB962C8B-B14F-4D97-AF65-F5344CB8AC3E}">
        <p14:creationId xmlns:p14="http://schemas.microsoft.com/office/powerpoint/2010/main" val="2652636884"/>
      </p:ext>
    </p:extLst>
  </p:cSld>
  <p:clrMap bg1="lt1" tx1="dk1" bg2="lt2" tx2="dk2" accent1="accent1" accent2="accent2" accent3="accent3" accent4="accent4" accent5="accent5" accent6="accent6" hlink="hlink" folHlink="folHlink"/>
  <p:sldLayoutIdLst>
    <p:sldLayoutId id="2147488315" r:id="rId1"/>
    <p:sldLayoutId id="2147488316" r:id="rId2"/>
    <p:sldLayoutId id="2147488317" r:id="rId3"/>
    <p:sldLayoutId id="2147488318" r:id="rId4"/>
    <p:sldLayoutId id="2147488319" r:id="rId5"/>
    <p:sldLayoutId id="2147488320" r:id="rId6"/>
    <p:sldLayoutId id="2147488321" r:id="rId7"/>
    <p:sldLayoutId id="2147488322" r:id="rId8"/>
    <p:sldLayoutId id="2147488323" r:id="rId9"/>
    <p:sldLayoutId id="2147488324" r:id="rId10"/>
    <p:sldLayoutId id="2147488325"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2"/>
        </a:buClr>
        <a:buFont typeface="Arial" pitchFamily="34"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2"/>
        </a:buClr>
        <a:buFont typeface="Arial" pitchFamily="34"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hyperlink" Target="https://docs.docker.com/network/overlay/"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Logo">
            <a:extLst>
              <a:ext uri="{FF2B5EF4-FFF2-40B4-BE49-F238E27FC236}">
                <a16:creationId xmlns:a16="http://schemas.microsoft.com/office/drawing/2014/main" id="{F59600AD-534F-429F-99D6-A9CC0C8960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object 5">
            <a:extLst>
              <a:ext uri="{FF2B5EF4-FFF2-40B4-BE49-F238E27FC236}">
                <a16:creationId xmlns:a16="http://schemas.microsoft.com/office/drawing/2014/main" id="{0D63FFA9-1074-41CD-9F61-37307A12AA72}"/>
              </a:ext>
            </a:extLst>
          </p:cNvPr>
          <p:cNvSpPr/>
          <p:nvPr/>
        </p:nvSpPr>
        <p:spPr>
          <a:xfrm>
            <a:off x="921631" y="3383280"/>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8" name="object 4">
            <a:extLst>
              <a:ext uri="{FF2B5EF4-FFF2-40B4-BE49-F238E27FC236}">
                <a16:creationId xmlns:a16="http://schemas.microsoft.com/office/drawing/2014/main" id="{AC2E87EC-C7BB-4A8A-B0D3-736837E0731E}"/>
              </a:ext>
            </a:extLst>
          </p:cNvPr>
          <p:cNvSpPr txBox="1"/>
          <p:nvPr/>
        </p:nvSpPr>
        <p:spPr>
          <a:xfrm>
            <a:off x="921631" y="2929460"/>
            <a:ext cx="3383083" cy="453820"/>
          </a:xfrm>
          <a:prstGeom prst="rect">
            <a:avLst/>
          </a:prstGeom>
        </p:spPr>
        <p:txBody>
          <a:bodyPr wrap="square" lIns="0" tIns="16224" rIns="0" bIns="0" rtlCol="0">
            <a:noAutofit/>
          </a:bodyPr>
          <a:lstStyle/>
          <a:p>
            <a:pPr marL="12700" marR="0" lvl="0" indent="0" algn="l" defTabSz="457200" rtl="0" eaLnBrk="1" fontAlgn="auto" latinLnBrk="0" hangingPunct="1">
              <a:lnSpc>
                <a:spcPts val="2555"/>
              </a:lnSpc>
              <a:spcBef>
                <a:spcPts val="0"/>
              </a:spcBef>
              <a:spcAft>
                <a:spcPts val="0"/>
              </a:spcAft>
              <a:buClrTx/>
              <a:buSzTx/>
              <a:buFontTx/>
              <a:buNone/>
              <a:tabLst/>
              <a:defRPr/>
            </a:pPr>
            <a:r>
              <a:rPr lang="en-IN" sz="2400" b="1" spc="-1" dirty="0">
                <a:solidFill>
                  <a:srgbClr val="004282"/>
                </a:solidFill>
                <a:latin typeface="Arial"/>
                <a:cs typeface="Arial"/>
              </a:rPr>
              <a:t>Docker Networks</a:t>
            </a:r>
            <a:endParaRPr kumimoji="0" sz="2400" b="0" i="0" u="none" strike="noStrike" kern="1200" cap="none" spc="0" normalizeH="0" baseline="0" noProof="0" dirty="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19945101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Docker Network</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US" sz="2000" dirty="0">
                <a:solidFill>
                  <a:srgbClr val="000000"/>
                </a:solidFill>
              </a:rPr>
              <a:t>A Docker network is basically a connection between one or more containers. One of the more powerful things about the Docker containers is that they can be easily connected to one other and even other software, this makes it very easy to isolate and manage the containers. </a:t>
            </a:r>
          </a:p>
          <a:p>
            <a:endParaRPr lang="en-US" sz="1600" dirty="0">
              <a:solidFill>
                <a:srgbClr val="000000"/>
              </a:solidFill>
              <a:latin typeface="Courier New" panose="02070309020205020404" pitchFamily="49" charset="0"/>
              <a:cs typeface="Courier New" panose="02070309020205020404" pitchFamily="49" charset="0"/>
            </a:endParaRPr>
          </a:p>
          <a:p>
            <a:endParaRPr lang="en-US" sz="1600" i="1" dirty="0">
              <a:solidFill>
                <a:srgbClr val="000000"/>
              </a:solidFill>
              <a:latin typeface="Courier New" panose="02070309020205020404" pitchFamily="49" charset="0"/>
              <a:cs typeface="Courier New" panose="02070309020205020404" pitchFamily="49" charset="0"/>
            </a:endParaRPr>
          </a:p>
          <a:p>
            <a:endParaRPr lang="en-US" sz="2000" dirty="0">
              <a:solidFill>
                <a:srgbClr val="000000"/>
              </a:solidFill>
            </a:endParaRPr>
          </a:p>
        </p:txBody>
      </p:sp>
      <p:pic>
        <p:nvPicPr>
          <p:cNvPr id="3" name="Picture 2">
            <a:extLst>
              <a:ext uri="{FF2B5EF4-FFF2-40B4-BE49-F238E27FC236}">
                <a16:creationId xmlns:a16="http://schemas.microsoft.com/office/drawing/2014/main" id="{349BDE31-4EDE-4C33-B55B-21710C050262}"/>
              </a:ext>
            </a:extLst>
          </p:cNvPr>
          <p:cNvPicPr>
            <a:picLocks noChangeAspect="1"/>
          </p:cNvPicPr>
          <p:nvPr/>
        </p:nvPicPr>
        <p:blipFill>
          <a:blip r:embed="rId4"/>
          <a:stretch>
            <a:fillRect/>
          </a:stretch>
        </p:blipFill>
        <p:spPr>
          <a:xfrm>
            <a:off x="1704808" y="2957145"/>
            <a:ext cx="8343262" cy="2801211"/>
          </a:xfrm>
          <a:prstGeom prst="rect">
            <a:avLst/>
          </a:prstGeom>
        </p:spPr>
      </p:pic>
    </p:spTree>
    <p:extLst>
      <p:ext uri="{BB962C8B-B14F-4D97-AF65-F5344CB8AC3E}">
        <p14:creationId xmlns:p14="http://schemas.microsoft.com/office/powerpoint/2010/main" val="1195002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Types of Docker Networks</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endParaRPr lang="en-IN" sz="2400" dirty="0">
              <a:solidFill>
                <a:srgbClr val="000000"/>
              </a:solidFill>
              <a:latin typeface="Aparajita" panose="02020603050405020304" pitchFamily="18" charset="0"/>
              <a:cs typeface="Aparajita" panose="02020603050405020304" pitchFamily="18" charset="0"/>
            </a:endParaRPr>
          </a:p>
          <a:p>
            <a:endParaRPr lang="en-IN" sz="2400" dirty="0">
              <a:solidFill>
                <a:srgbClr val="000000"/>
              </a:solidFill>
              <a:latin typeface="Aparajita" panose="02020603050405020304" pitchFamily="18" charset="0"/>
              <a:cs typeface="Aparajita" panose="02020603050405020304" pitchFamily="18" charset="0"/>
            </a:endParaRPr>
          </a:p>
          <a:p>
            <a:endParaRPr lang="en-US" sz="1600" i="1" dirty="0">
              <a:solidFill>
                <a:srgbClr val="000000"/>
              </a:solidFill>
              <a:latin typeface="Courier New" panose="02070309020205020404" pitchFamily="49" charset="0"/>
              <a:cs typeface="Courier New" panose="02070309020205020404" pitchFamily="49" charset="0"/>
            </a:endParaRPr>
          </a:p>
          <a:p>
            <a:endParaRPr lang="en-US" sz="1600" i="1" dirty="0">
              <a:solidFill>
                <a:srgbClr val="000000"/>
              </a:solidFill>
              <a:latin typeface="Courier New" panose="02070309020205020404" pitchFamily="49" charset="0"/>
              <a:cs typeface="Courier New" panose="02070309020205020404" pitchFamily="49" charset="0"/>
            </a:endParaRP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p:txBody>
      </p:sp>
      <p:pic>
        <p:nvPicPr>
          <p:cNvPr id="3" name="Picture 2">
            <a:extLst>
              <a:ext uri="{FF2B5EF4-FFF2-40B4-BE49-F238E27FC236}">
                <a16:creationId xmlns:a16="http://schemas.microsoft.com/office/drawing/2014/main" id="{AEBB12F6-4064-4480-BB6F-E36FE7DC12FB}"/>
              </a:ext>
            </a:extLst>
          </p:cNvPr>
          <p:cNvPicPr>
            <a:picLocks noChangeAspect="1"/>
          </p:cNvPicPr>
          <p:nvPr/>
        </p:nvPicPr>
        <p:blipFill>
          <a:blip r:embed="rId4"/>
          <a:stretch>
            <a:fillRect/>
          </a:stretch>
        </p:blipFill>
        <p:spPr>
          <a:xfrm>
            <a:off x="689317" y="2048523"/>
            <a:ext cx="10394926" cy="2760953"/>
          </a:xfrm>
          <a:prstGeom prst="rect">
            <a:avLst/>
          </a:prstGeom>
        </p:spPr>
      </p:pic>
    </p:spTree>
    <p:extLst>
      <p:ext uri="{BB962C8B-B14F-4D97-AF65-F5344CB8AC3E}">
        <p14:creationId xmlns:p14="http://schemas.microsoft.com/office/powerpoint/2010/main" val="823337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1. Bridge Network</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IN" sz="2000" dirty="0"/>
              <a:t>In terms of Docker, a bridge network uses a software bridge which allows containers connected to the same bridge network to communicate, while providing isolation from containers which are not connected to that bridge network.</a:t>
            </a:r>
          </a:p>
          <a:p>
            <a:r>
              <a:rPr lang="en-IN" sz="2000" dirty="0"/>
              <a:t>Bridge networks apply to containers running on the same Docker daemon host. For communication among containers running on different Docker daemon hosts, you can either manage routing at the OS level, or you can use an </a:t>
            </a:r>
            <a:r>
              <a:rPr lang="en-IN" sz="2000" dirty="0">
                <a:hlinkClick r:id="rId4">
                  <a:extLst>
                    <a:ext uri="{A12FA001-AC4F-418D-AE19-62706E023703}">
                      <ahyp:hlinkClr xmlns:ahyp="http://schemas.microsoft.com/office/drawing/2018/hyperlinkcolor" val="tx"/>
                    </a:ext>
                  </a:extLst>
                </a:hlinkClick>
              </a:rPr>
              <a:t>overlay network</a:t>
            </a:r>
            <a:r>
              <a:rPr lang="en-IN" sz="2000" dirty="0"/>
              <a:t>.</a:t>
            </a:r>
          </a:p>
          <a:p>
            <a:r>
              <a:rPr lang="en-IN" sz="2000" dirty="0"/>
              <a:t>When you start Docker, a default bridge network (also called bridge) is created automatically, and newly-started containers connect to it unless otherwise specified. You can also create user-defined custom bridge networks. </a:t>
            </a:r>
            <a:r>
              <a:rPr lang="en-IN" sz="2000" b="1" dirty="0"/>
              <a:t>User-defined bridge networks are superior to the default bridge network</a:t>
            </a:r>
            <a:r>
              <a:rPr lang="en-IN" sz="2000" dirty="0"/>
              <a:t>.</a:t>
            </a:r>
          </a:p>
          <a:p>
            <a:endParaRPr lang="en-IN" sz="2000" dirty="0"/>
          </a:p>
          <a:p>
            <a:endParaRPr lang="en-IN" sz="2000" dirty="0"/>
          </a:p>
          <a:p>
            <a:endParaRPr lang="en-US" sz="1600" i="1" dirty="0">
              <a:solidFill>
                <a:srgbClr val="000000"/>
              </a:solidFill>
              <a:latin typeface="Courier New" panose="02070309020205020404" pitchFamily="49" charset="0"/>
              <a:cs typeface="Courier New" panose="02070309020205020404" pitchFamily="49" charset="0"/>
            </a:endParaRPr>
          </a:p>
          <a:p>
            <a:endParaRPr lang="en-US" sz="2000" dirty="0">
              <a:solidFill>
                <a:srgbClr val="000000"/>
              </a:solidFill>
            </a:endParaRPr>
          </a:p>
        </p:txBody>
      </p:sp>
      <p:pic>
        <p:nvPicPr>
          <p:cNvPr id="6" name="Picture 5">
            <a:extLst>
              <a:ext uri="{FF2B5EF4-FFF2-40B4-BE49-F238E27FC236}">
                <a16:creationId xmlns:a16="http://schemas.microsoft.com/office/drawing/2014/main" id="{8F68436C-9517-4FE5-B7D4-FF296EAF5AF6}"/>
              </a:ext>
            </a:extLst>
          </p:cNvPr>
          <p:cNvPicPr>
            <a:picLocks noChangeAspect="1"/>
          </p:cNvPicPr>
          <p:nvPr/>
        </p:nvPicPr>
        <p:blipFill>
          <a:blip r:embed="rId5"/>
          <a:stretch>
            <a:fillRect/>
          </a:stretch>
        </p:blipFill>
        <p:spPr>
          <a:xfrm>
            <a:off x="2555790" y="4135233"/>
            <a:ext cx="7019925" cy="2333625"/>
          </a:xfrm>
          <a:prstGeom prst="rect">
            <a:avLst/>
          </a:prstGeom>
        </p:spPr>
      </p:pic>
    </p:spTree>
    <p:extLst>
      <p:ext uri="{BB962C8B-B14F-4D97-AF65-F5344CB8AC3E}">
        <p14:creationId xmlns:p14="http://schemas.microsoft.com/office/powerpoint/2010/main" val="3637038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1. Bridge Network.</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pPr marL="342900" indent="-342900">
              <a:buFont typeface="Arial" panose="020B0604020202020204" pitchFamily="34" charset="0"/>
              <a:buChar char="•"/>
            </a:pPr>
            <a:r>
              <a:rPr lang="en-US" sz="2000" u="sng" dirty="0">
                <a:solidFill>
                  <a:srgbClr val="000000"/>
                </a:solidFill>
              </a:rPr>
              <a:t>Create Docker Network</a:t>
            </a:r>
            <a:r>
              <a:rPr lang="en-US" sz="2000" dirty="0">
                <a:solidFill>
                  <a:srgbClr val="000000"/>
                </a:solidFill>
              </a:rPr>
              <a:t>.</a:t>
            </a:r>
          </a:p>
          <a:p>
            <a:endParaRPr lang="en-US" sz="2000" dirty="0">
              <a:solidFill>
                <a:srgbClr val="000000"/>
              </a:solidFill>
            </a:endParaRPr>
          </a:p>
          <a:p>
            <a:r>
              <a:rPr lang="en-US" dirty="0">
                <a:solidFill>
                  <a:srgbClr val="000000"/>
                </a:solidFill>
              </a:rPr>
              <a:t>      </a:t>
            </a:r>
            <a:r>
              <a:rPr lang="en-US" dirty="0">
                <a:solidFill>
                  <a:srgbClr val="000000"/>
                </a:solidFill>
                <a:latin typeface="Courier New" panose="02070309020205020404" pitchFamily="49" charset="0"/>
                <a:cs typeface="Courier New" panose="02070309020205020404" pitchFamily="49" charset="0"/>
              </a:rPr>
              <a:t>~ </a:t>
            </a:r>
            <a:r>
              <a:rPr lang="en-US" i="1" dirty="0">
                <a:solidFill>
                  <a:srgbClr val="000000"/>
                </a:solidFill>
                <a:latin typeface="Courier New" panose="02070309020205020404" pitchFamily="49" charset="0"/>
                <a:cs typeface="Courier New" panose="02070309020205020404" pitchFamily="49" charset="0"/>
              </a:rPr>
              <a:t>sudo docker network create –-driver &lt;driver_name&gt; &lt;network_name&gt;</a:t>
            </a:r>
          </a:p>
          <a:p>
            <a:r>
              <a:rPr lang="en-US" dirty="0">
                <a:solidFill>
                  <a:srgbClr val="000000"/>
                </a:solidFill>
                <a:latin typeface="Courier New" panose="02070309020205020404" pitchFamily="49" charset="0"/>
                <a:cs typeface="Courier New" panose="02070309020205020404" pitchFamily="49" charset="0"/>
              </a:rPr>
              <a:t>  ~ </a:t>
            </a:r>
            <a:r>
              <a:rPr lang="en-US" i="1" dirty="0">
                <a:solidFill>
                  <a:srgbClr val="000000"/>
                </a:solidFill>
                <a:latin typeface="Courier New" panose="02070309020205020404" pitchFamily="49" charset="0"/>
                <a:cs typeface="Courier New" panose="02070309020205020404" pitchFamily="49" charset="0"/>
              </a:rPr>
              <a:t>sudo docker network create –-driver bridge barbie </a:t>
            </a:r>
          </a:p>
          <a:p>
            <a:endParaRPr lang="en-US" sz="16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List Docker Network</a:t>
            </a:r>
            <a:r>
              <a:rPr lang="en-US" sz="2000" dirty="0">
                <a:solidFill>
                  <a:srgbClr val="000000"/>
                </a:solidFill>
              </a:rPr>
              <a:t>.</a:t>
            </a:r>
          </a:p>
          <a:p>
            <a:r>
              <a:rPr lang="en-US" sz="2000" dirty="0">
                <a:solidFill>
                  <a:srgbClr val="000000"/>
                </a:solidFill>
              </a:rPr>
              <a:t>	</a:t>
            </a:r>
            <a:endParaRPr lang="en-US" sz="1600" i="1" dirty="0">
              <a:solidFill>
                <a:srgbClr val="000000"/>
              </a:solidFill>
              <a:latin typeface="Courier New" panose="02070309020205020404" pitchFamily="49" charset="0"/>
              <a:cs typeface="Courier New" panose="02070309020205020404" pitchFamily="49" charset="0"/>
            </a:endParaRPr>
          </a:p>
          <a:p>
            <a:r>
              <a:rPr lang="en-US" sz="2000" dirty="0">
                <a:solidFill>
                  <a:srgbClr val="000000"/>
                </a:solidFill>
              </a:rPr>
              <a:t>     </a:t>
            </a:r>
            <a:r>
              <a:rPr lang="en-US" sz="2000" dirty="0">
                <a:solidFill>
                  <a:srgbClr val="000000"/>
                </a:solidFill>
                <a:latin typeface="Courier New" panose="02070309020205020404" pitchFamily="49" charset="0"/>
                <a:cs typeface="Courier New" panose="02070309020205020404" pitchFamily="49" charset="0"/>
              </a:rPr>
              <a:t>~ </a:t>
            </a:r>
            <a:r>
              <a:rPr lang="en-US" sz="2000" i="1" dirty="0">
                <a:solidFill>
                  <a:srgbClr val="000000"/>
                </a:solidFill>
                <a:latin typeface="Courier New" panose="02070309020205020404" pitchFamily="49" charset="0"/>
                <a:cs typeface="Courier New" panose="02070309020205020404" pitchFamily="49" charset="0"/>
              </a:rPr>
              <a:t>sudo docker network ls</a:t>
            </a:r>
          </a:p>
          <a:p>
            <a:endParaRPr lang="en-US" sz="20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Inspect Docker Network</a:t>
            </a:r>
            <a:r>
              <a:rPr lang="en-US" sz="2000" dirty="0">
                <a:solidFill>
                  <a:srgbClr val="000000"/>
                </a:solidFill>
              </a:rPr>
              <a:t>.</a:t>
            </a:r>
          </a:p>
          <a:p>
            <a:r>
              <a:rPr lang="en-US" sz="2000" dirty="0">
                <a:solidFill>
                  <a:srgbClr val="000000"/>
                </a:solidFill>
              </a:rPr>
              <a:t>	</a:t>
            </a:r>
            <a:endParaRPr lang="en-US" sz="1600" i="1" dirty="0">
              <a:solidFill>
                <a:srgbClr val="000000"/>
              </a:solidFill>
              <a:latin typeface="Courier New" panose="02070309020205020404" pitchFamily="49" charset="0"/>
              <a:cs typeface="Courier New" panose="02070309020205020404" pitchFamily="49" charset="0"/>
            </a:endParaRPr>
          </a:p>
          <a:p>
            <a:r>
              <a:rPr lang="en-US" sz="2000" dirty="0">
                <a:solidFill>
                  <a:srgbClr val="000000"/>
                </a:solidFill>
              </a:rPr>
              <a:t>     </a:t>
            </a:r>
            <a:r>
              <a:rPr lang="en-US" sz="2000" dirty="0">
                <a:solidFill>
                  <a:srgbClr val="000000"/>
                </a:solidFill>
                <a:latin typeface="Courier New" panose="02070309020205020404" pitchFamily="49" charset="0"/>
                <a:cs typeface="Courier New" panose="02070309020205020404" pitchFamily="49" charset="0"/>
              </a:rPr>
              <a:t>~ </a:t>
            </a:r>
            <a:r>
              <a:rPr lang="en-US" sz="2000" i="1" dirty="0">
                <a:solidFill>
                  <a:srgbClr val="000000"/>
                </a:solidFill>
                <a:latin typeface="Courier New" panose="02070309020205020404" pitchFamily="49" charset="0"/>
                <a:cs typeface="Courier New" panose="02070309020205020404" pitchFamily="49" charset="0"/>
              </a:rPr>
              <a:t>sudo docker network inspect &lt;network_id&gt;</a:t>
            </a:r>
          </a:p>
          <a:p>
            <a:endParaRPr lang="en-US" sz="20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Run Docker with Network flag</a:t>
            </a:r>
            <a:r>
              <a:rPr lang="en-US" sz="2000" dirty="0">
                <a:solidFill>
                  <a:srgbClr val="000000"/>
                </a:solidFill>
              </a:rPr>
              <a:t>.</a:t>
            </a:r>
          </a:p>
          <a:p>
            <a:r>
              <a:rPr lang="en-US" sz="2000" dirty="0">
                <a:solidFill>
                  <a:srgbClr val="000000"/>
                </a:solidFill>
              </a:rPr>
              <a:t>	</a:t>
            </a:r>
            <a:endParaRPr lang="en-US" sz="1600" i="1" dirty="0">
              <a:solidFill>
                <a:srgbClr val="000000"/>
              </a:solidFill>
              <a:latin typeface="Courier New" panose="02070309020205020404" pitchFamily="49" charset="0"/>
              <a:cs typeface="Courier New" panose="02070309020205020404" pitchFamily="49" charset="0"/>
            </a:endParaRPr>
          </a:p>
          <a:p>
            <a:r>
              <a:rPr lang="en-US" sz="2000" dirty="0">
                <a:solidFill>
                  <a:srgbClr val="000000"/>
                </a:solidFill>
              </a:rPr>
              <a:t>     </a:t>
            </a:r>
            <a:r>
              <a:rPr lang="en-US" sz="2000" dirty="0">
                <a:solidFill>
                  <a:srgbClr val="000000"/>
                </a:solidFill>
                <a:latin typeface="Courier New" panose="02070309020205020404" pitchFamily="49" charset="0"/>
                <a:cs typeface="Courier New" panose="02070309020205020404" pitchFamily="49" charset="0"/>
              </a:rPr>
              <a:t>~ </a:t>
            </a:r>
            <a:r>
              <a:rPr lang="en-US" sz="2000" i="1" dirty="0">
                <a:solidFill>
                  <a:srgbClr val="000000"/>
                </a:solidFill>
                <a:latin typeface="Courier New" panose="02070309020205020404" pitchFamily="49" charset="0"/>
                <a:cs typeface="Courier New" panose="02070309020205020404" pitchFamily="49" charset="0"/>
              </a:rPr>
              <a:t>sudo docker run –it –d –-name MyCon –-network barbie ubuntu</a:t>
            </a:r>
          </a:p>
          <a:p>
            <a:endParaRPr lang="en-US" sz="2000" dirty="0">
              <a:solidFill>
                <a:srgbClr val="000000"/>
              </a:solidFill>
            </a:endParaRPr>
          </a:p>
        </p:txBody>
      </p:sp>
    </p:spTree>
    <p:extLst>
      <p:ext uri="{BB962C8B-B14F-4D97-AF65-F5344CB8AC3E}">
        <p14:creationId xmlns:p14="http://schemas.microsoft.com/office/powerpoint/2010/main" val="16257328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2. Host Network</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IN" sz="2000" dirty="0"/>
              <a:t>If you use the host network mode for a container, that container’s network stack is not isolated from the Docker host (the container shares the host’s networking namespace), and the container does not get its own IP-address allocated. For instance, if you run a container which binds to port 80 and you use host networking, the container’s application is available on port 80 on the host’s IP address.</a:t>
            </a:r>
          </a:p>
          <a:p>
            <a:endParaRPr lang="en-IN" sz="2000" dirty="0"/>
          </a:p>
          <a:p>
            <a:r>
              <a:rPr lang="en-IN" sz="2000" dirty="0"/>
              <a:t>The host networking driver only works on Linux hosts, and is not supported on Docker Desktop for Mac, Docker Desktop for Windows, or Docker EE for Windows Server.</a:t>
            </a:r>
          </a:p>
          <a:p>
            <a:endParaRPr lang="en-IN" sz="2000" dirty="0"/>
          </a:p>
          <a:p>
            <a:endParaRPr lang="en-IN" sz="2000" dirty="0"/>
          </a:p>
          <a:p>
            <a:endParaRPr lang="en-US" sz="1600" i="1" dirty="0">
              <a:solidFill>
                <a:srgbClr val="000000"/>
              </a:solidFill>
              <a:latin typeface="Courier New" panose="02070309020205020404" pitchFamily="49" charset="0"/>
              <a:cs typeface="Courier New" panose="02070309020205020404" pitchFamily="49" charset="0"/>
            </a:endParaRPr>
          </a:p>
          <a:p>
            <a:endParaRPr lang="en-US" sz="2000" dirty="0">
              <a:solidFill>
                <a:srgbClr val="000000"/>
              </a:solidFill>
            </a:endParaRPr>
          </a:p>
        </p:txBody>
      </p:sp>
      <p:pic>
        <p:nvPicPr>
          <p:cNvPr id="3" name="Picture 2">
            <a:extLst>
              <a:ext uri="{FF2B5EF4-FFF2-40B4-BE49-F238E27FC236}">
                <a16:creationId xmlns:a16="http://schemas.microsoft.com/office/drawing/2014/main" id="{FB6B0AAC-76C0-41EF-BBFE-1BC02076288A}"/>
              </a:ext>
            </a:extLst>
          </p:cNvPr>
          <p:cNvPicPr>
            <a:picLocks noChangeAspect="1"/>
          </p:cNvPicPr>
          <p:nvPr/>
        </p:nvPicPr>
        <p:blipFill>
          <a:blip r:embed="rId4"/>
          <a:stretch>
            <a:fillRect/>
          </a:stretch>
        </p:blipFill>
        <p:spPr>
          <a:xfrm>
            <a:off x="2870015" y="3642048"/>
            <a:ext cx="5154211" cy="2616237"/>
          </a:xfrm>
          <a:prstGeom prst="rect">
            <a:avLst/>
          </a:prstGeom>
        </p:spPr>
      </p:pic>
    </p:spTree>
    <p:extLst>
      <p:ext uri="{BB962C8B-B14F-4D97-AF65-F5344CB8AC3E}">
        <p14:creationId xmlns:p14="http://schemas.microsoft.com/office/powerpoint/2010/main" val="29242680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2. Host Network.</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pPr marL="342900" indent="-342900">
              <a:buFont typeface="Arial" panose="020B0604020202020204" pitchFamily="34" charset="0"/>
              <a:buChar char="•"/>
            </a:pPr>
            <a:r>
              <a:rPr lang="en-US" sz="2000" u="sng" dirty="0">
                <a:solidFill>
                  <a:srgbClr val="000000"/>
                </a:solidFill>
              </a:rPr>
              <a:t>List Docker Network</a:t>
            </a:r>
            <a:r>
              <a:rPr lang="en-US" sz="2000" dirty="0">
                <a:solidFill>
                  <a:srgbClr val="000000"/>
                </a:solidFill>
              </a:rPr>
              <a:t>.</a:t>
            </a:r>
          </a:p>
          <a:p>
            <a:r>
              <a:rPr lang="en-US" sz="2000" dirty="0">
                <a:solidFill>
                  <a:srgbClr val="000000"/>
                </a:solidFill>
              </a:rPr>
              <a:t>	</a:t>
            </a:r>
            <a:endParaRPr lang="en-US" sz="1600" i="1" dirty="0">
              <a:solidFill>
                <a:srgbClr val="000000"/>
              </a:solidFill>
              <a:latin typeface="Courier New" panose="02070309020205020404" pitchFamily="49" charset="0"/>
              <a:cs typeface="Courier New" panose="02070309020205020404" pitchFamily="49" charset="0"/>
            </a:endParaRPr>
          </a:p>
          <a:p>
            <a:r>
              <a:rPr lang="en-US" sz="2000" dirty="0">
                <a:solidFill>
                  <a:srgbClr val="000000"/>
                </a:solidFill>
              </a:rPr>
              <a:t>     </a:t>
            </a:r>
            <a:r>
              <a:rPr lang="en-US" sz="2000" dirty="0">
                <a:solidFill>
                  <a:srgbClr val="000000"/>
                </a:solidFill>
                <a:latin typeface="Courier New" panose="02070309020205020404" pitchFamily="49" charset="0"/>
                <a:cs typeface="Courier New" panose="02070309020205020404" pitchFamily="49" charset="0"/>
              </a:rPr>
              <a:t>~ </a:t>
            </a:r>
            <a:r>
              <a:rPr lang="en-US" sz="2000" i="1" dirty="0">
                <a:solidFill>
                  <a:srgbClr val="000000"/>
                </a:solidFill>
                <a:latin typeface="Courier New" panose="02070309020205020404" pitchFamily="49" charset="0"/>
                <a:cs typeface="Courier New" panose="02070309020205020404" pitchFamily="49" charset="0"/>
              </a:rPr>
              <a:t>sudo docker network ls</a:t>
            </a:r>
          </a:p>
          <a:p>
            <a:endParaRPr lang="en-US" sz="20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Inspect Docker Network</a:t>
            </a:r>
            <a:r>
              <a:rPr lang="en-US" sz="2000" dirty="0">
                <a:solidFill>
                  <a:srgbClr val="000000"/>
                </a:solidFill>
              </a:rPr>
              <a:t>.</a:t>
            </a:r>
          </a:p>
          <a:p>
            <a:r>
              <a:rPr lang="en-US" sz="2000" dirty="0">
                <a:solidFill>
                  <a:srgbClr val="000000"/>
                </a:solidFill>
              </a:rPr>
              <a:t>	</a:t>
            </a:r>
            <a:endParaRPr lang="en-US" sz="1600" i="1" dirty="0">
              <a:solidFill>
                <a:srgbClr val="000000"/>
              </a:solidFill>
              <a:latin typeface="Courier New" panose="02070309020205020404" pitchFamily="49" charset="0"/>
              <a:cs typeface="Courier New" panose="02070309020205020404" pitchFamily="49" charset="0"/>
            </a:endParaRPr>
          </a:p>
          <a:p>
            <a:r>
              <a:rPr lang="en-US" sz="2000" dirty="0">
                <a:solidFill>
                  <a:srgbClr val="000000"/>
                </a:solidFill>
              </a:rPr>
              <a:t>     </a:t>
            </a:r>
            <a:r>
              <a:rPr lang="en-US" sz="2000" dirty="0">
                <a:solidFill>
                  <a:srgbClr val="000000"/>
                </a:solidFill>
                <a:latin typeface="Courier New" panose="02070309020205020404" pitchFamily="49" charset="0"/>
                <a:cs typeface="Courier New" panose="02070309020205020404" pitchFamily="49" charset="0"/>
              </a:rPr>
              <a:t>~ </a:t>
            </a:r>
            <a:r>
              <a:rPr lang="en-US" sz="2000" i="1" dirty="0">
                <a:solidFill>
                  <a:srgbClr val="000000"/>
                </a:solidFill>
                <a:latin typeface="Courier New" panose="02070309020205020404" pitchFamily="49" charset="0"/>
                <a:cs typeface="Courier New" panose="02070309020205020404" pitchFamily="49" charset="0"/>
              </a:rPr>
              <a:t>sudo docker network inspect &lt;network_id&gt;</a:t>
            </a:r>
          </a:p>
          <a:p>
            <a:endParaRPr lang="en-US" sz="20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Run Docker with Network flag</a:t>
            </a:r>
            <a:r>
              <a:rPr lang="en-US" sz="2000" dirty="0">
                <a:solidFill>
                  <a:srgbClr val="000000"/>
                </a:solidFill>
              </a:rPr>
              <a:t>.</a:t>
            </a:r>
          </a:p>
          <a:p>
            <a:r>
              <a:rPr lang="en-US" sz="2000" dirty="0">
                <a:solidFill>
                  <a:srgbClr val="000000"/>
                </a:solidFill>
              </a:rPr>
              <a:t>	</a:t>
            </a:r>
            <a:endParaRPr lang="en-US" sz="1600" i="1" dirty="0">
              <a:solidFill>
                <a:srgbClr val="000000"/>
              </a:solidFill>
              <a:latin typeface="Courier New" panose="02070309020205020404" pitchFamily="49" charset="0"/>
              <a:cs typeface="Courier New" panose="02070309020205020404" pitchFamily="49" charset="0"/>
            </a:endParaRPr>
          </a:p>
          <a:p>
            <a:r>
              <a:rPr lang="en-US" sz="2000" dirty="0">
                <a:solidFill>
                  <a:srgbClr val="000000"/>
                </a:solidFill>
              </a:rPr>
              <a:t>     </a:t>
            </a:r>
            <a:r>
              <a:rPr lang="en-US" sz="2000" dirty="0">
                <a:solidFill>
                  <a:srgbClr val="000000"/>
                </a:solidFill>
                <a:latin typeface="Courier New" panose="02070309020205020404" pitchFamily="49" charset="0"/>
                <a:cs typeface="Courier New" panose="02070309020205020404" pitchFamily="49" charset="0"/>
              </a:rPr>
              <a:t>~ </a:t>
            </a:r>
            <a:r>
              <a:rPr lang="en-US" sz="2000" i="1" dirty="0">
                <a:solidFill>
                  <a:srgbClr val="000000"/>
                </a:solidFill>
                <a:latin typeface="Courier New" panose="02070309020205020404" pitchFamily="49" charset="0"/>
                <a:cs typeface="Courier New" panose="02070309020205020404" pitchFamily="49" charset="0"/>
              </a:rPr>
              <a:t>sudo docker run –it –d –-name MyCon –-network host ubuntu</a:t>
            </a:r>
          </a:p>
          <a:p>
            <a:endParaRPr lang="en-US" sz="2000" dirty="0">
              <a:solidFill>
                <a:srgbClr val="000000"/>
              </a:solidFill>
            </a:endParaRPr>
          </a:p>
        </p:txBody>
      </p:sp>
    </p:spTree>
    <p:extLst>
      <p:ext uri="{BB962C8B-B14F-4D97-AF65-F5344CB8AC3E}">
        <p14:creationId xmlns:p14="http://schemas.microsoft.com/office/powerpoint/2010/main" val="4078661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3. Overlay Network</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IN" sz="2000" dirty="0"/>
              <a:t>Docker daemon hosts that are connected by the means of an overlay network can communicate with each other. This means that containers present in different docker hosts can communicate with each other using the overlay network.</a:t>
            </a:r>
          </a:p>
          <a:p>
            <a:endParaRPr lang="en-IN" sz="2000" dirty="0"/>
          </a:p>
          <a:p>
            <a:r>
              <a:rPr lang="en-IN" sz="2000" dirty="0"/>
              <a:t>This is useful when we need a set of docker hosts to communicate with each other in a docker swarm.</a:t>
            </a:r>
          </a:p>
          <a:p>
            <a:endParaRPr lang="en-IN" sz="2000" dirty="0"/>
          </a:p>
          <a:p>
            <a:endParaRPr lang="en-IN" sz="2000" dirty="0"/>
          </a:p>
          <a:p>
            <a:endParaRPr lang="en-US" sz="1600" i="1" dirty="0">
              <a:solidFill>
                <a:srgbClr val="000000"/>
              </a:solidFill>
              <a:latin typeface="Courier New" panose="02070309020205020404" pitchFamily="49" charset="0"/>
              <a:cs typeface="Courier New" panose="02070309020205020404" pitchFamily="49" charset="0"/>
            </a:endParaRPr>
          </a:p>
          <a:p>
            <a:endParaRPr lang="en-US" sz="2000" dirty="0">
              <a:solidFill>
                <a:srgbClr val="000000"/>
              </a:solidFill>
            </a:endParaRPr>
          </a:p>
        </p:txBody>
      </p:sp>
      <p:pic>
        <p:nvPicPr>
          <p:cNvPr id="2" name="Picture 1">
            <a:extLst>
              <a:ext uri="{FF2B5EF4-FFF2-40B4-BE49-F238E27FC236}">
                <a16:creationId xmlns:a16="http://schemas.microsoft.com/office/drawing/2014/main" id="{2E488692-AC83-4A56-B2DC-29C712F0EBA4}"/>
              </a:ext>
            </a:extLst>
          </p:cNvPr>
          <p:cNvPicPr>
            <a:picLocks noChangeAspect="1"/>
          </p:cNvPicPr>
          <p:nvPr/>
        </p:nvPicPr>
        <p:blipFill>
          <a:blip r:embed="rId4"/>
          <a:stretch>
            <a:fillRect/>
          </a:stretch>
        </p:blipFill>
        <p:spPr>
          <a:xfrm>
            <a:off x="1524354" y="3246120"/>
            <a:ext cx="9143291" cy="2829286"/>
          </a:xfrm>
          <a:prstGeom prst="rect">
            <a:avLst/>
          </a:prstGeom>
        </p:spPr>
      </p:pic>
    </p:spTree>
    <p:extLst>
      <p:ext uri="{BB962C8B-B14F-4D97-AF65-F5344CB8AC3E}">
        <p14:creationId xmlns:p14="http://schemas.microsoft.com/office/powerpoint/2010/main" val="851590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3. Overlay Network.</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pPr marL="342900" indent="-342900">
              <a:buFont typeface="Arial" panose="020B0604020202020204" pitchFamily="34" charset="0"/>
              <a:buChar char="•"/>
            </a:pPr>
            <a:r>
              <a:rPr lang="en-US" sz="2000" u="sng" dirty="0">
                <a:solidFill>
                  <a:srgbClr val="000000"/>
                </a:solidFill>
              </a:rPr>
              <a:t>Create Overlay Network</a:t>
            </a:r>
            <a:r>
              <a:rPr lang="en-US" sz="2000" dirty="0">
                <a:solidFill>
                  <a:srgbClr val="000000"/>
                </a:solidFill>
              </a:rPr>
              <a:t>.</a:t>
            </a:r>
          </a:p>
          <a:p>
            <a:r>
              <a:rPr lang="en-US" sz="2000" dirty="0">
                <a:solidFill>
                  <a:srgbClr val="000000"/>
                </a:solidFill>
              </a:rPr>
              <a:t>	</a:t>
            </a:r>
            <a:endParaRPr lang="en-US" sz="1600" i="1" dirty="0">
              <a:solidFill>
                <a:srgbClr val="000000"/>
              </a:solidFill>
              <a:latin typeface="Courier New" panose="02070309020205020404" pitchFamily="49" charset="0"/>
              <a:cs typeface="Courier New" panose="02070309020205020404" pitchFamily="49" charset="0"/>
            </a:endParaRPr>
          </a:p>
          <a:p>
            <a:r>
              <a:rPr lang="en-US" sz="2000" dirty="0">
                <a:solidFill>
                  <a:srgbClr val="000000"/>
                </a:solidFill>
              </a:rPr>
              <a:t>     </a:t>
            </a:r>
            <a:r>
              <a:rPr lang="en-US" sz="2000" dirty="0">
                <a:solidFill>
                  <a:srgbClr val="000000"/>
                </a:solidFill>
                <a:latin typeface="Courier New" panose="02070309020205020404" pitchFamily="49" charset="0"/>
                <a:cs typeface="Courier New" panose="02070309020205020404" pitchFamily="49" charset="0"/>
              </a:rPr>
              <a:t>~ </a:t>
            </a:r>
            <a:r>
              <a:rPr lang="en-US" sz="2000" i="1" dirty="0">
                <a:solidFill>
                  <a:srgbClr val="000000"/>
                </a:solidFill>
                <a:latin typeface="Courier New" panose="02070309020205020404" pitchFamily="49" charset="0"/>
                <a:cs typeface="Courier New" panose="02070309020205020404" pitchFamily="49" charset="0"/>
              </a:rPr>
              <a:t>sudo docker network create –-driver overlay fun-net</a:t>
            </a:r>
          </a:p>
          <a:p>
            <a:endParaRPr lang="en-US" sz="20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Create Service</a:t>
            </a:r>
            <a:r>
              <a:rPr lang="en-US" sz="2000" dirty="0">
                <a:solidFill>
                  <a:srgbClr val="000000"/>
                </a:solidFill>
              </a:rPr>
              <a:t>.</a:t>
            </a:r>
          </a:p>
          <a:p>
            <a:r>
              <a:rPr lang="en-US" sz="2000" dirty="0">
                <a:solidFill>
                  <a:srgbClr val="000000"/>
                </a:solidFill>
              </a:rPr>
              <a:t>	</a:t>
            </a:r>
            <a:endParaRPr lang="en-US" sz="1600" i="1" dirty="0">
              <a:solidFill>
                <a:srgbClr val="000000"/>
              </a:solidFill>
              <a:latin typeface="Courier New" panose="02070309020205020404" pitchFamily="49" charset="0"/>
              <a:cs typeface="Courier New" panose="02070309020205020404" pitchFamily="49" charset="0"/>
            </a:endParaRPr>
          </a:p>
          <a:p>
            <a:r>
              <a:rPr lang="en-US" sz="2000" dirty="0">
                <a:solidFill>
                  <a:srgbClr val="000000"/>
                </a:solidFill>
              </a:rPr>
              <a:t>     </a:t>
            </a:r>
            <a:r>
              <a:rPr lang="en-US" sz="2000" dirty="0">
                <a:solidFill>
                  <a:srgbClr val="000000"/>
                </a:solidFill>
                <a:latin typeface="Courier New" panose="02070309020205020404" pitchFamily="49" charset="0"/>
                <a:cs typeface="Courier New" panose="02070309020205020404" pitchFamily="49" charset="0"/>
              </a:rPr>
              <a:t>~ </a:t>
            </a:r>
            <a:r>
              <a:rPr lang="en-US" sz="2000" i="1" dirty="0">
                <a:solidFill>
                  <a:srgbClr val="000000"/>
                </a:solidFill>
                <a:latin typeface="Courier New" panose="02070309020205020404" pitchFamily="49" charset="0"/>
                <a:cs typeface="Courier New" panose="02070309020205020404" pitchFamily="49" charset="0"/>
              </a:rPr>
              <a:t>sudo docker service create –-name fun-service –-network fun-net </a:t>
            </a:r>
          </a:p>
          <a:p>
            <a:r>
              <a:rPr lang="en-US" sz="2000" i="1" dirty="0">
                <a:solidFill>
                  <a:srgbClr val="000000"/>
                </a:solidFill>
                <a:latin typeface="Courier New" panose="02070309020205020404" pitchFamily="49" charset="0"/>
                <a:cs typeface="Courier New" panose="02070309020205020404" pitchFamily="49" charset="0"/>
              </a:rPr>
              <a:t>    -–replicas 3 nginx</a:t>
            </a:r>
          </a:p>
          <a:p>
            <a:endParaRPr lang="en-US" sz="20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List  containers running in this service</a:t>
            </a:r>
            <a:r>
              <a:rPr lang="en-US" sz="2000" dirty="0">
                <a:solidFill>
                  <a:srgbClr val="000000"/>
                </a:solidFill>
              </a:rPr>
              <a:t>.</a:t>
            </a:r>
          </a:p>
          <a:p>
            <a:r>
              <a:rPr lang="en-US" sz="2000" dirty="0">
                <a:solidFill>
                  <a:srgbClr val="000000"/>
                </a:solidFill>
              </a:rPr>
              <a:t>	</a:t>
            </a:r>
            <a:endParaRPr lang="en-US" sz="1600" i="1" dirty="0">
              <a:solidFill>
                <a:srgbClr val="000000"/>
              </a:solidFill>
              <a:latin typeface="Courier New" panose="02070309020205020404" pitchFamily="49" charset="0"/>
              <a:cs typeface="Courier New" panose="02070309020205020404" pitchFamily="49" charset="0"/>
            </a:endParaRPr>
          </a:p>
          <a:p>
            <a:r>
              <a:rPr lang="en-US" sz="2000" dirty="0">
                <a:solidFill>
                  <a:srgbClr val="000000"/>
                </a:solidFill>
              </a:rPr>
              <a:t>     </a:t>
            </a:r>
            <a:r>
              <a:rPr lang="en-US" sz="2000" dirty="0">
                <a:solidFill>
                  <a:srgbClr val="000000"/>
                </a:solidFill>
                <a:latin typeface="Courier New" panose="02070309020205020404" pitchFamily="49" charset="0"/>
                <a:cs typeface="Courier New" panose="02070309020205020404" pitchFamily="49" charset="0"/>
              </a:rPr>
              <a:t>~ </a:t>
            </a:r>
            <a:r>
              <a:rPr lang="en-US" sz="2000" i="1" dirty="0">
                <a:solidFill>
                  <a:srgbClr val="000000"/>
                </a:solidFill>
                <a:latin typeface="Courier New" panose="02070309020205020404" pitchFamily="49" charset="0"/>
                <a:cs typeface="Courier New" panose="02070309020205020404" pitchFamily="49" charset="0"/>
              </a:rPr>
              <a:t>sudo docker service ps fun-service </a:t>
            </a:r>
          </a:p>
          <a:p>
            <a:endParaRPr lang="en-US" sz="2000" i="1" dirty="0">
              <a:solidFill>
                <a:srgbClr val="000000"/>
              </a:solidFill>
              <a:latin typeface="Courier New" panose="02070309020205020404" pitchFamily="49" charset="0"/>
              <a:cs typeface="Courier New" panose="02070309020205020404" pitchFamily="49" charset="0"/>
            </a:endParaRPr>
          </a:p>
          <a:p>
            <a:r>
              <a:rPr lang="en-US" sz="2000" i="1" dirty="0">
                <a:solidFill>
                  <a:srgbClr val="000000"/>
                </a:solidFill>
                <a:latin typeface="Courier New" panose="02070309020205020404" pitchFamily="49" charset="0"/>
                <a:cs typeface="Courier New" panose="02070309020205020404" pitchFamily="49" charset="0"/>
              </a:rPr>
              <a:t> </a:t>
            </a:r>
          </a:p>
          <a:p>
            <a:endParaRPr lang="en-US" sz="2000" dirty="0">
              <a:solidFill>
                <a:srgbClr val="000000"/>
              </a:solidFill>
            </a:endParaRPr>
          </a:p>
        </p:txBody>
      </p:sp>
    </p:spTree>
    <p:extLst>
      <p:ext uri="{BB962C8B-B14F-4D97-AF65-F5344CB8AC3E}">
        <p14:creationId xmlns:p14="http://schemas.microsoft.com/office/powerpoint/2010/main" val="2425289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4. None Network</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IN" sz="2000" dirty="0"/>
              <a:t>A Docker container which has none network configured for itself cannot communicate with any service or system as networking for the container is virtually disabled.</a:t>
            </a:r>
          </a:p>
          <a:p>
            <a:r>
              <a:rPr lang="en-IN" sz="2000" dirty="0"/>
              <a:t>Its usually used to isolate certain containers. </a:t>
            </a:r>
          </a:p>
          <a:p>
            <a:endParaRPr lang="en-IN" sz="2000" dirty="0"/>
          </a:p>
          <a:p>
            <a:endParaRPr lang="en-IN" sz="2000" dirty="0"/>
          </a:p>
          <a:p>
            <a:endParaRPr lang="en-US" sz="1600" i="1" dirty="0">
              <a:solidFill>
                <a:srgbClr val="000000"/>
              </a:solidFill>
              <a:latin typeface="Courier New" panose="02070309020205020404" pitchFamily="49" charset="0"/>
              <a:cs typeface="Courier New" panose="02070309020205020404" pitchFamily="49" charset="0"/>
            </a:endParaRPr>
          </a:p>
          <a:p>
            <a:endParaRPr lang="en-US" sz="2000" dirty="0">
              <a:solidFill>
                <a:srgbClr val="000000"/>
              </a:solidFill>
            </a:endParaRPr>
          </a:p>
        </p:txBody>
      </p:sp>
      <p:pic>
        <p:nvPicPr>
          <p:cNvPr id="3" name="Picture 2">
            <a:extLst>
              <a:ext uri="{FF2B5EF4-FFF2-40B4-BE49-F238E27FC236}">
                <a16:creationId xmlns:a16="http://schemas.microsoft.com/office/drawing/2014/main" id="{2A41A893-B7FA-43FB-9557-627BEFCD8906}"/>
              </a:ext>
            </a:extLst>
          </p:cNvPr>
          <p:cNvPicPr>
            <a:picLocks noChangeAspect="1"/>
          </p:cNvPicPr>
          <p:nvPr/>
        </p:nvPicPr>
        <p:blipFill>
          <a:blip r:embed="rId4"/>
          <a:stretch>
            <a:fillRect/>
          </a:stretch>
        </p:blipFill>
        <p:spPr>
          <a:xfrm>
            <a:off x="1916499" y="2603696"/>
            <a:ext cx="7826490" cy="2798298"/>
          </a:xfrm>
          <a:prstGeom prst="rect">
            <a:avLst/>
          </a:prstGeom>
        </p:spPr>
      </p:pic>
    </p:spTree>
    <p:extLst>
      <p:ext uri="{BB962C8B-B14F-4D97-AF65-F5344CB8AC3E}">
        <p14:creationId xmlns:p14="http://schemas.microsoft.com/office/powerpoint/2010/main" val="3664632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4. None Network.</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pPr marL="342900" indent="-342900">
              <a:buFont typeface="Arial" panose="020B0604020202020204" pitchFamily="34" charset="0"/>
              <a:buChar char="•"/>
            </a:pPr>
            <a:r>
              <a:rPr lang="en-US" sz="2000" u="sng" dirty="0">
                <a:solidFill>
                  <a:srgbClr val="000000"/>
                </a:solidFill>
              </a:rPr>
              <a:t>Run container in None Network</a:t>
            </a:r>
            <a:r>
              <a:rPr lang="en-US" sz="2000" dirty="0">
                <a:solidFill>
                  <a:srgbClr val="000000"/>
                </a:solidFill>
              </a:rPr>
              <a:t>.</a:t>
            </a:r>
          </a:p>
          <a:p>
            <a:r>
              <a:rPr lang="en-US" sz="2000" dirty="0">
                <a:solidFill>
                  <a:srgbClr val="000000"/>
                </a:solidFill>
              </a:rPr>
              <a:t>	</a:t>
            </a:r>
            <a:endParaRPr lang="en-US" sz="1600" i="1" dirty="0">
              <a:solidFill>
                <a:srgbClr val="000000"/>
              </a:solidFill>
              <a:latin typeface="Courier New" panose="02070309020205020404" pitchFamily="49" charset="0"/>
              <a:cs typeface="Courier New" panose="02070309020205020404" pitchFamily="49" charset="0"/>
            </a:endParaRPr>
          </a:p>
          <a:p>
            <a:r>
              <a:rPr lang="en-US" sz="2000" dirty="0">
                <a:solidFill>
                  <a:srgbClr val="000000"/>
                </a:solidFill>
              </a:rPr>
              <a:t>     </a:t>
            </a:r>
            <a:r>
              <a:rPr lang="en-US" sz="2000" dirty="0">
                <a:solidFill>
                  <a:srgbClr val="000000"/>
                </a:solidFill>
                <a:latin typeface="Courier New" panose="02070309020205020404" pitchFamily="49" charset="0"/>
                <a:cs typeface="Courier New" panose="02070309020205020404" pitchFamily="49" charset="0"/>
              </a:rPr>
              <a:t>~ </a:t>
            </a:r>
            <a:r>
              <a:rPr lang="en-US" sz="2000" i="1" dirty="0">
                <a:solidFill>
                  <a:srgbClr val="000000"/>
                </a:solidFill>
                <a:latin typeface="Courier New" panose="02070309020205020404" pitchFamily="49" charset="0"/>
                <a:cs typeface="Courier New" panose="02070309020205020404" pitchFamily="49" charset="0"/>
              </a:rPr>
              <a:t>sudo docker run –it –d –-name nonCon –-network none ubuntu</a:t>
            </a:r>
          </a:p>
          <a:p>
            <a:r>
              <a:rPr lang="en-US" sz="2000" i="1" dirty="0">
                <a:solidFill>
                  <a:srgbClr val="000000"/>
                </a:solidFill>
                <a:latin typeface="Courier New" panose="02070309020205020404" pitchFamily="49" charset="0"/>
                <a:cs typeface="Courier New" panose="02070309020205020404" pitchFamily="49" charset="0"/>
              </a:rPr>
              <a:t>  ~ sudo docker container inspect nonCon</a:t>
            </a:r>
          </a:p>
          <a:p>
            <a:endParaRPr lang="en-US" sz="2000" i="1" dirty="0">
              <a:solidFill>
                <a:srgbClr val="000000"/>
              </a:solidFill>
              <a:latin typeface="Courier New" panose="02070309020205020404" pitchFamily="49" charset="0"/>
              <a:cs typeface="Courier New" panose="02070309020205020404" pitchFamily="49" charset="0"/>
            </a:endParaRPr>
          </a:p>
          <a:p>
            <a:r>
              <a:rPr lang="en-US" sz="2000" i="1" dirty="0">
                <a:solidFill>
                  <a:srgbClr val="000000"/>
                </a:solidFill>
                <a:latin typeface="Courier New" panose="02070309020205020404" pitchFamily="49" charset="0"/>
                <a:cs typeface="Courier New" panose="02070309020205020404" pitchFamily="49" charset="0"/>
              </a:rPr>
              <a:t> </a:t>
            </a:r>
          </a:p>
          <a:p>
            <a:endParaRPr lang="en-US" sz="2000" dirty="0">
              <a:solidFill>
                <a:srgbClr val="000000"/>
              </a:solidFill>
            </a:endParaRPr>
          </a:p>
        </p:txBody>
      </p:sp>
    </p:spTree>
    <p:extLst>
      <p:ext uri="{BB962C8B-B14F-4D97-AF65-F5344CB8AC3E}">
        <p14:creationId xmlns:p14="http://schemas.microsoft.com/office/powerpoint/2010/main" val="3275555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5. Macvlan Network</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IN" sz="2000" dirty="0"/>
              <a:t>Some applications, especially legacy applications or applications which monitor network traffic, expect to be directly connected to the physical network. In this type of situation, you can use the macvlan network driver to assign a MAC address to each container’s virtual network interface, making it appear to be a physical network interface directly connected to the physical network. In this case, you need to designate a physical interface on your Docker host to use for the macvlan, as well as the subnet and gateway of the macvlan. You can even isolate your macvlan networks using different physical network interfaces</a:t>
            </a:r>
          </a:p>
          <a:p>
            <a:endParaRPr lang="en-IN" sz="2000" dirty="0"/>
          </a:p>
          <a:p>
            <a:r>
              <a:rPr lang="en-US" sz="2000" u="sng" dirty="0">
                <a:solidFill>
                  <a:srgbClr val="000000"/>
                </a:solidFill>
                <a:effectLst>
                  <a:outerShdw blurRad="38100" dist="38100" dir="2700000" algn="tl">
                    <a:srgbClr val="000000">
                      <a:alpha val="43137"/>
                    </a:srgbClr>
                  </a:outerShdw>
                </a:effectLst>
              </a:rPr>
              <a:t>Create macvlan Network</a:t>
            </a:r>
            <a:r>
              <a:rPr lang="en-US" sz="2000" dirty="0">
                <a:solidFill>
                  <a:srgbClr val="000000"/>
                </a:solidFill>
                <a:effectLst>
                  <a:outerShdw blurRad="38100" dist="38100" dir="2700000" algn="tl">
                    <a:srgbClr val="000000">
                      <a:alpha val="43137"/>
                    </a:srgbClr>
                  </a:outerShdw>
                </a:effectLst>
              </a:rPr>
              <a:t>.</a:t>
            </a:r>
          </a:p>
          <a:p>
            <a:endParaRPr lang="en-US" sz="2000" dirty="0">
              <a:solidFill>
                <a:srgbClr val="000000"/>
              </a:solidFill>
            </a:endParaRPr>
          </a:p>
          <a:p>
            <a:r>
              <a:rPr lang="en-IN" sz="2000" dirty="0"/>
              <a:t>When you create a macvlan network, it can either be in bridge mode or 802.1q trunk bridge mode.</a:t>
            </a:r>
          </a:p>
          <a:p>
            <a:endParaRPr lang="en-IN" sz="2000" dirty="0"/>
          </a:p>
          <a:p>
            <a:pPr marL="342900" indent="-342900">
              <a:buFont typeface="Arial" panose="020B0604020202020204" pitchFamily="34" charset="0"/>
              <a:buChar char="•"/>
            </a:pPr>
            <a:r>
              <a:rPr lang="en-IN" sz="2000" dirty="0"/>
              <a:t>In bridge mode, macvlan traffic goes through a physical device on the host.</a:t>
            </a:r>
          </a:p>
          <a:p>
            <a:pPr marL="342900" indent="-342900">
              <a:buFont typeface="Arial" panose="020B0604020202020204" pitchFamily="34" charset="0"/>
              <a:buChar char="•"/>
            </a:pPr>
            <a:r>
              <a:rPr lang="en-IN" sz="2000" dirty="0"/>
              <a:t>In 802.1q trunk bridge mode, traffic goes through an 802.1q sub-interface which Docker creates on the fly. This allows you to control routing and filtering at a more granular level.</a:t>
            </a:r>
          </a:p>
          <a:p>
            <a:endParaRPr lang="en-IN" sz="2000" dirty="0"/>
          </a:p>
          <a:p>
            <a:endParaRPr lang="en-US" sz="1600" i="1" dirty="0">
              <a:solidFill>
                <a:srgbClr val="000000"/>
              </a:solidFill>
              <a:latin typeface="Courier New" panose="02070309020205020404" pitchFamily="49" charset="0"/>
              <a:cs typeface="Courier New" panose="02070309020205020404" pitchFamily="49" charset="0"/>
            </a:endParaRPr>
          </a:p>
          <a:p>
            <a:endParaRPr lang="en-US" sz="2000" dirty="0">
              <a:solidFill>
                <a:srgbClr val="000000"/>
              </a:solidFill>
            </a:endParaRPr>
          </a:p>
        </p:txBody>
      </p:sp>
    </p:spTree>
    <p:extLst>
      <p:ext uri="{BB962C8B-B14F-4D97-AF65-F5344CB8AC3E}">
        <p14:creationId xmlns:p14="http://schemas.microsoft.com/office/powerpoint/2010/main" val="20092266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Macvlan Bridge Mode</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IN" sz="2000" dirty="0"/>
              <a:t>To create a macvlan network which bridges with a given physical network interface, use --driver macvlan with the docker network create command. You also need to specify the parent, which is the interface the traffic will physically go through on the Docker host.</a:t>
            </a:r>
          </a:p>
          <a:p>
            <a:endParaRPr lang="en-IN" sz="2000" dirty="0"/>
          </a:p>
          <a:p>
            <a:r>
              <a:rPr lang="en-IN" sz="2000" i="1" dirty="0">
                <a:solidFill>
                  <a:srgbClr val="000000"/>
                </a:solidFill>
                <a:latin typeface="Courier New" panose="02070309020205020404" pitchFamily="49" charset="0"/>
                <a:cs typeface="Courier New" panose="02070309020205020404" pitchFamily="49" charset="0"/>
              </a:rPr>
              <a:t>~ docker network create -d macvlan \</a:t>
            </a:r>
          </a:p>
          <a:p>
            <a:r>
              <a:rPr lang="en-IN" sz="2000" i="1" dirty="0">
                <a:solidFill>
                  <a:srgbClr val="000000"/>
                </a:solidFill>
                <a:latin typeface="Courier New" panose="02070309020205020404" pitchFamily="49" charset="0"/>
                <a:cs typeface="Courier New" panose="02070309020205020404" pitchFamily="49" charset="0"/>
              </a:rPr>
              <a:t>  --subnet=172.16.86.0/24 \</a:t>
            </a:r>
          </a:p>
          <a:p>
            <a:r>
              <a:rPr lang="en-IN" sz="2000" i="1" dirty="0">
                <a:solidFill>
                  <a:srgbClr val="000000"/>
                </a:solidFill>
                <a:latin typeface="Courier New" panose="02070309020205020404" pitchFamily="49" charset="0"/>
                <a:cs typeface="Courier New" panose="02070309020205020404" pitchFamily="49" charset="0"/>
              </a:rPr>
              <a:t>  --gateway=172.16.86.1 \</a:t>
            </a:r>
          </a:p>
          <a:p>
            <a:r>
              <a:rPr lang="en-IN" sz="2000" i="1" dirty="0">
                <a:solidFill>
                  <a:srgbClr val="000000"/>
                </a:solidFill>
                <a:latin typeface="Courier New" panose="02070309020205020404" pitchFamily="49" charset="0"/>
                <a:cs typeface="Courier New" panose="02070309020205020404" pitchFamily="49" charset="0"/>
              </a:rPr>
              <a:t>  -o parent=eth0 pub_net</a:t>
            </a:r>
          </a:p>
          <a:p>
            <a:endParaRPr lang="en-IN" sz="2000" i="1" dirty="0">
              <a:solidFill>
                <a:srgbClr val="000000"/>
              </a:solidFill>
              <a:latin typeface="Courier New" panose="02070309020205020404" pitchFamily="49" charset="0"/>
              <a:cs typeface="Courier New" panose="02070309020205020404" pitchFamily="49" charset="0"/>
            </a:endParaRPr>
          </a:p>
          <a:p>
            <a:r>
              <a:rPr lang="en-IN" sz="2000" dirty="0"/>
              <a:t>If you need to exclude IP addresses from being used in the macvlan network, such as when a given IP address is already in use, use --aux-addresses:</a:t>
            </a:r>
          </a:p>
          <a:p>
            <a:endParaRPr lang="en-IN" sz="2000" dirty="0"/>
          </a:p>
          <a:p>
            <a:r>
              <a:rPr lang="en-IN" sz="2000" i="1" dirty="0">
                <a:solidFill>
                  <a:srgbClr val="000000"/>
                </a:solidFill>
                <a:latin typeface="Courier New" panose="02070309020205020404" pitchFamily="49" charset="0"/>
                <a:cs typeface="Courier New" panose="02070309020205020404" pitchFamily="49" charset="0"/>
              </a:rPr>
              <a:t>~ docker network create -d macvlan \</a:t>
            </a:r>
          </a:p>
          <a:p>
            <a:r>
              <a:rPr lang="en-IN" sz="2000" i="1" dirty="0">
                <a:solidFill>
                  <a:srgbClr val="000000"/>
                </a:solidFill>
                <a:latin typeface="Courier New" panose="02070309020205020404" pitchFamily="49" charset="0"/>
                <a:cs typeface="Courier New" panose="02070309020205020404" pitchFamily="49" charset="0"/>
              </a:rPr>
              <a:t>  --subnet=192.168.32.0/24 \</a:t>
            </a:r>
          </a:p>
          <a:p>
            <a:r>
              <a:rPr lang="en-IN" sz="2000" i="1" dirty="0">
                <a:solidFill>
                  <a:srgbClr val="000000"/>
                </a:solidFill>
                <a:latin typeface="Courier New" panose="02070309020205020404" pitchFamily="49" charset="0"/>
                <a:cs typeface="Courier New" panose="02070309020205020404" pitchFamily="49" charset="0"/>
              </a:rPr>
              <a:t>  --ip-range=192.168.32.128/25 \</a:t>
            </a:r>
          </a:p>
          <a:p>
            <a:r>
              <a:rPr lang="en-IN" sz="2000" i="1" dirty="0">
                <a:solidFill>
                  <a:srgbClr val="000000"/>
                </a:solidFill>
                <a:latin typeface="Courier New" panose="02070309020205020404" pitchFamily="49" charset="0"/>
                <a:cs typeface="Courier New" panose="02070309020205020404" pitchFamily="49" charset="0"/>
              </a:rPr>
              <a:t>  --gateway=192.168.32.254 \</a:t>
            </a:r>
          </a:p>
          <a:p>
            <a:r>
              <a:rPr lang="en-IN" sz="2000" i="1" dirty="0">
                <a:solidFill>
                  <a:srgbClr val="000000"/>
                </a:solidFill>
                <a:latin typeface="Courier New" panose="02070309020205020404" pitchFamily="49" charset="0"/>
                <a:cs typeface="Courier New" panose="02070309020205020404" pitchFamily="49" charset="0"/>
              </a:rPr>
              <a:t>  --aux-address="my-router=192.168.32.129" \</a:t>
            </a:r>
          </a:p>
          <a:p>
            <a:r>
              <a:rPr lang="en-IN" sz="2000" i="1" dirty="0">
                <a:solidFill>
                  <a:srgbClr val="000000"/>
                </a:solidFill>
                <a:latin typeface="Courier New" panose="02070309020205020404" pitchFamily="49" charset="0"/>
                <a:cs typeface="Courier New" panose="02070309020205020404" pitchFamily="49" charset="0"/>
              </a:rPr>
              <a:t>  -o parent=eth0 macnet32</a:t>
            </a:r>
          </a:p>
          <a:p>
            <a:endParaRPr lang="en-US" sz="1600" i="1" dirty="0">
              <a:solidFill>
                <a:srgbClr val="000000"/>
              </a:solidFill>
              <a:latin typeface="Courier New" panose="02070309020205020404" pitchFamily="49" charset="0"/>
              <a:cs typeface="Courier New" panose="02070309020205020404" pitchFamily="49" charset="0"/>
            </a:endParaRPr>
          </a:p>
          <a:p>
            <a:endParaRPr lang="en-US" sz="2000" dirty="0">
              <a:solidFill>
                <a:srgbClr val="000000"/>
              </a:solidFill>
            </a:endParaRPr>
          </a:p>
        </p:txBody>
      </p:sp>
    </p:spTree>
    <p:extLst>
      <p:ext uri="{BB962C8B-B14F-4D97-AF65-F5344CB8AC3E}">
        <p14:creationId xmlns:p14="http://schemas.microsoft.com/office/powerpoint/2010/main" val="34955015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Macvlan 802.1q trunk Bridge Mode</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IN" sz="2000" dirty="0"/>
              <a:t>If you specify a parent interface name with a dot included, such as eth0.50, Docker interprets that as a sub-interface of eth0 and creates the sub-interface automatically.</a:t>
            </a:r>
          </a:p>
          <a:p>
            <a:endParaRPr lang="en-IN" sz="2000" dirty="0"/>
          </a:p>
          <a:p>
            <a:r>
              <a:rPr lang="en-IN" sz="2000" i="1" dirty="0">
                <a:solidFill>
                  <a:srgbClr val="000000"/>
                </a:solidFill>
                <a:latin typeface="Courier New" panose="02070309020205020404" pitchFamily="49" charset="0"/>
                <a:cs typeface="Courier New" panose="02070309020205020404" pitchFamily="49" charset="0"/>
              </a:rPr>
              <a:t>~ docker network create -d macvlan \</a:t>
            </a:r>
          </a:p>
          <a:p>
            <a:r>
              <a:rPr lang="en-IN" sz="2000" i="1" dirty="0">
                <a:solidFill>
                  <a:srgbClr val="000000"/>
                </a:solidFill>
                <a:latin typeface="Courier New" panose="02070309020205020404" pitchFamily="49" charset="0"/>
                <a:cs typeface="Courier New" panose="02070309020205020404" pitchFamily="49" charset="0"/>
              </a:rPr>
              <a:t>    --subnet=192.168.50.0/24 \</a:t>
            </a:r>
          </a:p>
          <a:p>
            <a:r>
              <a:rPr lang="en-IN" sz="2000" i="1" dirty="0">
                <a:solidFill>
                  <a:srgbClr val="000000"/>
                </a:solidFill>
                <a:latin typeface="Courier New" panose="02070309020205020404" pitchFamily="49" charset="0"/>
                <a:cs typeface="Courier New" panose="02070309020205020404" pitchFamily="49" charset="0"/>
              </a:rPr>
              <a:t>    --gateway=192.168.50.1 \</a:t>
            </a:r>
          </a:p>
          <a:p>
            <a:r>
              <a:rPr lang="en-IN" sz="2000" i="1" dirty="0">
                <a:solidFill>
                  <a:srgbClr val="000000"/>
                </a:solidFill>
                <a:latin typeface="Courier New" panose="02070309020205020404" pitchFamily="49" charset="0"/>
                <a:cs typeface="Courier New" panose="02070309020205020404" pitchFamily="49" charset="0"/>
              </a:rPr>
              <a:t>    -o parent=eth0.50 macvlan50</a:t>
            </a:r>
            <a:endParaRPr lang="en-US" sz="2000" i="1" dirty="0">
              <a:solidFill>
                <a:srgbClr val="000000"/>
              </a:solidFill>
              <a:latin typeface="Courier New" panose="02070309020205020404" pitchFamily="49" charset="0"/>
              <a:cs typeface="Courier New" panose="02070309020205020404" pitchFamily="49" charset="0"/>
            </a:endParaRPr>
          </a:p>
          <a:p>
            <a:endParaRPr lang="en-US" sz="2000" dirty="0">
              <a:solidFill>
                <a:srgbClr val="000000"/>
              </a:solidFill>
            </a:endParaRPr>
          </a:p>
        </p:txBody>
      </p:sp>
    </p:spTree>
    <p:extLst>
      <p:ext uri="{BB962C8B-B14F-4D97-AF65-F5344CB8AC3E}">
        <p14:creationId xmlns:p14="http://schemas.microsoft.com/office/powerpoint/2010/main" val="23087431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95">
            <a:extLst>
              <a:ext uri="{FF2B5EF4-FFF2-40B4-BE49-F238E27FC236}">
                <a16:creationId xmlns:a16="http://schemas.microsoft.com/office/drawing/2014/main" id="{B54295EC-3B78-4A8A-B115-BD30905FC011}"/>
              </a:ext>
            </a:extLst>
          </p:cNvPr>
          <p:cNvSpPr/>
          <p:nvPr/>
        </p:nvSpPr>
        <p:spPr>
          <a:xfrm>
            <a:off x="821496" y="3669716"/>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3" name="object 15">
            <a:extLst>
              <a:ext uri="{FF2B5EF4-FFF2-40B4-BE49-F238E27FC236}">
                <a16:creationId xmlns:a16="http://schemas.microsoft.com/office/drawing/2014/main" id="{F910F1DE-8BA5-4C09-8947-96234306291C}"/>
              </a:ext>
            </a:extLst>
          </p:cNvPr>
          <p:cNvSpPr txBox="1"/>
          <p:nvPr/>
        </p:nvSpPr>
        <p:spPr>
          <a:xfrm>
            <a:off x="448847" y="156122"/>
            <a:ext cx="6092629" cy="478490"/>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endParaRPr lang="en-IN" sz="2400" dirty="0">
              <a:solidFill>
                <a:prstClr val="black"/>
              </a:solidFill>
              <a:latin typeface="Arial" panose="020B0604020202020204" pitchFamily="34" charset="0"/>
            </a:endParaRPr>
          </a:p>
        </p:txBody>
      </p:sp>
      <p:sp>
        <p:nvSpPr>
          <p:cNvPr id="4" name="TextBox 3">
            <a:extLst>
              <a:ext uri="{FF2B5EF4-FFF2-40B4-BE49-F238E27FC236}">
                <a16:creationId xmlns:a16="http://schemas.microsoft.com/office/drawing/2014/main" id="{33DEAA68-3306-4522-B3A7-C4099824E57A}"/>
              </a:ext>
            </a:extLst>
          </p:cNvPr>
          <p:cNvSpPr txBox="1"/>
          <p:nvPr/>
        </p:nvSpPr>
        <p:spPr>
          <a:xfrm>
            <a:off x="666752" y="3198167"/>
            <a:ext cx="1914755" cy="461665"/>
          </a:xfrm>
          <a:prstGeom prst="rect">
            <a:avLst/>
          </a:prstGeom>
          <a:noFill/>
        </p:spPr>
        <p:txBody>
          <a:bodyPr wrap="none" rtlCol="0">
            <a:spAutoFit/>
          </a:bodyPr>
          <a:lstStyle/>
          <a:p>
            <a:r>
              <a:rPr lang="en-IN" sz="2400" b="1" dirty="0">
                <a:solidFill>
                  <a:schemeClr val="accent6">
                    <a:lumMod val="75000"/>
                  </a:schemeClr>
                </a:solidFill>
                <a:latin typeface="Arial" panose="020B0604020202020204" pitchFamily="34" charset="0"/>
              </a:rPr>
              <a:t>Thank You !</a:t>
            </a:r>
          </a:p>
        </p:txBody>
      </p:sp>
    </p:spTree>
    <p:extLst>
      <p:ext uri="{BB962C8B-B14F-4D97-AF65-F5344CB8AC3E}">
        <p14:creationId xmlns:p14="http://schemas.microsoft.com/office/powerpoint/2010/main" val="32606817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373545"/>
      </a:dk2>
      <a:lt2>
        <a:srgbClr val="BCD0E0"/>
      </a:lt2>
      <a:accent1>
        <a:srgbClr val="3494BA"/>
      </a:accent1>
      <a:accent2>
        <a:srgbClr val="58B6C0"/>
      </a:accent2>
      <a:accent3>
        <a:srgbClr val="75BDA7"/>
      </a:accent3>
      <a:accent4>
        <a:srgbClr val="7A8C8E"/>
      </a:accent4>
      <a:accent5>
        <a:srgbClr val="84ACB6"/>
      </a:accent5>
      <a:accent6>
        <a:srgbClr val="6793CD"/>
      </a:accent6>
      <a:hlink>
        <a:srgbClr val="6B9F25"/>
      </a:hlink>
      <a:folHlink>
        <a:srgbClr val="9F6715"/>
      </a:folHlink>
    </a:clrScheme>
    <a:fontScheme name="Savon">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913DB040-6816-4415-960D-8178C78575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F60485A86D6E945B0DE8EE8506DAC62" ma:contentTypeVersion="12" ma:contentTypeDescription="Create a new document." ma:contentTypeScope="" ma:versionID="a3ba1d3c448962d8a7304c03e6365536">
  <xsd:schema xmlns:xsd="http://www.w3.org/2001/XMLSchema" xmlns:xs="http://www.w3.org/2001/XMLSchema" xmlns:p="http://schemas.microsoft.com/office/2006/metadata/properties" xmlns:ns3="8f762557-e92d-48c5-a1e9-2e1ae49911c9" xmlns:ns4="9618bf2c-f524-416d-9ddc-e9ab10641669" targetNamespace="http://schemas.microsoft.com/office/2006/metadata/properties" ma:root="true" ma:fieldsID="73f26707b70974e9febd0829e12fbdfc" ns3:_="" ns4:_="">
    <xsd:import namespace="8f762557-e92d-48c5-a1e9-2e1ae49911c9"/>
    <xsd:import namespace="9618bf2c-f524-416d-9ddc-e9ab10641669"/>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762557-e92d-48c5-a1e9-2e1ae49911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618bf2c-f524-416d-9ddc-e9ab1064166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2F91192-B026-43EB-8BFD-6B3E1D8ED4CE}">
  <ds:schemaRefs>
    <ds:schemaRef ds:uri="http://purl.org/dc/terms/"/>
    <ds:schemaRef ds:uri="8f762557-e92d-48c5-a1e9-2e1ae49911c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schemas.microsoft.com/office/2006/metadata/properties"/>
    <ds:schemaRef ds:uri="9618bf2c-f524-416d-9ddc-e9ab10641669"/>
    <ds:schemaRef ds:uri="http://www.w3.org/XML/1998/namespace"/>
    <ds:schemaRef ds:uri="http://purl.org/dc/dcmitype/"/>
  </ds:schemaRefs>
</ds:datastoreItem>
</file>

<file path=customXml/itemProps2.xml><?xml version="1.0" encoding="utf-8"?>
<ds:datastoreItem xmlns:ds="http://schemas.openxmlformats.org/officeDocument/2006/customXml" ds:itemID="{C75BD6EB-5C72-4651-A510-8915F7022125}">
  <ds:schemaRefs>
    <ds:schemaRef ds:uri="http://schemas.microsoft.com/sharepoint/v3/contenttype/forms"/>
  </ds:schemaRefs>
</ds:datastoreItem>
</file>

<file path=customXml/itemProps3.xml><?xml version="1.0" encoding="utf-8"?>
<ds:datastoreItem xmlns:ds="http://schemas.openxmlformats.org/officeDocument/2006/customXml" ds:itemID="{C7EB8BB0-83E9-438D-BDDD-5648298095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762557-e92d-48c5-a1e9-2e1ae49911c9"/>
    <ds:schemaRef ds:uri="9618bf2c-f524-416d-9ddc-e9ab1064166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3692</TotalTime>
  <Words>1066</Words>
  <Application>Microsoft Office PowerPoint</Application>
  <PresentationFormat>Widescreen</PresentationFormat>
  <Paragraphs>151</Paragraphs>
  <Slides>15</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Aparajita</vt:lpstr>
      <vt:lpstr>Arial</vt:lpstr>
      <vt:lpstr>Calibri</vt:lpstr>
      <vt:lpstr>Century Gothic</vt:lpstr>
      <vt:lpstr>Courier New</vt:lpstr>
      <vt:lpstr>Savon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Angad Wagh</dc:creator>
  <cp:lastModifiedBy>Angad Wagh</cp:lastModifiedBy>
  <cp:revision>426</cp:revision>
  <dcterms:created xsi:type="dcterms:W3CDTF">2022-07-11T16:43:42Z</dcterms:created>
  <dcterms:modified xsi:type="dcterms:W3CDTF">2023-03-31T08:55:35Z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MSIP_Label_a8c544ca-bb84-4280-906e-934547e1d30c_Enabled">
    <vt:lpwstr>True</vt:lpwstr>
  </property>
  <property fmtid="{D5CDD505-2E9C-101B-9397-08002B2CF9AE}" pid="3" name="MSIP_Label_a8c544ca-bb84-4280-906e-934547e1d30c_SiteId">
    <vt:lpwstr>258ac4e4-146a-411e-9dc8-79a9e12fd6da</vt:lpwstr>
  </property>
  <property fmtid="{D5CDD505-2E9C-101B-9397-08002B2CF9AE}" pid="4" name="MSIP_Label_a8c544ca-bb84-4280-906e-934547e1d30c_SetDate">
    <vt:lpwstr>2025-07-23T11:32:23Z</vt:lpwstr>
  </property>
  <property fmtid="{D5CDD505-2E9C-101B-9397-08002B2CF9AE}" pid="5" name="MSIP_Label_a8c544ca-bb84-4280-906e-934547e1d30c_Name">
    <vt:lpwstr>Internal - General Use</vt:lpwstr>
  </property>
  <property fmtid="{D5CDD505-2E9C-101B-9397-08002B2CF9AE}" pid="6" name="MSIP_Label_a8c544ca-bb84-4280-906e-934547e1d30c_ActionId">
    <vt:lpwstr>8634399e-2ad1-4673-9207-cb0cc7682c10</vt:lpwstr>
  </property>
  <property fmtid="{D5CDD505-2E9C-101B-9397-08002B2CF9AE}" pid="7" name="MSIP_Label_a8c544ca-bb84-4280-906e-934547e1d30c_Removed">
    <vt:lpwstr>False</vt:lpwstr>
  </property>
  <property fmtid="{D5CDD505-2E9C-101B-9397-08002B2CF9AE}" pid="8" name="MSIP_Label_a8c544ca-bb84-4280-906e-934547e1d30c_Extended_MSFT_Method">
    <vt:lpwstr>Standard</vt:lpwstr>
  </property>
  <property fmtid="{D5CDD505-2E9C-101B-9397-08002B2CF9AE}" pid="9" name="Sensitivity">
    <vt:lpwstr>Internal - General Use</vt:lpwstr>
  </property>
</Properties>
</file>